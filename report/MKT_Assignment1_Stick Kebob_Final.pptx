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 id="278" r:id="rId14"/>
    <p:sldId id="268" r:id="rId15"/>
    <p:sldId id="269" r:id="rId16"/>
    <p:sldId id="270" r:id="rId17"/>
    <p:sldId id="271" r:id="rId18"/>
    <p:sldId id="272" r:id="rId19"/>
    <p:sldId id="273" r:id="rId20"/>
    <p:sldId id="274" r:id="rId21"/>
    <p:sldId id="275" r:id="rId22"/>
    <p:sldId id="277" r:id="rId23"/>
  </p:sldIdLst>
  <p:sldSz cx="9144000" cy="5143500" type="screen16x9"/>
  <p:notesSz cx="6858000" cy="9144000"/>
  <p:embeddedFontLst>
    <p:embeddedFont>
      <p:font typeface="IBM Plex Sans" panose="020B0503050203000203" pitchFamily="34" charset="0"/>
      <p:regular r:id="rId25"/>
      <p:bold r:id="rId26"/>
      <p:italic r:id="rId27"/>
      <p:boldItalic r:id="rId28"/>
    </p:embeddedFont>
    <p:embeddedFont>
      <p:font typeface="Lobster" pitchFamily="2" charset="77"/>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956F"/>
    <a:srgbClr val="F1E8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3AB72E0-30B8-4DCC-98CD-6EA8F19E001B}">
  <a:tblStyle styleId="{03AB72E0-30B8-4DCC-98CD-6EA8F19E001B}"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20000"/>
            </a:schemeClr>
          </a:solidFill>
        </a:fill>
      </a:tcStyle>
    </a:band1H>
    <a:band2H>
      <a:tcTxStyle/>
      <a:tcStyle>
        <a:tcBdr/>
      </a:tcStyle>
    </a:band2H>
    <a:band1V>
      <a:tcTxStyle/>
      <a:tcStyle>
        <a:tcBdr/>
        <a:fill>
          <a:solidFill>
            <a:schemeClr val="accent3">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3"/>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3"/>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59D93B4D-E2E8-4238-B914-91F83F168401}"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32"/>
    <p:restoredTop sz="94670"/>
  </p:normalViewPr>
  <p:slideViewPr>
    <p:cSldViewPr snapToGrid="0">
      <p:cViewPr varScale="1">
        <p:scale>
          <a:sx n="150" d="100"/>
          <a:sy n="150" d="100"/>
        </p:scale>
        <p:origin x="704"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a304b34e49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g3a304b34e49_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996c641d1c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g3996c641d1c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35b8c7ac2_4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0" name="Google Shape;160;g3a35b8c7ac2_4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a304b34e49_2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g3a304b34e49_2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a35b8c7ac2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2" name="Google Shape;212;g3a35b8c7ac2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a304b34e49_2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g3a304b34e49_2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a304b34e49_2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g3a304b34e49_2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996c641d1c_0_5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g3996c641d1c_0_5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99663a918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g399663a918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a331c98f10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g3a331c98f10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99663a9181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22" name="Google Shape;322;g399663a9181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99663a9181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2" name="Google Shape;342;g399663a9181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a:extLst>
            <a:ext uri="{FF2B5EF4-FFF2-40B4-BE49-F238E27FC236}">
              <a16:creationId xmlns:a16="http://schemas.microsoft.com/office/drawing/2014/main" id="{511E055C-755D-77C1-B73C-39FB92A65E6A}"/>
            </a:ext>
          </a:extLst>
        </p:cNvPr>
        <p:cNvGrpSpPr/>
        <p:nvPr/>
      </p:nvGrpSpPr>
      <p:grpSpPr>
        <a:xfrm>
          <a:off x="0" y="0"/>
          <a:ext cx="0" cy="0"/>
          <a:chOff x="0" y="0"/>
          <a:chExt cx="0" cy="0"/>
        </a:xfrm>
      </p:grpSpPr>
      <p:sp>
        <p:nvSpPr>
          <p:cNvPr id="400" name="Google Shape;400;g3a304b34e49_2_222:notes">
            <a:extLst>
              <a:ext uri="{FF2B5EF4-FFF2-40B4-BE49-F238E27FC236}">
                <a16:creationId xmlns:a16="http://schemas.microsoft.com/office/drawing/2014/main" id="{E71E7697-BF34-DCEF-4174-F025858663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g3a304b34e49_2_222:notes">
            <a:extLst>
              <a:ext uri="{FF2B5EF4-FFF2-40B4-BE49-F238E27FC236}">
                <a16:creationId xmlns:a16="http://schemas.microsoft.com/office/drawing/2014/main" id="{6E752220-7CD8-703F-6C75-69616F1EA5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6160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a304b34e49_2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2" name="Google Shape;382;g3a304b34e49_2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a304b34e49_2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g3a304b34e49_2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a35609593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0" name="Google Shape;420;g3a35609593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a35b8c7ac2_2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g3a35b8c7ac2_2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a35b8c7ac2_4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4" name="Google Shape;454;g3a35b8c7ac2_4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a35b8c7ac2_4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g3a35b8c7ac2_4_2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a35b8c7ac2_4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4" name="Google Shape;514;g3a35b8c7ac2_4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a35b8c7ac2_4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9" name="Google Shape;539;g3a35b8c7ac2_4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3a35b8c7ac2_4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5" name="Google Shape;555;g3a35b8c7ac2_4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5"/>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1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6"/>
        <p:cNvGrpSpPr/>
        <p:nvPr/>
      </p:nvGrpSpPr>
      <p:grpSpPr>
        <a:xfrm>
          <a:off x="0" y="0"/>
          <a:ext cx="0" cy="0"/>
          <a:chOff x="0" y="0"/>
          <a:chExt cx="0" cy="0"/>
        </a:xfrm>
      </p:grpSpPr>
      <p:sp>
        <p:nvSpPr>
          <p:cNvPr id="67" name="Google Shape;67;p16"/>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6"/>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69" name="Google Shape;69;p1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722313" y="3305175"/>
            <a:ext cx="7772400" cy="1021556"/>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7"/>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75" name="Google Shape;75;p1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8"/>
          <p:cNvSpPr txBox="1">
            <a:spLocks noGrp="1"/>
          </p:cNvSpPr>
          <p:nvPr>
            <p:ph type="body" idx="1"/>
          </p:nvPr>
        </p:nvSpPr>
        <p:spPr>
          <a:xfrm>
            <a:off x="457200" y="1200150"/>
            <a:ext cx="4038600" cy="339447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81" name="Google Shape;81;p18"/>
          <p:cNvSpPr txBox="1">
            <a:spLocks noGrp="1"/>
          </p:cNvSpPr>
          <p:nvPr>
            <p:ph type="body" idx="2"/>
          </p:nvPr>
        </p:nvSpPr>
        <p:spPr>
          <a:xfrm>
            <a:off x="4648200" y="1200150"/>
            <a:ext cx="4038600" cy="339447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82" name="Google Shape;82;p1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19"/>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88" name="Google Shape;88;p19"/>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89" name="Google Shape;89;p19"/>
          <p:cNvSpPr txBox="1">
            <a:spLocks noGrp="1"/>
          </p:cNvSpPr>
          <p:nvPr>
            <p:ph type="body" idx="3"/>
          </p:nvPr>
        </p:nvSpPr>
        <p:spPr>
          <a:xfrm>
            <a:off x="4645025" y="1151335"/>
            <a:ext cx="4041775" cy="47982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0" name="Google Shape;90;p19"/>
          <p:cNvSpPr txBox="1">
            <a:spLocks noGrp="1"/>
          </p:cNvSpPr>
          <p:nvPr>
            <p:ph type="body" idx="4"/>
          </p:nvPr>
        </p:nvSpPr>
        <p:spPr>
          <a:xfrm>
            <a:off x="4645025" y="1631156"/>
            <a:ext cx="4041775" cy="2963466"/>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1" name="Google Shape;91;p1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2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457200" y="204788"/>
            <a:ext cx="3008313" cy="8715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21"/>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02" name="Google Shape;102;p21"/>
          <p:cNvSpPr txBox="1">
            <a:spLocks noGrp="1"/>
          </p:cNvSpPr>
          <p:nvPr>
            <p:ph type="body" idx="2"/>
          </p:nvPr>
        </p:nvSpPr>
        <p:spPr>
          <a:xfrm>
            <a:off x="457200" y="1076325"/>
            <a:ext cx="3008313" cy="3518297"/>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03" name="Google Shape;103;p2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2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22"/>
          <p:cNvSpPr>
            <a:spLocks noGrp="1"/>
          </p:cNvSpPr>
          <p:nvPr>
            <p:ph type="pic" idx="2"/>
          </p:nvPr>
        </p:nvSpPr>
        <p:spPr>
          <a:xfrm>
            <a:off x="1792288" y="459581"/>
            <a:ext cx="5486400" cy="3086100"/>
          </a:xfrm>
          <a:prstGeom prst="rect">
            <a:avLst/>
          </a:prstGeom>
          <a:noFill/>
          <a:ln>
            <a:noFill/>
          </a:ln>
        </p:spPr>
      </p:sp>
      <p:sp>
        <p:nvSpPr>
          <p:cNvPr id="109" name="Google Shape;109;p22"/>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10" name="Google Shape;110;p2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2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2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23"/>
          <p:cNvSpPr txBox="1">
            <a:spLocks noGrp="1"/>
          </p:cNvSpPr>
          <p:nvPr>
            <p:ph type="body" idx="1"/>
          </p:nvPr>
        </p:nvSpPr>
        <p:spPr>
          <a:xfrm rot="5400000">
            <a:off x="2874764" y="-1217414"/>
            <a:ext cx="3394472"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6" name="Google Shape;116;p2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2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463778" y="1371600"/>
            <a:ext cx="4388644"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1272778" y="-609600"/>
            <a:ext cx="4388644"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2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www.stickskebobshop.co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stickskebobshop.com/" TargetMode="External"/><Relationship Id="rId7" Type="http://schemas.openxmlformats.org/officeDocument/2006/relationships/image" Target="../media/image6.png"/><Relationship Id="rId12"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8.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jpg"/><Relationship Id="rId7"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8"/>
        <p:cNvGrpSpPr/>
        <p:nvPr/>
      </p:nvGrpSpPr>
      <p:grpSpPr>
        <a:xfrm>
          <a:off x="0" y="0"/>
          <a:ext cx="0" cy="0"/>
          <a:chOff x="0" y="0"/>
          <a:chExt cx="0" cy="0"/>
        </a:xfrm>
      </p:grpSpPr>
      <p:sp>
        <p:nvSpPr>
          <p:cNvPr id="129" name="Google Shape;129;p25"/>
          <p:cNvSpPr/>
          <p:nvPr/>
        </p:nvSpPr>
        <p:spPr>
          <a:xfrm>
            <a:off x="0" y="0"/>
            <a:ext cx="9144000"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0" name="Google Shape;130;p25"/>
          <p:cNvSpPr/>
          <p:nvPr/>
        </p:nvSpPr>
        <p:spPr>
          <a:xfrm>
            <a:off x="0" y="0"/>
            <a:ext cx="4334933" cy="5143500"/>
          </a:xfrm>
          <a:prstGeom prst="rect">
            <a:avLst/>
          </a:prstGeom>
          <a:gradFill>
            <a:gsLst>
              <a:gs pos="0">
                <a:schemeClr val="accent1"/>
              </a:gs>
              <a:gs pos="100000">
                <a:schemeClr val="accent2"/>
              </a:gs>
            </a:gsLst>
            <a:lin ang="269863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31" name="Google Shape;131;p25" descr="stick.jpeg"/>
          <p:cNvPicPr preferRelativeResize="0"/>
          <p:nvPr/>
        </p:nvPicPr>
        <p:blipFill rotWithShape="1">
          <a:blip r:embed="rId3">
            <a:alphaModFix/>
          </a:blip>
          <a:srcRect r="13166" b="1"/>
          <a:stretch/>
        </p:blipFill>
        <p:spPr>
          <a:xfrm>
            <a:off x="209357" y="224631"/>
            <a:ext cx="3916219" cy="2257798"/>
          </a:xfrm>
          <a:prstGeom prst="rect">
            <a:avLst/>
          </a:prstGeom>
          <a:noFill/>
          <a:ln>
            <a:noFill/>
          </a:ln>
        </p:spPr>
      </p:pic>
      <p:pic>
        <p:nvPicPr>
          <p:cNvPr id="132" name="Google Shape;132;p25"/>
          <p:cNvPicPr preferRelativeResize="0"/>
          <p:nvPr/>
        </p:nvPicPr>
        <p:blipFill rotWithShape="1">
          <a:blip r:embed="rId4">
            <a:alphaModFix/>
          </a:blip>
          <a:srcRect l="5359" r="10406" b="-1"/>
          <a:stretch/>
        </p:blipFill>
        <p:spPr>
          <a:xfrm>
            <a:off x="209357" y="2661071"/>
            <a:ext cx="3916219" cy="2257798"/>
          </a:xfrm>
          <a:prstGeom prst="rect">
            <a:avLst/>
          </a:prstGeom>
          <a:noFill/>
          <a:ln>
            <a:noFill/>
          </a:ln>
        </p:spPr>
      </p:pic>
      <p:sp>
        <p:nvSpPr>
          <p:cNvPr id="133" name="Google Shape;133;p25"/>
          <p:cNvSpPr txBox="1"/>
          <p:nvPr/>
        </p:nvSpPr>
        <p:spPr>
          <a:xfrm>
            <a:off x="4399743" y="794234"/>
            <a:ext cx="3326041" cy="415834"/>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l" rtl="0">
              <a:spcBef>
                <a:spcPts val="0"/>
              </a:spcBef>
              <a:spcAft>
                <a:spcPts val="0"/>
              </a:spcAft>
              <a:buNone/>
            </a:pPr>
            <a:r>
              <a:rPr lang="en" sz="2400" b="1" i="0" u="none" strike="noStrike" cap="none">
                <a:solidFill>
                  <a:schemeClr val="dk1"/>
                </a:solidFill>
                <a:latin typeface="Calibri"/>
                <a:ea typeface="Calibri"/>
                <a:cs typeface="Calibri"/>
                <a:sym typeface="Calibri"/>
              </a:rPr>
              <a:t>Case Assignment:</a:t>
            </a:r>
            <a:endParaRPr sz="3200">
              <a:solidFill>
                <a:schemeClr val="dk1"/>
              </a:solidFill>
              <a:latin typeface="Calibri"/>
              <a:ea typeface="Calibri"/>
              <a:cs typeface="Calibri"/>
              <a:sym typeface="Calibri"/>
            </a:endParaRPr>
          </a:p>
        </p:txBody>
      </p:sp>
      <p:cxnSp>
        <p:nvCxnSpPr>
          <p:cNvPr id="134" name="Google Shape;134;p25"/>
          <p:cNvCxnSpPr/>
          <p:nvPr/>
        </p:nvCxnSpPr>
        <p:spPr>
          <a:xfrm>
            <a:off x="8689621" y="2710420"/>
            <a:ext cx="0" cy="2429046"/>
          </a:xfrm>
          <a:prstGeom prst="straightConnector1">
            <a:avLst/>
          </a:prstGeom>
          <a:noFill/>
          <a:ln w="25400" cap="sq" cmpd="sng">
            <a:solidFill>
              <a:schemeClr val="accent1"/>
            </a:solidFill>
            <a:prstDash val="solid"/>
            <a:bevel/>
            <a:headEnd type="none" w="sm" len="sm"/>
            <a:tailEnd type="none" w="sm" len="sm"/>
          </a:ln>
        </p:spPr>
      </p:cxnSp>
      <p:sp>
        <p:nvSpPr>
          <p:cNvPr id="135" name="Google Shape;135;p25"/>
          <p:cNvSpPr txBox="1"/>
          <p:nvPr/>
        </p:nvSpPr>
        <p:spPr>
          <a:xfrm>
            <a:off x="4399743" y="1206476"/>
            <a:ext cx="4137194" cy="131353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4000" b="1">
                <a:solidFill>
                  <a:srgbClr val="90571E"/>
                </a:solidFill>
                <a:latin typeface="Calibri"/>
                <a:ea typeface="Calibri"/>
                <a:cs typeface="Calibri"/>
                <a:sym typeface="Calibri"/>
              </a:rPr>
              <a:t>Segmentation at Sticks Kebob Shop </a:t>
            </a:r>
            <a:endParaRPr sz="4000">
              <a:solidFill>
                <a:srgbClr val="90571E"/>
              </a:solidFill>
              <a:latin typeface="Calibri"/>
              <a:ea typeface="Calibri"/>
              <a:cs typeface="Calibri"/>
              <a:sym typeface="Calibri"/>
            </a:endParaRPr>
          </a:p>
        </p:txBody>
      </p:sp>
      <p:sp>
        <p:nvSpPr>
          <p:cNvPr id="136" name="Google Shape;136;p25"/>
          <p:cNvSpPr txBox="1"/>
          <p:nvPr/>
        </p:nvSpPr>
        <p:spPr>
          <a:xfrm>
            <a:off x="4441875" y="2803900"/>
            <a:ext cx="3951900" cy="1972200"/>
          </a:xfrm>
          <a:prstGeom prst="rect">
            <a:avLst/>
          </a:prstGeom>
          <a:noFill/>
          <a:ln>
            <a:noFill/>
          </a:ln>
        </p:spPr>
        <p:txBody>
          <a:bodyPr spcFirstLastPara="1" wrap="square" lIns="91425" tIns="45700" rIns="91425" bIns="45700" anchor="t" anchorCtr="0">
            <a:normAutofit lnSpcReduction="10000"/>
          </a:bodyPr>
          <a:lstStyle/>
          <a:p>
            <a:pPr marL="0" marR="0" lvl="0" indent="0" algn="l" rtl="0">
              <a:spcBef>
                <a:spcPts val="0"/>
              </a:spcBef>
              <a:spcAft>
                <a:spcPts val="0"/>
              </a:spcAft>
              <a:buNone/>
            </a:pPr>
            <a:r>
              <a:rPr lang="en-CN" sz="1600" b="1" dirty="0">
                <a:solidFill>
                  <a:schemeClr val="dk1"/>
                </a:solidFill>
                <a:latin typeface="Calibri"/>
                <a:ea typeface="Calibri"/>
                <a:cs typeface="Calibri"/>
                <a:sym typeface="Calibri"/>
              </a:rPr>
              <a:t>Authors:</a:t>
            </a:r>
          </a:p>
          <a:p>
            <a:pPr marL="0" marR="0" lvl="0" indent="0" algn="l" rtl="0">
              <a:spcBef>
                <a:spcPts val="0"/>
              </a:spcBef>
              <a:spcAft>
                <a:spcPts val="0"/>
              </a:spcAft>
              <a:buNone/>
            </a:pPr>
            <a:endParaRPr lang="en-CN" sz="1600" b="1" dirty="0">
              <a:solidFill>
                <a:schemeClr val="dk1"/>
              </a:solidFill>
              <a:latin typeface="Calibri"/>
              <a:ea typeface="Calibri"/>
              <a:cs typeface="Calibri"/>
              <a:sym typeface="Calibri"/>
            </a:endParaRPr>
          </a:p>
          <a:p>
            <a:pPr lvl="0"/>
            <a:r>
              <a:rPr lang="en" sz="1600" b="1" dirty="0">
                <a:solidFill>
                  <a:schemeClr val="dk1"/>
                </a:solidFill>
                <a:latin typeface="Calibri"/>
                <a:ea typeface="Calibri"/>
                <a:cs typeface="Calibri"/>
                <a:sym typeface="Calibri"/>
              </a:rPr>
              <a:t>Hanyu Chen </a:t>
            </a:r>
          </a:p>
          <a:p>
            <a:pPr lvl="0"/>
            <a:r>
              <a:rPr lang="en" sz="1600" b="1" dirty="0">
                <a:solidFill>
                  <a:schemeClr val="dk1"/>
                </a:solidFill>
                <a:latin typeface="Calibri"/>
                <a:ea typeface="Calibri"/>
                <a:cs typeface="Calibri"/>
                <a:sym typeface="Calibri"/>
              </a:rPr>
              <a:t>Parneet Kaur </a:t>
            </a:r>
            <a:r>
              <a:rPr lang="en" sz="1600" b="1" dirty="0" err="1">
                <a:solidFill>
                  <a:schemeClr val="dk1"/>
                </a:solidFill>
                <a:latin typeface="Calibri"/>
                <a:ea typeface="Calibri"/>
                <a:cs typeface="Calibri"/>
                <a:sym typeface="Calibri"/>
              </a:rPr>
              <a:t>Bhatthal</a:t>
            </a:r>
            <a:r>
              <a:rPr lang="en" sz="1600" b="1" dirty="0">
                <a:solidFill>
                  <a:schemeClr val="dk1"/>
                </a:solidFill>
                <a:latin typeface="Calibri"/>
                <a:ea typeface="Calibri"/>
                <a:cs typeface="Calibri"/>
                <a:sym typeface="Calibri"/>
              </a:rPr>
              <a:t> </a:t>
            </a:r>
          </a:p>
          <a:p>
            <a:pPr lvl="0"/>
            <a:r>
              <a:rPr lang="en" sz="1600" b="1" dirty="0">
                <a:solidFill>
                  <a:schemeClr val="dk1"/>
                </a:solidFill>
                <a:latin typeface="Calibri"/>
                <a:ea typeface="Calibri"/>
                <a:cs typeface="Calibri"/>
                <a:sym typeface="Calibri"/>
              </a:rPr>
              <a:t>Iman Faisal                     </a:t>
            </a:r>
          </a:p>
          <a:p>
            <a:pPr lvl="0"/>
            <a:r>
              <a:rPr lang="en" sz="1600" b="1" dirty="0">
                <a:solidFill>
                  <a:schemeClr val="dk1"/>
                </a:solidFill>
                <a:latin typeface="Calibri"/>
                <a:ea typeface="Calibri"/>
                <a:cs typeface="Calibri"/>
                <a:sym typeface="Calibri"/>
              </a:rPr>
              <a:t>Manvi Sharma	</a:t>
            </a:r>
          </a:p>
          <a:p>
            <a:pPr lvl="0"/>
            <a:r>
              <a:rPr lang="en" sz="1600" b="1" dirty="0">
                <a:solidFill>
                  <a:schemeClr val="dk1"/>
                </a:solidFill>
                <a:latin typeface="Calibri"/>
                <a:ea typeface="Calibri"/>
                <a:cs typeface="Calibri"/>
                <a:sym typeface="Calibri"/>
              </a:rPr>
              <a:t>Demi Tran 	  	  </a:t>
            </a:r>
          </a:p>
          <a:p>
            <a:pPr lvl="0"/>
            <a:r>
              <a:rPr lang="en" sz="1600" b="1" dirty="0">
                <a:solidFill>
                  <a:schemeClr val="dk1"/>
                </a:solidFill>
                <a:latin typeface="Calibri"/>
                <a:ea typeface="Calibri"/>
                <a:cs typeface="Calibri"/>
                <a:sym typeface="Calibri"/>
              </a:rPr>
              <a:t>Ariha Gupta                   </a:t>
            </a:r>
            <a:endParaRPr sz="1600"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0"/>
        <p:cNvGrpSpPr/>
        <p:nvPr/>
      </p:nvGrpSpPr>
      <p:grpSpPr>
        <a:xfrm>
          <a:off x="0" y="0"/>
          <a:ext cx="0" cy="0"/>
          <a:chOff x="0" y="0"/>
          <a:chExt cx="0" cy="0"/>
        </a:xfrm>
      </p:grpSpPr>
      <p:sp>
        <p:nvSpPr>
          <p:cNvPr id="141" name="Google Shape;141;p26"/>
          <p:cNvSpPr/>
          <p:nvPr/>
        </p:nvSpPr>
        <p:spPr>
          <a:xfrm>
            <a:off x="0" y="0"/>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142" name="Google Shape;142;p26"/>
          <p:cNvGrpSpPr/>
          <p:nvPr/>
        </p:nvGrpSpPr>
        <p:grpSpPr>
          <a:xfrm>
            <a:off x="55721" y="1788827"/>
            <a:ext cx="430556" cy="1565846"/>
            <a:chOff x="209669" y="2857423"/>
            <a:chExt cx="463661" cy="2087794"/>
          </a:xfrm>
        </p:grpSpPr>
        <p:sp>
          <p:nvSpPr>
            <p:cNvPr id="143" name="Google Shape;143;p26"/>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144" name="Google Shape;144;p26"/>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145" name="Google Shape;145;p26"/>
          <p:cNvSpPr/>
          <p:nvPr/>
        </p:nvSpPr>
        <p:spPr>
          <a:xfrm flipH="1">
            <a:off x="8023200" y="0"/>
            <a:ext cx="1120800"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46" name="Google Shape;146;p26"/>
          <p:cNvSpPr/>
          <p:nvPr/>
        </p:nvSpPr>
        <p:spPr>
          <a:xfrm>
            <a:off x="434646" y="473825"/>
            <a:ext cx="8333700" cy="43143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48" name="Google Shape;148;p26" descr="A black and orange logo&#10;&#10;AI-generated content may be incorrect."/>
          <p:cNvPicPr preferRelativeResize="0"/>
          <p:nvPr/>
        </p:nvPicPr>
        <p:blipFill rotWithShape="1">
          <a:blip r:embed="rId3">
            <a:alphaModFix/>
          </a:blip>
          <a:srcRect l="5357" r="10411"/>
          <a:stretch/>
        </p:blipFill>
        <p:spPr>
          <a:xfrm>
            <a:off x="7905729" y="199474"/>
            <a:ext cx="862617" cy="497320"/>
          </a:xfrm>
          <a:prstGeom prst="rect">
            <a:avLst/>
          </a:prstGeom>
          <a:noFill/>
          <a:ln>
            <a:noFill/>
          </a:ln>
        </p:spPr>
      </p:pic>
      <p:sp>
        <p:nvSpPr>
          <p:cNvPr id="149" name="Google Shape;149;p26"/>
          <p:cNvSpPr txBox="1"/>
          <p:nvPr/>
        </p:nvSpPr>
        <p:spPr>
          <a:xfrm>
            <a:off x="730550" y="962822"/>
            <a:ext cx="3541500" cy="291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D96B3D"/>
              </a:buClr>
              <a:buSzPts val="600"/>
              <a:buFont typeface="Calibri"/>
              <a:buNone/>
            </a:pPr>
            <a:endParaRPr sz="600" b="1" i="0" u="none" strike="noStrike" cap="none">
              <a:solidFill>
                <a:srgbClr val="C17529"/>
              </a:solidFill>
              <a:latin typeface="Calibri"/>
              <a:ea typeface="Calibri"/>
              <a:cs typeface="Calibri"/>
              <a:sym typeface="Calibri"/>
            </a:endParaRPr>
          </a:p>
        </p:txBody>
      </p:sp>
      <p:sp>
        <p:nvSpPr>
          <p:cNvPr id="150" name="Google Shape;150;p26"/>
          <p:cNvSpPr txBox="1"/>
          <p:nvPr/>
        </p:nvSpPr>
        <p:spPr>
          <a:xfrm>
            <a:off x="434646" y="230882"/>
            <a:ext cx="4042800" cy="589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accent6"/>
              </a:buClr>
              <a:buSzPts val="2400"/>
              <a:buFont typeface="Calibri"/>
              <a:buNone/>
            </a:pPr>
            <a:r>
              <a:rPr lang="en" sz="2400" b="1" dirty="0">
                <a:solidFill>
                  <a:schemeClr val="accent6"/>
                </a:solidFill>
                <a:latin typeface="Calibri"/>
                <a:ea typeface="Calibri"/>
                <a:cs typeface="Calibri"/>
                <a:sym typeface="Calibri"/>
              </a:rPr>
              <a:t>Company Overview</a:t>
            </a:r>
          </a:p>
        </p:txBody>
      </p:sp>
      <p:sp>
        <p:nvSpPr>
          <p:cNvPr id="151" name="Google Shape;151;p26"/>
          <p:cNvSpPr txBox="1">
            <a:spLocks noGrp="1"/>
          </p:cNvSpPr>
          <p:nvPr>
            <p:ph type="title"/>
          </p:nvPr>
        </p:nvSpPr>
        <p:spPr>
          <a:xfrm>
            <a:off x="1027976" y="635325"/>
            <a:ext cx="1581900" cy="589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accent6"/>
              </a:buClr>
              <a:buSzPts val="1800"/>
              <a:buFont typeface="Calibri"/>
              <a:buNone/>
            </a:pPr>
            <a:r>
              <a:rPr lang="en" sz="1800" b="1" dirty="0">
                <a:solidFill>
                  <a:schemeClr val="accent6"/>
                </a:solidFill>
                <a:latin typeface="Calibri"/>
                <a:ea typeface="Calibri"/>
                <a:cs typeface="Calibri"/>
                <a:sym typeface="Calibri"/>
              </a:rPr>
              <a:t>Background</a:t>
            </a:r>
            <a:r>
              <a:rPr lang="en" sz="2400" b="1" dirty="0">
                <a:solidFill>
                  <a:schemeClr val="accent6"/>
                </a:solidFill>
                <a:latin typeface="Calibri"/>
                <a:ea typeface="Calibri"/>
                <a:cs typeface="Calibri"/>
                <a:sym typeface="Calibri"/>
              </a:rPr>
              <a:t> </a:t>
            </a:r>
            <a:endParaRPr dirty="0"/>
          </a:p>
        </p:txBody>
      </p:sp>
      <p:sp>
        <p:nvSpPr>
          <p:cNvPr id="152" name="Google Shape;152;p26"/>
          <p:cNvSpPr txBox="1">
            <a:spLocks noGrp="1"/>
          </p:cNvSpPr>
          <p:nvPr>
            <p:ph type="title"/>
          </p:nvPr>
        </p:nvSpPr>
        <p:spPr>
          <a:xfrm>
            <a:off x="1215975" y="919763"/>
            <a:ext cx="7035900" cy="2416800"/>
          </a:xfrm>
          <a:prstGeom prst="rect">
            <a:avLst/>
          </a:prstGeom>
          <a:noFill/>
          <a:ln>
            <a:noFill/>
          </a:ln>
        </p:spPr>
        <p:txBody>
          <a:bodyPr spcFirstLastPara="1" wrap="square" lIns="91425" tIns="45700" rIns="91425" bIns="45700" anchor="ctr" anchorCtr="0">
            <a:noAutofit/>
          </a:bodyPr>
          <a:lstStyle/>
          <a:p>
            <a:pPr marL="457200" lvl="0" indent="-304800" algn="l" rtl="0">
              <a:lnSpc>
                <a:spcPct val="115000"/>
              </a:lnSpc>
              <a:spcBef>
                <a:spcPts val="0"/>
              </a:spcBef>
              <a:spcAft>
                <a:spcPts val="0"/>
              </a:spcAft>
              <a:buClr>
                <a:schemeClr val="dk1"/>
              </a:buClr>
              <a:buSzPts val="1200"/>
              <a:buFont typeface="Calibri"/>
              <a:buChar char="●"/>
            </a:pPr>
            <a:r>
              <a:rPr lang="en" sz="1200" dirty="0"/>
              <a:t>Established in 2001 and headquartered in Charlottesville, Virginia</a:t>
            </a:r>
            <a:endParaRPr sz="1200" dirty="0"/>
          </a:p>
          <a:p>
            <a:pPr marL="457200" lvl="0" indent="-304800" algn="l" rtl="0">
              <a:lnSpc>
                <a:spcPct val="115000"/>
              </a:lnSpc>
              <a:spcBef>
                <a:spcPts val="0"/>
              </a:spcBef>
              <a:spcAft>
                <a:spcPts val="0"/>
              </a:spcAft>
              <a:buClr>
                <a:schemeClr val="dk1"/>
              </a:buClr>
              <a:buSzPts val="1200"/>
              <a:buFont typeface="Calibri"/>
              <a:buChar char="●"/>
            </a:pPr>
            <a:r>
              <a:rPr lang="en" sz="1200" dirty="0"/>
              <a:t>Vision to become a trusted haven for food enthusiasts, families on the go, and diners seeking healthier choices</a:t>
            </a:r>
            <a:endParaRPr sz="1200" dirty="0"/>
          </a:p>
          <a:p>
            <a:pPr marL="457200" lvl="0" indent="-304800" algn="l" rtl="0">
              <a:lnSpc>
                <a:spcPct val="115000"/>
              </a:lnSpc>
              <a:spcBef>
                <a:spcPts val="0"/>
              </a:spcBef>
              <a:spcAft>
                <a:spcPts val="0"/>
              </a:spcAft>
              <a:buClr>
                <a:schemeClr val="dk1"/>
              </a:buClr>
              <a:buSzPts val="1200"/>
              <a:buFont typeface="Calibri"/>
              <a:buChar char="●"/>
            </a:pPr>
            <a:r>
              <a:rPr lang="en" sz="1200" dirty="0"/>
              <a:t>Fell into the fast-growing segment of QSR offering ethnic food</a:t>
            </a:r>
            <a:endParaRPr sz="1200" dirty="0"/>
          </a:p>
          <a:p>
            <a:pPr marL="457200" lvl="0" indent="-304800" algn="l" rtl="0">
              <a:lnSpc>
                <a:spcPct val="115000"/>
              </a:lnSpc>
              <a:spcBef>
                <a:spcPts val="0"/>
              </a:spcBef>
              <a:spcAft>
                <a:spcPts val="0"/>
              </a:spcAft>
              <a:buClr>
                <a:schemeClr val="dk1"/>
              </a:buClr>
              <a:buSzPts val="1200"/>
              <a:buFont typeface="Calibri"/>
              <a:buChar char="●"/>
            </a:pPr>
            <a:r>
              <a:rPr lang="en" sz="1200" dirty="0"/>
              <a:t>Menu items included:</a:t>
            </a:r>
            <a:endParaRPr sz="1200" dirty="0"/>
          </a:p>
          <a:p>
            <a:pPr marL="914400" lvl="1" indent="-304800" algn="l" rtl="0">
              <a:lnSpc>
                <a:spcPct val="115000"/>
              </a:lnSpc>
              <a:spcBef>
                <a:spcPts val="0"/>
              </a:spcBef>
              <a:spcAft>
                <a:spcPts val="0"/>
              </a:spcAft>
              <a:buClr>
                <a:schemeClr val="dk1"/>
              </a:buClr>
              <a:buSzPts val="1200"/>
              <a:buFont typeface="Calibri"/>
              <a:buChar char="○"/>
            </a:pPr>
            <a:r>
              <a:rPr lang="en" sz="1200" dirty="0">
                <a:solidFill>
                  <a:schemeClr val="dk1"/>
                </a:solidFill>
                <a:latin typeface="Calibri"/>
                <a:ea typeface="Calibri"/>
                <a:cs typeface="Calibri"/>
                <a:sym typeface="Calibri"/>
              </a:rPr>
              <a:t>Sandwiches, Salads, and Platters with homemade sauces</a:t>
            </a:r>
            <a:endParaRPr sz="1200" dirty="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dirty="0">
                <a:solidFill>
                  <a:schemeClr val="dk1"/>
                </a:solidFill>
                <a:latin typeface="Calibri"/>
                <a:ea typeface="Calibri"/>
                <a:cs typeface="Calibri"/>
                <a:sym typeface="Calibri"/>
              </a:rPr>
              <a:t>Chicken breast, Chilli-spiked beef sirloin, Shrimp, Lamb, Kibbeh, and Falafel with add-ons</a:t>
            </a:r>
            <a:endParaRPr sz="1200" dirty="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dirty="0">
                <a:solidFill>
                  <a:schemeClr val="dk1"/>
                </a:solidFill>
                <a:latin typeface="Calibri"/>
                <a:ea typeface="Calibri"/>
                <a:cs typeface="Calibri"/>
                <a:sym typeface="Calibri"/>
              </a:rPr>
              <a:t>Sides such as hummus, veggies, fries, beans, tabouleh, onion rings, and pita chips</a:t>
            </a:r>
            <a:endParaRPr sz="1200" dirty="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dirty="0">
                <a:solidFill>
                  <a:schemeClr val="dk1"/>
                </a:solidFill>
                <a:latin typeface="Calibri"/>
                <a:ea typeface="Calibri"/>
                <a:cs typeface="Calibri"/>
                <a:sym typeface="Calibri"/>
              </a:rPr>
              <a:t>Drinks such as fresh-squeezed limeade and mango lemonade </a:t>
            </a:r>
            <a:endParaRPr sz="1200" dirty="0"/>
          </a:p>
        </p:txBody>
      </p:sp>
      <p:sp>
        <p:nvSpPr>
          <p:cNvPr id="153" name="Google Shape;153;p26"/>
          <p:cNvSpPr txBox="1"/>
          <p:nvPr/>
        </p:nvSpPr>
        <p:spPr>
          <a:xfrm>
            <a:off x="1145683" y="3051881"/>
            <a:ext cx="1760700" cy="589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accent6"/>
              </a:buClr>
              <a:buSzPts val="1800"/>
              <a:buFont typeface="Calibri"/>
              <a:buNone/>
            </a:pPr>
            <a:r>
              <a:rPr lang="en" sz="1800" b="1" dirty="0">
                <a:solidFill>
                  <a:schemeClr val="accent6"/>
                </a:solidFill>
                <a:latin typeface="Calibri"/>
                <a:ea typeface="Calibri"/>
                <a:cs typeface="Calibri"/>
                <a:sym typeface="Calibri"/>
              </a:rPr>
              <a:t>Key Challenges</a:t>
            </a:r>
            <a:endParaRPr dirty="0"/>
          </a:p>
        </p:txBody>
      </p:sp>
      <p:sp>
        <p:nvSpPr>
          <p:cNvPr id="154" name="Google Shape;154;p26"/>
          <p:cNvSpPr txBox="1"/>
          <p:nvPr/>
        </p:nvSpPr>
        <p:spPr>
          <a:xfrm>
            <a:off x="1215975" y="3467952"/>
            <a:ext cx="7190100" cy="694800"/>
          </a:xfrm>
          <a:prstGeom prst="rect">
            <a:avLst/>
          </a:prstGeom>
          <a:noFill/>
          <a:ln>
            <a:noFill/>
          </a:ln>
        </p:spPr>
        <p:txBody>
          <a:bodyPr spcFirstLastPara="1" wrap="square" lIns="91425" tIns="45700" rIns="91425" bIns="45700" anchor="ctr" anchorCtr="0">
            <a:normAutofit/>
          </a:bodyPr>
          <a:lstStyle/>
          <a:p>
            <a:pPr marL="457200" lvl="0" indent="-304800" algn="l" rtl="0">
              <a:lnSpc>
                <a:spcPct val="115000"/>
              </a:lnSpc>
              <a:spcBef>
                <a:spcPts val="0"/>
              </a:spcBef>
              <a:spcAft>
                <a:spcPts val="0"/>
              </a:spcAft>
              <a:buClr>
                <a:schemeClr val="dk1"/>
              </a:buClr>
              <a:buSzPts val="1200"/>
              <a:buFont typeface="Calibri"/>
              <a:buChar char="●"/>
            </a:pPr>
            <a:r>
              <a:rPr lang="en" sz="1200" dirty="0">
                <a:solidFill>
                  <a:schemeClr val="dk1"/>
                </a:solidFill>
                <a:latin typeface="Calibri"/>
                <a:ea typeface="Calibri"/>
                <a:cs typeface="Calibri"/>
                <a:sym typeface="Calibri"/>
              </a:rPr>
              <a:t>Identifying the right markets to enter and</a:t>
            </a:r>
            <a:endParaRPr sz="1200" dirty="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dirty="0">
                <a:solidFill>
                  <a:schemeClr val="dk1"/>
                </a:solidFill>
                <a:latin typeface="Calibri"/>
                <a:ea typeface="Calibri"/>
                <a:cs typeface="Calibri"/>
                <a:sym typeface="Calibri"/>
              </a:rPr>
              <a:t>Securing the ideal locations to support its planned expansion of new restaurants</a:t>
            </a:r>
            <a:endParaRPr sz="1200" dirty="0">
              <a:solidFill>
                <a:schemeClr val="dk1"/>
              </a:solidFill>
              <a:latin typeface="Calibri"/>
              <a:ea typeface="Calibri"/>
              <a:cs typeface="Calibri"/>
              <a:sym typeface="Calibri"/>
            </a:endParaRPr>
          </a:p>
        </p:txBody>
      </p:sp>
      <p:cxnSp>
        <p:nvCxnSpPr>
          <p:cNvPr id="155" name="Google Shape;155;p26"/>
          <p:cNvCxnSpPr/>
          <p:nvPr/>
        </p:nvCxnSpPr>
        <p:spPr>
          <a:xfrm>
            <a:off x="813311" y="4380160"/>
            <a:ext cx="7407000" cy="0"/>
          </a:xfrm>
          <a:prstGeom prst="straightConnector1">
            <a:avLst/>
          </a:prstGeom>
          <a:noFill/>
          <a:ln w="9525" cap="flat" cmpd="sng">
            <a:solidFill>
              <a:schemeClr val="dk1"/>
            </a:solidFill>
            <a:prstDash val="dash"/>
            <a:round/>
            <a:headEnd type="none" w="sm" len="sm"/>
            <a:tailEnd type="none" w="sm" len="sm"/>
          </a:ln>
        </p:spPr>
      </p:cxnSp>
      <p:sp>
        <p:nvSpPr>
          <p:cNvPr id="156" name="Google Shape;156;p26"/>
          <p:cNvSpPr txBox="1"/>
          <p:nvPr/>
        </p:nvSpPr>
        <p:spPr>
          <a:xfrm>
            <a:off x="732279" y="4340609"/>
            <a:ext cx="7880100" cy="412200"/>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rgbClr val="0C0C0C"/>
              </a:buClr>
              <a:buSzPts val="1100"/>
              <a:buFont typeface="Arial"/>
              <a:buNone/>
            </a:pPr>
            <a:r>
              <a:rPr lang="en" sz="900" i="1">
                <a:solidFill>
                  <a:srgbClr val="0C0C0C"/>
                </a:solidFill>
                <a:latin typeface="Calibri"/>
                <a:ea typeface="Calibri"/>
                <a:cs typeface="Calibri"/>
                <a:sym typeface="Calibri"/>
              </a:rPr>
              <a:t>Source: Sticks Kebob Shop case materials from iveypublishing.ca and </a:t>
            </a:r>
            <a:r>
              <a:rPr lang="en" sz="900" i="1" u="sng">
                <a:solidFill>
                  <a:schemeClr val="hlink"/>
                </a:solidFill>
                <a:latin typeface="Calibri"/>
                <a:ea typeface="Calibri"/>
                <a:cs typeface="Calibri"/>
                <a:sym typeface="Calibri"/>
                <a:hlinkClick r:id="rId4"/>
              </a:rPr>
              <a:t>www.stickskebobshop.com</a:t>
            </a:r>
            <a:endParaRPr sz="900" i="1">
              <a:solidFill>
                <a:srgbClr val="0C0C0C"/>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1"/>
        <p:cNvGrpSpPr/>
        <p:nvPr/>
      </p:nvGrpSpPr>
      <p:grpSpPr>
        <a:xfrm>
          <a:off x="0" y="0"/>
          <a:ext cx="0" cy="0"/>
          <a:chOff x="0" y="0"/>
          <a:chExt cx="0" cy="0"/>
        </a:xfrm>
      </p:grpSpPr>
      <p:sp>
        <p:nvSpPr>
          <p:cNvPr id="162" name="Google Shape;162;p27"/>
          <p:cNvSpPr/>
          <p:nvPr/>
        </p:nvSpPr>
        <p:spPr>
          <a:xfrm>
            <a:off x="0" y="0"/>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163" name="Google Shape;163;p27"/>
          <p:cNvGrpSpPr/>
          <p:nvPr/>
        </p:nvGrpSpPr>
        <p:grpSpPr>
          <a:xfrm>
            <a:off x="55721" y="1788827"/>
            <a:ext cx="430556" cy="1565846"/>
            <a:chOff x="209669" y="2857423"/>
            <a:chExt cx="463661" cy="2087794"/>
          </a:xfrm>
        </p:grpSpPr>
        <p:sp>
          <p:nvSpPr>
            <p:cNvPr id="164" name="Google Shape;164;p27"/>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165" name="Google Shape;165;p27"/>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166" name="Google Shape;166;p27"/>
          <p:cNvSpPr/>
          <p:nvPr/>
        </p:nvSpPr>
        <p:spPr>
          <a:xfrm flipH="1">
            <a:off x="8023200" y="0"/>
            <a:ext cx="1120800"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67" name="Google Shape;167;p27"/>
          <p:cNvSpPr/>
          <p:nvPr/>
        </p:nvSpPr>
        <p:spPr>
          <a:xfrm>
            <a:off x="430796" y="473825"/>
            <a:ext cx="8333700" cy="43143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68" name="Google Shape;168;p27"/>
          <p:cNvSpPr txBox="1"/>
          <p:nvPr/>
        </p:nvSpPr>
        <p:spPr>
          <a:xfrm>
            <a:off x="732279" y="4340609"/>
            <a:ext cx="7880100" cy="412200"/>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rgbClr val="0C0C0C"/>
              </a:buClr>
              <a:buSzPts val="1100"/>
              <a:buFont typeface="Arial"/>
              <a:buNone/>
            </a:pPr>
            <a:r>
              <a:rPr lang="en" sz="900" i="1">
                <a:solidFill>
                  <a:srgbClr val="0C0C0C"/>
                </a:solidFill>
                <a:latin typeface="Calibri"/>
                <a:ea typeface="Calibri"/>
                <a:cs typeface="Calibri"/>
                <a:sym typeface="Calibri"/>
              </a:rPr>
              <a:t>Source: Sticks Kebob Shop case materials from iveypublishing.ca and </a:t>
            </a:r>
            <a:r>
              <a:rPr lang="en" sz="900" i="1" u="sng">
                <a:solidFill>
                  <a:schemeClr val="hlink"/>
                </a:solidFill>
                <a:latin typeface="Calibri"/>
                <a:ea typeface="Calibri"/>
                <a:cs typeface="Calibri"/>
                <a:sym typeface="Calibri"/>
                <a:hlinkClick r:id="rId3"/>
              </a:rPr>
              <a:t>www.stickskebobshop.com</a:t>
            </a:r>
            <a:endParaRPr sz="900" i="1">
              <a:solidFill>
                <a:srgbClr val="0C0C0C"/>
              </a:solidFill>
              <a:latin typeface="Calibri"/>
              <a:ea typeface="Calibri"/>
              <a:cs typeface="Calibri"/>
              <a:sym typeface="Calibri"/>
            </a:endParaRPr>
          </a:p>
        </p:txBody>
      </p:sp>
      <p:cxnSp>
        <p:nvCxnSpPr>
          <p:cNvPr id="169" name="Google Shape;169;p27"/>
          <p:cNvCxnSpPr/>
          <p:nvPr/>
        </p:nvCxnSpPr>
        <p:spPr>
          <a:xfrm>
            <a:off x="813311" y="4380160"/>
            <a:ext cx="7407000" cy="0"/>
          </a:xfrm>
          <a:prstGeom prst="straightConnector1">
            <a:avLst/>
          </a:prstGeom>
          <a:noFill/>
          <a:ln w="9525" cap="flat" cmpd="sng">
            <a:solidFill>
              <a:schemeClr val="dk1"/>
            </a:solidFill>
            <a:prstDash val="dash"/>
            <a:round/>
            <a:headEnd type="none" w="sm" len="sm"/>
            <a:tailEnd type="none" w="sm" len="sm"/>
          </a:ln>
        </p:spPr>
      </p:cxnSp>
      <p:sp>
        <p:nvSpPr>
          <p:cNvPr id="172" name="Google Shape;172;p27"/>
          <p:cNvSpPr txBox="1"/>
          <p:nvPr/>
        </p:nvSpPr>
        <p:spPr>
          <a:xfrm>
            <a:off x="796142" y="439156"/>
            <a:ext cx="4042800" cy="589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accent6"/>
              </a:buClr>
              <a:buSzPts val="2400"/>
              <a:buFont typeface="Calibri"/>
              <a:buNone/>
            </a:pPr>
            <a:r>
              <a:rPr lang="en" sz="2400" b="1" dirty="0">
                <a:solidFill>
                  <a:schemeClr val="accent6"/>
                </a:solidFill>
                <a:latin typeface="Calibri"/>
                <a:ea typeface="Calibri"/>
                <a:cs typeface="Calibri"/>
                <a:sym typeface="Calibri"/>
              </a:rPr>
              <a:t>Customer Value Proposition</a:t>
            </a:r>
            <a:endParaRPr dirty="0"/>
          </a:p>
        </p:txBody>
      </p:sp>
      <p:sp>
        <p:nvSpPr>
          <p:cNvPr id="173" name="Google Shape;173;p27"/>
          <p:cNvSpPr txBox="1"/>
          <p:nvPr/>
        </p:nvSpPr>
        <p:spPr>
          <a:xfrm>
            <a:off x="793274" y="905717"/>
            <a:ext cx="2946600" cy="589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accent6"/>
              </a:buClr>
              <a:buSzPts val="2400"/>
              <a:buFont typeface="Calibri"/>
              <a:buNone/>
            </a:pPr>
            <a:r>
              <a:rPr lang="en" sz="1500" b="1" dirty="0">
                <a:solidFill>
                  <a:schemeClr val="accent6"/>
                </a:solidFill>
                <a:latin typeface="Calibri"/>
                <a:ea typeface="Calibri"/>
                <a:cs typeface="Calibri"/>
                <a:sym typeface="Calibri"/>
              </a:rPr>
              <a:t>Core Value</a:t>
            </a:r>
            <a:r>
              <a:rPr lang="en" b="1" dirty="0">
                <a:solidFill>
                  <a:schemeClr val="accent6"/>
                </a:solidFill>
                <a:latin typeface="Calibri"/>
                <a:ea typeface="Calibri"/>
                <a:cs typeface="Calibri"/>
                <a:sym typeface="Calibri"/>
              </a:rPr>
              <a:t> </a:t>
            </a:r>
            <a:r>
              <a:rPr lang="en" sz="1500" b="1" dirty="0">
                <a:solidFill>
                  <a:schemeClr val="accent6"/>
                </a:solidFill>
                <a:latin typeface="Calibri"/>
                <a:ea typeface="Calibri"/>
                <a:cs typeface="Calibri"/>
                <a:sym typeface="Calibri"/>
              </a:rPr>
              <a:t>Pillars</a:t>
            </a:r>
            <a:endParaRPr sz="500" dirty="0"/>
          </a:p>
        </p:txBody>
      </p:sp>
      <p:sp>
        <p:nvSpPr>
          <p:cNvPr id="174" name="Google Shape;174;p27"/>
          <p:cNvSpPr txBox="1"/>
          <p:nvPr/>
        </p:nvSpPr>
        <p:spPr>
          <a:xfrm>
            <a:off x="4913852" y="849510"/>
            <a:ext cx="2946600" cy="589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accent6"/>
              </a:buClr>
              <a:buSzPts val="2400"/>
              <a:buFont typeface="Calibri"/>
              <a:buNone/>
            </a:pPr>
            <a:r>
              <a:rPr lang="en" sz="1500" b="1" dirty="0">
                <a:solidFill>
                  <a:schemeClr val="accent6"/>
                </a:solidFill>
                <a:latin typeface="Calibri"/>
                <a:ea typeface="Calibri"/>
                <a:cs typeface="Calibri"/>
                <a:sym typeface="Calibri"/>
              </a:rPr>
              <a:t>Supporting Experience</a:t>
            </a:r>
            <a:endParaRPr sz="500" dirty="0"/>
          </a:p>
        </p:txBody>
      </p:sp>
      <p:grpSp>
        <p:nvGrpSpPr>
          <p:cNvPr id="175" name="Google Shape;175;p27"/>
          <p:cNvGrpSpPr/>
          <p:nvPr/>
        </p:nvGrpSpPr>
        <p:grpSpPr>
          <a:xfrm>
            <a:off x="959125" y="1428053"/>
            <a:ext cx="3155819" cy="2817435"/>
            <a:chOff x="2861440" y="887238"/>
            <a:chExt cx="3413781" cy="3476598"/>
          </a:xfrm>
        </p:grpSpPr>
        <p:sp>
          <p:nvSpPr>
            <p:cNvPr id="176" name="Google Shape;176;p27"/>
            <p:cNvSpPr/>
            <p:nvPr/>
          </p:nvSpPr>
          <p:spPr>
            <a:xfrm>
              <a:off x="2879221" y="3559236"/>
              <a:ext cx="3396000" cy="804600"/>
            </a:xfrm>
            <a:prstGeom prst="roundRect">
              <a:avLst>
                <a:gd name="adj" fmla="val 5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128100" tIns="83250" rIns="128100" bIns="83250" anchor="ctr" anchorCtr="0">
              <a:noAutofit/>
            </a:bodyPr>
            <a:lstStyle/>
            <a:p>
              <a:pPr marL="0" lvl="0" indent="0" algn="l" rtl="0">
                <a:lnSpc>
                  <a:spcPct val="115000"/>
                </a:lnSpc>
                <a:spcBef>
                  <a:spcPts val="0"/>
                </a:spcBef>
                <a:spcAft>
                  <a:spcPts val="0"/>
                </a:spcAft>
                <a:buNone/>
              </a:pPr>
              <a:endParaRPr sz="840" dirty="0">
                <a:solidFill>
                  <a:srgbClr val="010101"/>
                </a:solidFill>
                <a:latin typeface="IBM Plex Sans"/>
                <a:ea typeface="IBM Plex Sans"/>
                <a:cs typeface="IBM Plex Sans"/>
                <a:sym typeface="IBM Plex Sans"/>
              </a:endParaRPr>
            </a:p>
          </p:txBody>
        </p:sp>
        <p:sp>
          <p:nvSpPr>
            <p:cNvPr id="177" name="Google Shape;177;p27"/>
            <p:cNvSpPr/>
            <p:nvPr/>
          </p:nvSpPr>
          <p:spPr>
            <a:xfrm>
              <a:off x="2879221" y="2657812"/>
              <a:ext cx="3396000" cy="804600"/>
            </a:xfrm>
            <a:prstGeom prst="roundRect">
              <a:avLst>
                <a:gd name="adj" fmla="val 5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128100" tIns="83250" rIns="128100" bIns="83250" anchor="ctr" anchorCtr="0">
              <a:noAutofit/>
            </a:bodyPr>
            <a:lstStyle/>
            <a:p>
              <a:pPr marL="0" lvl="0" indent="0" algn="l" rtl="0">
                <a:lnSpc>
                  <a:spcPct val="115000"/>
                </a:lnSpc>
                <a:spcBef>
                  <a:spcPts val="0"/>
                </a:spcBef>
                <a:spcAft>
                  <a:spcPts val="0"/>
                </a:spcAft>
                <a:buNone/>
              </a:pPr>
              <a:endParaRPr sz="940" dirty="0">
                <a:solidFill>
                  <a:srgbClr val="010101"/>
                </a:solidFill>
                <a:latin typeface="Calibri"/>
                <a:ea typeface="Calibri"/>
                <a:cs typeface="Calibri"/>
                <a:sym typeface="Calibri"/>
              </a:endParaRPr>
            </a:p>
          </p:txBody>
        </p:sp>
        <p:sp>
          <p:nvSpPr>
            <p:cNvPr id="178" name="Google Shape;178;p27"/>
            <p:cNvSpPr/>
            <p:nvPr/>
          </p:nvSpPr>
          <p:spPr>
            <a:xfrm>
              <a:off x="2879221" y="1767147"/>
              <a:ext cx="3396000" cy="804600"/>
            </a:xfrm>
            <a:prstGeom prst="roundRect">
              <a:avLst>
                <a:gd name="adj" fmla="val 5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128100" tIns="83250" rIns="128100" bIns="83250" anchor="ctr" anchorCtr="0">
              <a:noAutofit/>
            </a:bodyPr>
            <a:lstStyle/>
            <a:p>
              <a:pPr marL="0" marR="0" lvl="0" indent="0" algn="l" rtl="0">
                <a:lnSpc>
                  <a:spcPct val="115000"/>
                </a:lnSpc>
                <a:spcBef>
                  <a:spcPts val="0"/>
                </a:spcBef>
                <a:spcAft>
                  <a:spcPts val="0"/>
                </a:spcAft>
                <a:buNone/>
              </a:pPr>
              <a:endParaRPr sz="900" dirty="0">
                <a:solidFill>
                  <a:srgbClr val="010101"/>
                </a:solidFill>
                <a:latin typeface="IBM Plex Sans"/>
                <a:ea typeface="IBM Plex Sans"/>
                <a:cs typeface="IBM Plex Sans"/>
                <a:sym typeface="IBM Plex Sans"/>
              </a:endParaRPr>
            </a:p>
          </p:txBody>
        </p:sp>
        <p:sp>
          <p:nvSpPr>
            <p:cNvPr id="179" name="Google Shape;179;p27"/>
            <p:cNvSpPr/>
            <p:nvPr/>
          </p:nvSpPr>
          <p:spPr>
            <a:xfrm>
              <a:off x="2861440" y="887238"/>
              <a:ext cx="3396000" cy="804600"/>
            </a:xfrm>
            <a:prstGeom prst="roundRect">
              <a:avLst>
                <a:gd name="adj" fmla="val 5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128100" tIns="83250" rIns="128100" bIns="83250" anchor="ctr" anchorCtr="0">
              <a:noAutofit/>
            </a:bodyPr>
            <a:lstStyle/>
            <a:p>
              <a:pPr marL="0" lvl="0" indent="0" algn="l" rtl="0">
                <a:lnSpc>
                  <a:spcPct val="115000"/>
                </a:lnSpc>
                <a:spcBef>
                  <a:spcPts val="0"/>
                </a:spcBef>
                <a:spcAft>
                  <a:spcPts val="0"/>
                </a:spcAft>
                <a:buNone/>
              </a:pPr>
              <a:endParaRPr sz="1200" b="1" dirty="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840" dirty="0">
                <a:solidFill>
                  <a:srgbClr val="010101"/>
                </a:solidFill>
                <a:latin typeface="IBM Plex Sans"/>
                <a:ea typeface="IBM Plex Sans"/>
                <a:cs typeface="IBM Plex Sans"/>
                <a:sym typeface="IBM Plex Sans"/>
              </a:endParaRPr>
            </a:p>
          </p:txBody>
        </p:sp>
      </p:grpSp>
      <p:grpSp>
        <p:nvGrpSpPr>
          <p:cNvPr id="180" name="Google Shape;180;p27"/>
          <p:cNvGrpSpPr/>
          <p:nvPr/>
        </p:nvGrpSpPr>
        <p:grpSpPr>
          <a:xfrm>
            <a:off x="5030476" y="1405096"/>
            <a:ext cx="3224889" cy="2823026"/>
            <a:chOff x="2861440" y="887238"/>
            <a:chExt cx="3413781" cy="3476598"/>
          </a:xfrm>
        </p:grpSpPr>
        <p:sp>
          <p:nvSpPr>
            <p:cNvPr id="181" name="Google Shape;181;p27"/>
            <p:cNvSpPr/>
            <p:nvPr/>
          </p:nvSpPr>
          <p:spPr>
            <a:xfrm>
              <a:off x="2879221" y="3559236"/>
              <a:ext cx="3396000" cy="804600"/>
            </a:xfrm>
            <a:prstGeom prst="roundRect">
              <a:avLst>
                <a:gd name="adj" fmla="val 5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128100" tIns="274300" rIns="182875" bIns="0" anchor="ctr" anchorCtr="0">
              <a:noAutofit/>
            </a:bodyPr>
            <a:lstStyle/>
            <a:p>
              <a:pPr marL="0" lvl="0" indent="0" algn="l" rtl="0">
                <a:lnSpc>
                  <a:spcPct val="115000"/>
                </a:lnSpc>
                <a:spcBef>
                  <a:spcPts val="0"/>
                </a:spcBef>
                <a:spcAft>
                  <a:spcPts val="0"/>
                </a:spcAft>
                <a:buNone/>
              </a:pPr>
              <a:endParaRPr sz="840" dirty="0">
                <a:solidFill>
                  <a:srgbClr val="010101"/>
                </a:solidFill>
                <a:latin typeface="IBM Plex Sans"/>
                <a:ea typeface="IBM Plex Sans"/>
                <a:cs typeface="IBM Plex Sans"/>
                <a:sym typeface="IBM Plex Sans"/>
              </a:endParaRPr>
            </a:p>
          </p:txBody>
        </p:sp>
        <p:sp>
          <p:nvSpPr>
            <p:cNvPr id="182" name="Google Shape;182;p27"/>
            <p:cNvSpPr/>
            <p:nvPr/>
          </p:nvSpPr>
          <p:spPr>
            <a:xfrm>
              <a:off x="2879221" y="2657812"/>
              <a:ext cx="3396000" cy="804600"/>
            </a:xfrm>
            <a:prstGeom prst="roundRect">
              <a:avLst>
                <a:gd name="adj" fmla="val 5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128100" tIns="83250" rIns="128100" bIns="83250" anchor="ctr" anchorCtr="0">
              <a:noAutofit/>
            </a:bodyPr>
            <a:lstStyle/>
            <a:p>
              <a:pPr marL="0" lvl="0" indent="0" algn="l" rtl="0">
                <a:lnSpc>
                  <a:spcPct val="115000"/>
                </a:lnSpc>
                <a:spcBef>
                  <a:spcPts val="0"/>
                </a:spcBef>
                <a:spcAft>
                  <a:spcPts val="0"/>
                </a:spcAft>
                <a:buNone/>
              </a:pPr>
              <a:endParaRPr sz="940" dirty="0">
                <a:solidFill>
                  <a:srgbClr val="010101"/>
                </a:solidFill>
                <a:latin typeface="Calibri"/>
                <a:ea typeface="Calibri"/>
                <a:cs typeface="Calibri"/>
                <a:sym typeface="Calibri"/>
              </a:endParaRPr>
            </a:p>
          </p:txBody>
        </p:sp>
        <p:sp>
          <p:nvSpPr>
            <p:cNvPr id="183" name="Google Shape;183;p27"/>
            <p:cNvSpPr/>
            <p:nvPr/>
          </p:nvSpPr>
          <p:spPr>
            <a:xfrm>
              <a:off x="2879221" y="1767797"/>
              <a:ext cx="3396000" cy="804600"/>
            </a:xfrm>
            <a:prstGeom prst="roundRect">
              <a:avLst>
                <a:gd name="adj" fmla="val 5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128100" tIns="182875" rIns="36575" bIns="0" anchor="ctr" anchorCtr="0">
              <a:noAutofit/>
            </a:bodyPr>
            <a:lstStyle/>
            <a:p>
              <a:pPr marL="0" marR="0" lvl="0" indent="0" algn="l" rtl="0">
                <a:lnSpc>
                  <a:spcPct val="115000"/>
                </a:lnSpc>
                <a:spcBef>
                  <a:spcPts val="0"/>
                </a:spcBef>
                <a:spcAft>
                  <a:spcPts val="0"/>
                </a:spcAft>
                <a:buNone/>
              </a:pPr>
              <a:endParaRPr sz="1200" b="1" dirty="0">
                <a:solidFill>
                  <a:schemeClr val="dk1"/>
                </a:solidFill>
                <a:latin typeface="Calibri"/>
                <a:ea typeface="Calibri"/>
                <a:cs typeface="Calibri"/>
                <a:sym typeface="Calibri"/>
              </a:endParaRPr>
            </a:p>
          </p:txBody>
        </p:sp>
        <p:sp>
          <p:nvSpPr>
            <p:cNvPr id="184" name="Google Shape;184;p27"/>
            <p:cNvSpPr/>
            <p:nvPr/>
          </p:nvSpPr>
          <p:spPr>
            <a:xfrm>
              <a:off x="2861440" y="887238"/>
              <a:ext cx="3396000" cy="789832"/>
            </a:xfrm>
            <a:prstGeom prst="roundRect">
              <a:avLst>
                <a:gd name="adj" fmla="val 5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128100" tIns="83250" rIns="128100" bIns="83250" anchor="ctr" anchorCtr="0">
              <a:noAutofit/>
            </a:bodyPr>
            <a:lstStyle/>
            <a:p>
              <a:pPr marL="0" lvl="0" indent="0" algn="l" rtl="0">
                <a:lnSpc>
                  <a:spcPct val="115000"/>
                </a:lnSpc>
                <a:spcBef>
                  <a:spcPts val="0"/>
                </a:spcBef>
                <a:spcAft>
                  <a:spcPts val="0"/>
                </a:spcAft>
                <a:buNone/>
              </a:pPr>
              <a:endParaRPr sz="1200" b="1" dirty="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b="1" dirty="0">
                <a:solidFill>
                  <a:srgbClr val="1F2937"/>
                </a:solidFill>
                <a:latin typeface="Calibri"/>
                <a:ea typeface="Calibri"/>
                <a:cs typeface="Calibri"/>
                <a:sym typeface="Calibri"/>
              </a:endParaRPr>
            </a:p>
            <a:p>
              <a:pPr marL="0" lvl="0" indent="0" algn="l" rtl="0">
                <a:lnSpc>
                  <a:spcPct val="115000"/>
                </a:lnSpc>
                <a:spcBef>
                  <a:spcPts val="400"/>
                </a:spcBef>
                <a:spcAft>
                  <a:spcPts val="0"/>
                </a:spcAft>
                <a:buClr>
                  <a:schemeClr val="dk1"/>
                </a:buClr>
                <a:buSzPts val="1100"/>
                <a:buFont typeface="Arial"/>
                <a:buNone/>
              </a:pPr>
              <a:endParaRPr sz="1200" b="1" dirty="0">
                <a:solidFill>
                  <a:srgbClr val="1F2937"/>
                </a:solidFill>
                <a:latin typeface="Calibri"/>
                <a:ea typeface="Calibri"/>
                <a:cs typeface="Calibri"/>
                <a:sym typeface="Calibri"/>
              </a:endParaRPr>
            </a:p>
            <a:p>
              <a:pPr marL="0" lvl="0" indent="0" algn="l" rtl="0">
                <a:lnSpc>
                  <a:spcPct val="115000"/>
                </a:lnSpc>
                <a:spcBef>
                  <a:spcPts val="0"/>
                </a:spcBef>
                <a:spcAft>
                  <a:spcPts val="0"/>
                </a:spcAft>
                <a:buNone/>
              </a:pPr>
              <a:endParaRPr sz="1200" b="1" dirty="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840" dirty="0">
                <a:solidFill>
                  <a:srgbClr val="010101"/>
                </a:solidFill>
                <a:latin typeface="IBM Plex Sans"/>
                <a:ea typeface="IBM Plex Sans"/>
                <a:cs typeface="IBM Plex Sans"/>
                <a:sym typeface="IBM Plex Sans"/>
              </a:endParaRPr>
            </a:p>
            <a:p>
              <a:pPr marL="0" lvl="0" indent="0" algn="l" rtl="0">
                <a:lnSpc>
                  <a:spcPct val="115000"/>
                </a:lnSpc>
                <a:spcBef>
                  <a:spcPts val="0"/>
                </a:spcBef>
                <a:spcAft>
                  <a:spcPts val="0"/>
                </a:spcAft>
                <a:buNone/>
              </a:pPr>
              <a:endParaRPr sz="840" dirty="0">
                <a:solidFill>
                  <a:srgbClr val="010101"/>
                </a:solidFill>
                <a:latin typeface="IBM Plex Sans"/>
                <a:ea typeface="IBM Plex Sans"/>
                <a:cs typeface="IBM Plex Sans"/>
                <a:sym typeface="IBM Plex Sans"/>
              </a:endParaRPr>
            </a:p>
            <a:p>
              <a:pPr marL="0" lvl="0" indent="0" algn="l" rtl="0">
                <a:lnSpc>
                  <a:spcPct val="115000"/>
                </a:lnSpc>
                <a:spcBef>
                  <a:spcPts val="0"/>
                </a:spcBef>
                <a:spcAft>
                  <a:spcPts val="0"/>
                </a:spcAft>
                <a:buNone/>
              </a:pPr>
              <a:endParaRPr sz="840" dirty="0">
                <a:solidFill>
                  <a:srgbClr val="010101"/>
                </a:solidFill>
                <a:latin typeface="IBM Plex Sans"/>
                <a:ea typeface="IBM Plex Sans"/>
                <a:cs typeface="IBM Plex Sans"/>
                <a:sym typeface="IBM Plex Sans"/>
              </a:endParaRPr>
            </a:p>
          </p:txBody>
        </p:sp>
      </p:grpSp>
      <p:pic>
        <p:nvPicPr>
          <p:cNvPr id="185" name="Google Shape;185;p27" descr="Romantic dinner dish line icon. Heart on plate with fork and spoon symbol, outline style pictogram on white background. Valentines day sign for mobile concept or web design. Vector graphics. (Provided by Getty Images)"/>
          <p:cNvPicPr preferRelativeResize="0"/>
          <p:nvPr/>
        </p:nvPicPr>
        <p:blipFill>
          <a:blip r:embed="rId4">
            <a:alphaModFix amt="70000"/>
            <a:biLevel thresh="50000"/>
          </a:blip>
          <a:stretch>
            <a:fillRect/>
          </a:stretch>
        </p:blipFill>
        <p:spPr>
          <a:xfrm>
            <a:off x="1032838" y="1572965"/>
            <a:ext cx="360023" cy="360023"/>
          </a:xfrm>
          <a:prstGeom prst="rect">
            <a:avLst/>
          </a:prstGeom>
          <a:noFill/>
          <a:ln>
            <a:noFill/>
          </a:ln>
        </p:spPr>
      </p:pic>
      <p:pic>
        <p:nvPicPr>
          <p:cNvPr id="186" name="Google Shape;186;p27" descr="Coin money line icon. Coin cash with dollar symbol outline style pictogram on white background. Finance and money signs for mobile concept and web design. Vector graphics. (Provided by Getty Images)"/>
          <p:cNvPicPr preferRelativeResize="0"/>
          <p:nvPr/>
        </p:nvPicPr>
        <p:blipFill>
          <a:blip r:embed="rId5">
            <a:alphaModFix amt="70000"/>
            <a:biLevel thresh="50000"/>
          </a:blip>
          <a:stretch>
            <a:fillRect/>
          </a:stretch>
        </p:blipFill>
        <p:spPr>
          <a:xfrm>
            <a:off x="1124111" y="2321758"/>
            <a:ext cx="314501" cy="314481"/>
          </a:xfrm>
          <a:prstGeom prst="rect">
            <a:avLst/>
          </a:prstGeom>
          <a:solidFill>
            <a:schemeClr val="lt1"/>
          </a:solidFill>
          <a:ln>
            <a:noFill/>
          </a:ln>
        </p:spPr>
      </p:pic>
      <p:pic>
        <p:nvPicPr>
          <p:cNvPr id="187" name="Google Shape;187;p27" descr="Heart/Love Icon (Provided by Getty Images)"/>
          <p:cNvPicPr preferRelativeResize="0"/>
          <p:nvPr/>
        </p:nvPicPr>
        <p:blipFill>
          <a:blip r:embed="rId6">
            <a:alphaModFix amt="70000"/>
            <a:biLevel thresh="50000"/>
          </a:blip>
          <a:stretch>
            <a:fillRect/>
          </a:stretch>
        </p:blipFill>
        <p:spPr>
          <a:xfrm>
            <a:off x="1148069" y="3794075"/>
            <a:ext cx="314501" cy="314522"/>
          </a:xfrm>
          <a:prstGeom prst="rect">
            <a:avLst/>
          </a:prstGeom>
          <a:solidFill>
            <a:schemeClr val="lt1"/>
          </a:solidFill>
          <a:ln>
            <a:noFill/>
          </a:ln>
        </p:spPr>
      </p:pic>
      <p:pic>
        <p:nvPicPr>
          <p:cNvPr id="188" name="Google Shape;188;p27" descr="round-the-clock work icon vector. Isolated contour symbol illustration (Provided by Getty Images)"/>
          <p:cNvPicPr preferRelativeResize="0"/>
          <p:nvPr/>
        </p:nvPicPr>
        <p:blipFill>
          <a:blip r:embed="rId7">
            <a:alphaModFix amt="70000"/>
            <a:biLevel thresh="50000"/>
          </a:blip>
          <a:stretch>
            <a:fillRect/>
          </a:stretch>
        </p:blipFill>
        <p:spPr>
          <a:xfrm>
            <a:off x="1091794" y="2991449"/>
            <a:ext cx="430551" cy="430572"/>
          </a:xfrm>
          <a:prstGeom prst="rect">
            <a:avLst/>
          </a:prstGeom>
          <a:solidFill>
            <a:schemeClr val="lt1"/>
          </a:solidFill>
          <a:ln>
            <a:noFill/>
          </a:ln>
        </p:spPr>
      </p:pic>
      <p:pic>
        <p:nvPicPr>
          <p:cNvPr id="189" name="Google Shape;189;p27" descr="advice friend icon vector. Isolated contour symbol illustration (Provided by Getty Images)"/>
          <p:cNvPicPr preferRelativeResize="0"/>
          <p:nvPr/>
        </p:nvPicPr>
        <p:blipFill>
          <a:blip r:embed="rId8">
            <a:alphaModFix/>
          </a:blip>
          <a:stretch>
            <a:fillRect/>
          </a:stretch>
        </p:blipFill>
        <p:spPr>
          <a:xfrm>
            <a:off x="5176728" y="1495254"/>
            <a:ext cx="430551" cy="430551"/>
          </a:xfrm>
          <a:prstGeom prst="rect">
            <a:avLst/>
          </a:prstGeom>
          <a:solidFill>
            <a:schemeClr val="lt1"/>
          </a:solidFill>
          <a:ln>
            <a:noFill/>
          </a:ln>
        </p:spPr>
      </p:pic>
      <p:pic>
        <p:nvPicPr>
          <p:cNvPr id="190" name="Google Shape;190;p27" descr="quadrangular star shine effect icon vector outline illustration (Provided by Getty Images)"/>
          <p:cNvPicPr preferRelativeResize="0"/>
          <p:nvPr/>
        </p:nvPicPr>
        <p:blipFill>
          <a:blip r:embed="rId9">
            <a:alphaModFix/>
          </a:blip>
          <a:stretch>
            <a:fillRect/>
          </a:stretch>
        </p:blipFill>
        <p:spPr>
          <a:xfrm>
            <a:off x="5204689" y="2195425"/>
            <a:ext cx="468424" cy="468424"/>
          </a:xfrm>
          <a:prstGeom prst="rect">
            <a:avLst/>
          </a:prstGeom>
          <a:solidFill>
            <a:schemeClr val="lt1"/>
          </a:solidFill>
          <a:ln>
            <a:noFill/>
          </a:ln>
        </p:spPr>
      </p:pic>
      <p:pic>
        <p:nvPicPr>
          <p:cNvPr id="191" name="Google Shape;191;p27" descr="Location place of the vector icon. Isolated contour symbol illustration (Provided by Getty Images)"/>
          <p:cNvPicPr preferRelativeResize="0"/>
          <p:nvPr/>
        </p:nvPicPr>
        <p:blipFill>
          <a:blip r:embed="rId10">
            <a:alphaModFix/>
          </a:blip>
          <a:stretch>
            <a:fillRect/>
          </a:stretch>
        </p:blipFill>
        <p:spPr>
          <a:xfrm>
            <a:off x="5185830" y="2916309"/>
            <a:ext cx="468424" cy="468424"/>
          </a:xfrm>
          <a:prstGeom prst="rect">
            <a:avLst/>
          </a:prstGeom>
          <a:solidFill>
            <a:schemeClr val="lt1"/>
          </a:solidFill>
          <a:ln>
            <a:noFill/>
          </a:ln>
        </p:spPr>
      </p:pic>
      <p:pic>
        <p:nvPicPr>
          <p:cNvPr id="192" name="Google Shape;192;p27" descr="growth (Provided by Getty Images)"/>
          <p:cNvPicPr preferRelativeResize="0"/>
          <p:nvPr/>
        </p:nvPicPr>
        <p:blipFill>
          <a:blip r:embed="rId11">
            <a:alphaModFix/>
          </a:blip>
          <a:stretch>
            <a:fillRect/>
          </a:stretch>
        </p:blipFill>
        <p:spPr>
          <a:xfrm>
            <a:off x="5231624" y="3696737"/>
            <a:ext cx="375655" cy="362659"/>
          </a:xfrm>
          <a:prstGeom prst="rect">
            <a:avLst/>
          </a:prstGeom>
          <a:solidFill>
            <a:schemeClr val="lt1"/>
          </a:solidFill>
          <a:ln>
            <a:noFill/>
          </a:ln>
        </p:spPr>
      </p:pic>
      <p:pic>
        <p:nvPicPr>
          <p:cNvPr id="2" name="Google Shape;148;p26" descr="A black and orange logo&#10;&#10;AI-generated content may be incorrect.">
            <a:extLst>
              <a:ext uri="{FF2B5EF4-FFF2-40B4-BE49-F238E27FC236}">
                <a16:creationId xmlns:a16="http://schemas.microsoft.com/office/drawing/2014/main" id="{18998536-67D3-8F5D-9BD8-E96EB111F8F1}"/>
              </a:ext>
            </a:extLst>
          </p:cNvPr>
          <p:cNvPicPr preferRelativeResize="0"/>
          <p:nvPr/>
        </p:nvPicPr>
        <p:blipFill rotWithShape="1">
          <a:blip r:embed="rId12">
            <a:alphaModFix/>
          </a:blip>
          <a:srcRect l="5357" r="10411"/>
          <a:stretch/>
        </p:blipFill>
        <p:spPr>
          <a:xfrm>
            <a:off x="7905729" y="199474"/>
            <a:ext cx="862617" cy="497320"/>
          </a:xfrm>
          <a:prstGeom prst="rect">
            <a:avLst/>
          </a:prstGeom>
          <a:noFill/>
          <a:ln>
            <a:noFill/>
          </a:ln>
        </p:spPr>
      </p:pic>
      <p:sp>
        <p:nvSpPr>
          <p:cNvPr id="3" name="TextBox 2">
            <a:extLst>
              <a:ext uri="{FF2B5EF4-FFF2-40B4-BE49-F238E27FC236}">
                <a16:creationId xmlns:a16="http://schemas.microsoft.com/office/drawing/2014/main" id="{D0AE6552-54D7-24EA-C2B3-3AD6CA690AC2}"/>
              </a:ext>
            </a:extLst>
          </p:cNvPr>
          <p:cNvSpPr txBox="1"/>
          <p:nvPr/>
        </p:nvSpPr>
        <p:spPr>
          <a:xfrm>
            <a:off x="1462569" y="1478789"/>
            <a:ext cx="2745701" cy="587340"/>
          </a:xfrm>
          <a:prstGeom prst="rect">
            <a:avLst/>
          </a:prstGeom>
          <a:noFill/>
        </p:spPr>
        <p:txBody>
          <a:bodyPr wrap="square" rtlCol="0">
            <a:spAutoFit/>
          </a:bodyPr>
          <a:lstStyle/>
          <a:p>
            <a:pPr lvl="0">
              <a:lnSpc>
                <a:spcPct val="115000"/>
              </a:lnSpc>
            </a:pPr>
            <a:r>
              <a:rPr lang="en-US" sz="1050" b="1" dirty="0">
                <a:solidFill>
                  <a:schemeClr val="dk1"/>
                </a:solidFill>
                <a:latin typeface="Calibri"/>
                <a:ea typeface="Calibri"/>
                <a:cs typeface="Calibri"/>
                <a:sym typeface="Calibri"/>
              </a:rPr>
              <a:t>Healthy &amp; Fresh Mediterranean Food</a:t>
            </a:r>
          </a:p>
          <a:p>
            <a:pPr lvl="0">
              <a:lnSpc>
                <a:spcPct val="115000"/>
              </a:lnSpc>
            </a:pPr>
            <a:r>
              <a:rPr lang="en-US" sz="900" dirty="0">
                <a:solidFill>
                  <a:schemeClr val="dk1"/>
                </a:solidFill>
                <a:latin typeface="Calibri"/>
                <a:ea typeface="Calibri"/>
                <a:cs typeface="Calibri"/>
                <a:sym typeface="Calibri"/>
              </a:rPr>
              <a:t>Fresh ingredients and healthy preparation to health‑conscious customers</a:t>
            </a:r>
            <a:endParaRPr lang="en-US" sz="900" b="1" dirty="0">
              <a:solidFill>
                <a:schemeClr val="dk1"/>
              </a:solidFill>
              <a:latin typeface="Calibri"/>
              <a:ea typeface="Calibri"/>
              <a:cs typeface="Calibri"/>
              <a:sym typeface="Calibri"/>
            </a:endParaRPr>
          </a:p>
        </p:txBody>
      </p:sp>
      <p:sp>
        <p:nvSpPr>
          <p:cNvPr id="4" name="TextBox 3">
            <a:extLst>
              <a:ext uri="{FF2B5EF4-FFF2-40B4-BE49-F238E27FC236}">
                <a16:creationId xmlns:a16="http://schemas.microsoft.com/office/drawing/2014/main" id="{9452AE0B-5DD6-0953-8A91-BC2AE441EC4F}"/>
              </a:ext>
            </a:extLst>
          </p:cNvPr>
          <p:cNvSpPr txBox="1"/>
          <p:nvPr/>
        </p:nvSpPr>
        <p:spPr>
          <a:xfrm>
            <a:off x="1466865" y="2229587"/>
            <a:ext cx="2811560" cy="454355"/>
          </a:xfrm>
          <a:prstGeom prst="rect">
            <a:avLst/>
          </a:prstGeom>
          <a:noFill/>
        </p:spPr>
        <p:txBody>
          <a:bodyPr wrap="square" rtlCol="0">
            <a:spAutoFit/>
          </a:bodyPr>
          <a:lstStyle/>
          <a:p>
            <a:pPr lvl="0">
              <a:lnSpc>
                <a:spcPct val="115000"/>
              </a:lnSpc>
            </a:pPr>
            <a:r>
              <a:rPr lang="en-US" sz="1200" b="1" dirty="0">
                <a:solidFill>
                  <a:schemeClr val="dk1"/>
                </a:solidFill>
                <a:latin typeface="Calibri"/>
                <a:ea typeface="Calibri"/>
                <a:cs typeface="Calibri"/>
                <a:sym typeface="Calibri"/>
              </a:rPr>
              <a:t>Good Value for Money</a:t>
            </a:r>
          </a:p>
          <a:p>
            <a:pPr lvl="0">
              <a:lnSpc>
                <a:spcPct val="115000"/>
              </a:lnSpc>
            </a:pPr>
            <a:r>
              <a:rPr lang="en-US" sz="900" dirty="0">
                <a:solidFill>
                  <a:schemeClr val="dk1"/>
                </a:solidFill>
                <a:latin typeface="Calibri"/>
                <a:ea typeface="Calibri"/>
                <a:cs typeface="Calibri"/>
                <a:sym typeface="Calibri"/>
              </a:rPr>
              <a:t>Affordable pricing for high‑quality, filling meals</a:t>
            </a:r>
            <a:endParaRPr lang="en-US" sz="900" dirty="0">
              <a:solidFill>
                <a:srgbClr val="010101"/>
              </a:solidFill>
              <a:latin typeface="IBM Plex Sans"/>
              <a:ea typeface="IBM Plex Sans"/>
              <a:cs typeface="IBM Plex Sans"/>
              <a:sym typeface="IBM Plex Sans"/>
            </a:endParaRPr>
          </a:p>
        </p:txBody>
      </p:sp>
      <p:sp>
        <p:nvSpPr>
          <p:cNvPr id="5" name="TextBox 4">
            <a:extLst>
              <a:ext uri="{FF2B5EF4-FFF2-40B4-BE49-F238E27FC236}">
                <a16:creationId xmlns:a16="http://schemas.microsoft.com/office/drawing/2014/main" id="{2B161193-7E3A-225A-1BD0-A79E89CE255C}"/>
              </a:ext>
            </a:extLst>
          </p:cNvPr>
          <p:cNvSpPr txBox="1"/>
          <p:nvPr/>
        </p:nvSpPr>
        <p:spPr>
          <a:xfrm>
            <a:off x="1466864" y="2913948"/>
            <a:ext cx="2839813" cy="793166"/>
          </a:xfrm>
          <a:prstGeom prst="rect">
            <a:avLst/>
          </a:prstGeom>
          <a:noFill/>
        </p:spPr>
        <p:txBody>
          <a:bodyPr wrap="square" rtlCol="0">
            <a:spAutoFit/>
          </a:bodyPr>
          <a:lstStyle/>
          <a:p>
            <a:pPr lvl="0">
              <a:lnSpc>
                <a:spcPct val="115000"/>
              </a:lnSpc>
            </a:pPr>
            <a:r>
              <a:rPr lang="en-US" sz="1200" b="1" dirty="0">
                <a:solidFill>
                  <a:schemeClr val="dk1"/>
                </a:solidFill>
                <a:latin typeface="Calibri"/>
                <a:ea typeface="Calibri"/>
                <a:cs typeface="Calibri"/>
                <a:sym typeface="Calibri"/>
              </a:rPr>
              <a:t>Fast &amp; Convenient</a:t>
            </a:r>
          </a:p>
          <a:p>
            <a:pPr lvl="0">
              <a:lnSpc>
                <a:spcPct val="115000"/>
              </a:lnSpc>
            </a:pPr>
            <a:r>
              <a:rPr lang="en-US" sz="900" dirty="0">
                <a:solidFill>
                  <a:schemeClr val="dk1"/>
                </a:solidFill>
                <a:latin typeface="Calibri"/>
                <a:ea typeface="Calibri"/>
                <a:cs typeface="Calibri"/>
                <a:sym typeface="Calibri"/>
              </a:rPr>
              <a:t>Quick, reliable service for busy professionals and on‑the‑go diners</a:t>
            </a:r>
            <a:endParaRPr lang="en-US" sz="900" dirty="0">
              <a:solidFill>
                <a:srgbClr val="010101"/>
              </a:solidFill>
              <a:latin typeface="Calibri"/>
              <a:ea typeface="Calibri"/>
              <a:cs typeface="Calibri"/>
              <a:sym typeface="Calibri"/>
            </a:endParaRPr>
          </a:p>
          <a:p>
            <a:pPr lvl="0">
              <a:lnSpc>
                <a:spcPct val="115000"/>
              </a:lnSpc>
            </a:pPr>
            <a:endParaRPr lang="en-US" sz="900" dirty="0">
              <a:solidFill>
                <a:srgbClr val="010101"/>
              </a:solidFill>
              <a:latin typeface="IBM Plex Sans"/>
              <a:ea typeface="IBM Plex Sans"/>
              <a:cs typeface="IBM Plex Sans"/>
              <a:sym typeface="IBM Plex Sans"/>
            </a:endParaRPr>
          </a:p>
        </p:txBody>
      </p:sp>
      <p:sp>
        <p:nvSpPr>
          <p:cNvPr id="6" name="TextBox 5">
            <a:extLst>
              <a:ext uri="{FF2B5EF4-FFF2-40B4-BE49-F238E27FC236}">
                <a16:creationId xmlns:a16="http://schemas.microsoft.com/office/drawing/2014/main" id="{FE324147-11B3-2CC0-5465-282143914F06}"/>
              </a:ext>
            </a:extLst>
          </p:cNvPr>
          <p:cNvSpPr txBox="1"/>
          <p:nvPr/>
        </p:nvSpPr>
        <p:spPr>
          <a:xfrm>
            <a:off x="1452738" y="3655645"/>
            <a:ext cx="2839813" cy="587340"/>
          </a:xfrm>
          <a:prstGeom prst="rect">
            <a:avLst/>
          </a:prstGeom>
          <a:noFill/>
        </p:spPr>
        <p:txBody>
          <a:bodyPr wrap="square" rtlCol="0">
            <a:spAutoFit/>
          </a:bodyPr>
          <a:lstStyle/>
          <a:p>
            <a:pPr>
              <a:lnSpc>
                <a:spcPct val="115000"/>
              </a:lnSpc>
            </a:pPr>
            <a:r>
              <a:rPr lang="en-US" sz="1050" b="1" dirty="0">
                <a:latin typeface="Calibri"/>
                <a:ea typeface="Calibri"/>
                <a:cs typeface="Calibri"/>
                <a:sym typeface="Calibri"/>
              </a:rPr>
              <a:t>Great Taste &amp; Satisfaction</a:t>
            </a:r>
          </a:p>
          <a:p>
            <a:pPr>
              <a:lnSpc>
                <a:spcPct val="115000"/>
              </a:lnSpc>
            </a:pPr>
            <a:r>
              <a:rPr lang="en-US" sz="900" dirty="0">
                <a:latin typeface="Calibri"/>
                <a:ea typeface="Calibri"/>
                <a:cs typeface="Calibri"/>
                <a:sym typeface="Calibri"/>
              </a:rPr>
              <a:t>Flavor-forward meals delivering on Sticks’ promise of good food</a:t>
            </a:r>
          </a:p>
        </p:txBody>
      </p:sp>
      <p:sp>
        <p:nvSpPr>
          <p:cNvPr id="7" name="TextBox 6">
            <a:extLst>
              <a:ext uri="{FF2B5EF4-FFF2-40B4-BE49-F238E27FC236}">
                <a16:creationId xmlns:a16="http://schemas.microsoft.com/office/drawing/2014/main" id="{7640824D-F885-6B66-B376-15C2EB6BEB12}"/>
              </a:ext>
            </a:extLst>
          </p:cNvPr>
          <p:cNvSpPr txBox="1"/>
          <p:nvPr/>
        </p:nvSpPr>
        <p:spPr>
          <a:xfrm>
            <a:off x="5564832" y="1471193"/>
            <a:ext cx="2811560" cy="454612"/>
          </a:xfrm>
          <a:prstGeom prst="rect">
            <a:avLst/>
          </a:prstGeom>
          <a:noFill/>
        </p:spPr>
        <p:txBody>
          <a:bodyPr wrap="square" rtlCol="0">
            <a:spAutoFit/>
          </a:bodyPr>
          <a:lstStyle/>
          <a:p>
            <a:pPr>
              <a:lnSpc>
                <a:spcPct val="115000"/>
              </a:lnSpc>
              <a:buSzPts val="1100"/>
            </a:pPr>
            <a:r>
              <a:rPr lang="en-US" sz="1200" b="1" dirty="0">
                <a:latin typeface="Calibri"/>
                <a:ea typeface="Calibri"/>
                <a:cs typeface="Calibri"/>
                <a:sym typeface="Calibri"/>
              </a:rPr>
              <a:t>Welcoming Ambiance &amp; Friendly Staff</a:t>
            </a:r>
          </a:p>
          <a:p>
            <a:pPr>
              <a:lnSpc>
                <a:spcPct val="115000"/>
              </a:lnSpc>
              <a:buSzPts val="1100"/>
            </a:pPr>
            <a:r>
              <a:rPr lang="en-US" sz="900" dirty="0">
                <a:latin typeface="Calibri"/>
                <a:ea typeface="Calibri"/>
                <a:cs typeface="Calibri"/>
                <a:sym typeface="Calibri"/>
              </a:rPr>
              <a:t>Warm, casual environment with friendly service</a:t>
            </a:r>
          </a:p>
        </p:txBody>
      </p:sp>
      <p:sp>
        <p:nvSpPr>
          <p:cNvPr id="8" name="TextBox 7">
            <a:extLst>
              <a:ext uri="{FF2B5EF4-FFF2-40B4-BE49-F238E27FC236}">
                <a16:creationId xmlns:a16="http://schemas.microsoft.com/office/drawing/2014/main" id="{4CF67842-1173-AD82-1F21-120D88468EC1}"/>
              </a:ext>
            </a:extLst>
          </p:cNvPr>
          <p:cNvSpPr txBox="1"/>
          <p:nvPr/>
        </p:nvSpPr>
        <p:spPr>
          <a:xfrm>
            <a:off x="5584193" y="2130459"/>
            <a:ext cx="2811560" cy="613886"/>
          </a:xfrm>
          <a:prstGeom prst="rect">
            <a:avLst/>
          </a:prstGeom>
          <a:noFill/>
        </p:spPr>
        <p:txBody>
          <a:bodyPr wrap="square" rtlCol="0">
            <a:spAutoFit/>
          </a:bodyPr>
          <a:lstStyle/>
          <a:p>
            <a:pPr lvl="0">
              <a:lnSpc>
                <a:spcPct val="115000"/>
              </a:lnSpc>
              <a:buSzPts val="1100"/>
            </a:pPr>
            <a:r>
              <a:rPr lang="en-US" sz="1200" b="1" dirty="0">
                <a:latin typeface="Calibri"/>
                <a:ea typeface="Calibri"/>
                <a:cs typeface="Calibri"/>
                <a:sym typeface="Calibri"/>
              </a:rPr>
              <a:t>Lifestyles</a:t>
            </a:r>
          </a:p>
          <a:p>
            <a:pPr lvl="0">
              <a:lnSpc>
                <a:spcPct val="115000"/>
              </a:lnSpc>
              <a:buSzPts val="1100"/>
            </a:pPr>
            <a:r>
              <a:rPr lang="en-US" sz="900" dirty="0">
                <a:latin typeface="Calibri"/>
                <a:ea typeface="Calibri"/>
                <a:cs typeface="Calibri"/>
                <a:sym typeface="Calibri"/>
              </a:rPr>
              <a:t>Ideal for active families, soccer players, and young professionals</a:t>
            </a:r>
          </a:p>
        </p:txBody>
      </p:sp>
      <p:sp>
        <p:nvSpPr>
          <p:cNvPr id="9" name="TextBox 8">
            <a:extLst>
              <a:ext uri="{FF2B5EF4-FFF2-40B4-BE49-F238E27FC236}">
                <a16:creationId xmlns:a16="http://schemas.microsoft.com/office/drawing/2014/main" id="{0CE4D8F9-B577-495C-5AD2-60B14CD236FC}"/>
              </a:ext>
            </a:extLst>
          </p:cNvPr>
          <p:cNvSpPr txBox="1"/>
          <p:nvPr/>
        </p:nvSpPr>
        <p:spPr>
          <a:xfrm>
            <a:off x="5564832" y="2891530"/>
            <a:ext cx="2811560" cy="454612"/>
          </a:xfrm>
          <a:prstGeom prst="rect">
            <a:avLst/>
          </a:prstGeom>
          <a:noFill/>
        </p:spPr>
        <p:txBody>
          <a:bodyPr wrap="square" rtlCol="0">
            <a:spAutoFit/>
          </a:bodyPr>
          <a:lstStyle/>
          <a:p>
            <a:pPr lvl="0">
              <a:lnSpc>
                <a:spcPct val="115000"/>
              </a:lnSpc>
            </a:pPr>
            <a:r>
              <a:rPr lang="en-US" sz="1200" b="1" dirty="0">
                <a:latin typeface="Calibri"/>
                <a:ea typeface="Calibri"/>
                <a:cs typeface="Calibri"/>
                <a:sym typeface="Calibri"/>
              </a:rPr>
              <a:t>Part of Community </a:t>
            </a:r>
          </a:p>
          <a:p>
            <a:pPr lvl="0">
              <a:lnSpc>
                <a:spcPct val="115000"/>
              </a:lnSpc>
            </a:pPr>
            <a:r>
              <a:rPr lang="en-US" sz="900" dirty="0">
                <a:solidFill>
                  <a:schemeClr val="dk1"/>
                </a:solidFill>
                <a:latin typeface="Calibri"/>
                <a:ea typeface="Calibri"/>
                <a:cs typeface="Calibri"/>
                <a:sym typeface="Calibri"/>
              </a:rPr>
              <a:t>Local need to share dining experiences</a:t>
            </a:r>
            <a:endParaRPr lang="en-US" sz="900" dirty="0">
              <a:solidFill>
                <a:srgbClr val="010101"/>
              </a:solidFill>
              <a:latin typeface="Calibri"/>
              <a:ea typeface="Calibri"/>
              <a:cs typeface="Calibri"/>
              <a:sym typeface="Calibri"/>
            </a:endParaRPr>
          </a:p>
        </p:txBody>
      </p:sp>
      <p:sp>
        <p:nvSpPr>
          <p:cNvPr id="10" name="TextBox 9">
            <a:extLst>
              <a:ext uri="{FF2B5EF4-FFF2-40B4-BE49-F238E27FC236}">
                <a16:creationId xmlns:a16="http://schemas.microsoft.com/office/drawing/2014/main" id="{6B6A25F9-F7D6-71C8-7898-15C5628F829F}"/>
              </a:ext>
            </a:extLst>
          </p:cNvPr>
          <p:cNvSpPr txBox="1"/>
          <p:nvPr/>
        </p:nvSpPr>
        <p:spPr>
          <a:xfrm>
            <a:off x="5564832" y="3588835"/>
            <a:ext cx="2811560" cy="613886"/>
          </a:xfrm>
          <a:prstGeom prst="rect">
            <a:avLst/>
          </a:prstGeom>
          <a:noFill/>
        </p:spPr>
        <p:txBody>
          <a:bodyPr wrap="square" rtlCol="0">
            <a:spAutoFit/>
          </a:bodyPr>
          <a:lstStyle/>
          <a:p>
            <a:pPr>
              <a:lnSpc>
                <a:spcPct val="115000"/>
              </a:lnSpc>
              <a:buSzPts val="1100"/>
            </a:pPr>
            <a:r>
              <a:rPr lang="en-US" sz="1200" b="1" dirty="0">
                <a:latin typeface="Calibri"/>
                <a:ea typeface="Calibri"/>
                <a:cs typeface="Calibri"/>
                <a:sym typeface="Calibri"/>
              </a:rPr>
              <a:t>Everyday Reliability</a:t>
            </a:r>
          </a:p>
          <a:p>
            <a:pPr>
              <a:lnSpc>
                <a:spcPct val="115000"/>
              </a:lnSpc>
              <a:buSzPts val="1100"/>
            </a:pPr>
            <a:r>
              <a:rPr lang="en-US" sz="900" dirty="0">
                <a:latin typeface="Calibri"/>
                <a:ea typeface="Calibri"/>
                <a:cs typeface="Calibri"/>
                <a:sym typeface="Calibri"/>
              </a:rPr>
              <a:t>Consistent taste, quality, and speed for your weekly lunch routine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7"/>
        <p:cNvGrpSpPr/>
        <p:nvPr/>
      </p:nvGrpSpPr>
      <p:grpSpPr>
        <a:xfrm>
          <a:off x="0" y="0"/>
          <a:ext cx="0" cy="0"/>
          <a:chOff x="0" y="0"/>
          <a:chExt cx="0" cy="0"/>
        </a:xfrm>
      </p:grpSpPr>
      <p:sp>
        <p:nvSpPr>
          <p:cNvPr id="198" name="Google Shape;198;p28"/>
          <p:cNvSpPr/>
          <p:nvPr/>
        </p:nvSpPr>
        <p:spPr>
          <a:xfrm>
            <a:off x="0" y="0"/>
            <a:ext cx="9143999" cy="514302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199" name="Google Shape;199;p28"/>
          <p:cNvGrpSpPr/>
          <p:nvPr/>
        </p:nvGrpSpPr>
        <p:grpSpPr>
          <a:xfrm>
            <a:off x="55725" y="1788826"/>
            <a:ext cx="430568" cy="1565847"/>
            <a:chOff x="209668" y="2857422"/>
            <a:chExt cx="463662" cy="2087796"/>
          </a:xfrm>
        </p:grpSpPr>
        <p:sp>
          <p:nvSpPr>
            <p:cNvPr id="200" name="Google Shape;200;p28"/>
            <p:cNvSpPr/>
            <p:nvPr/>
          </p:nvSpPr>
          <p:spPr>
            <a:xfrm rot="10800000">
              <a:off x="423947" y="2857422"/>
              <a:ext cx="249383" cy="2087795"/>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201" name="Google Shape;201;p28"/>
            <p:cNvCxnSpPr/>
            <p:nvPr/>
          </p:nvCxnSpPr>
          <p:spPr>
            <a:xfrm flipH="1">
              <a:off x="209668" y="2857423"/>
              <a:ext cx="1" cy="2087795"/>
            </a:xfrm>
            <a:prstGeom prst="straightConnector1">
              <a:avLst/>
            </a:prstGeom>
            <a:noFill/>
            <a:ln w="177800" cap="flat" cmpd="sng">
              <a:solidFill>
                <a:schemeClr val="accent4"/>
              </a:solidFill>
              <a:prstDash val="solid"/>
              <a:round/>
              <a:headEnd type="none" w="sm" len="sm"/>
              <a:tailEnd type="none" w="sm" len="sm"/>
            </a:ln>
          </p:spPr>
        </p:cxnSp>
      </p:grpSp>
      <p:sp>
        <p:nvSpPr>
          <p:cNvPr id="202" name="Google Shape;202;p28"/>
          <p:cNvSpPr/>
          <p:nvPr/>
        </p:nvSpPr>
        <p:spPr>
          <a:xfrm flipH="1">
            <a:off x="8023252" y="0"/>
            <a:ext cx="1120748"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03" name="Google Shape;203;p28"/>
          <p:cNvSpPr/>
          <p:nvPr/>
        </p:nvSpPr>
        <p:spPr>
          <a:xfrm>
            <a:off x="434646" y="473825"/>
            <a:ext cx="8333700" cy="4314300"/>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04" name="Google Shape;204;p28"/>
          <p:cNvSpPr txBox="1">
            <a:spLocks noGrp="1"/>
          </p:cNvSpPr>
          <p:nvPr>
            <p:ph type="title"/>
          </p:nvPr>
        </p:nvSpPr>
        <p:spPr>
          <a:xfrm>
            <a:off x="828158" y="423450"/>
            <a:ext cx="5442600" cy="589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6"/>
              </a:buClr>
              <a:buSzPts val="2400"/>
              <a:buFont typeface="Calibri"/>
              <a:buNone/>
            </a:pPr>
            <a:r>
              <a:rPr lang="en" sz="2400" b="1" dirty="0">
                <a:solidFill>
                  <a:schemeClr val="accent6"/>
                </a:solidFill>
              </a:rPr>
              <a:t>Segmentation Bases for Cluster Analysis</a:t>
            </a:r>
            <a:endParaRPr sz="1400" b="1" dirty="0">
              <a:solidFill>
                <a:schemeClr val="accent6"/>
              </a:solidFill>
              <a:latin typeface="Calibri"/>
              <a:ea typeface="Calibri"/>
              <a:cs typeface="Calibri"/>
              <a:sym typeface="Calibri"/>
            </a:endParaRPr>
          </a:p>
        </p:txBody>
      </p:sp>
      <p:pic>
        <p:nvPicPr>
          <p:cNvPr id="206" name="Google Shape;206;p28" descr="A black and orange logo&#10;&#10;AI-generated content may be incorrect."/>
          <p:cNvPicPr preferRelativeResize="0"/>
          <p:nvPr/>
        </p:nvPicPr>
        <p:blipFill rotWithShape="1">
          <a:blip r:embed="rId3">
            <a:alphaModFix/>
          </a:blip>
          <a:srcRect l="5359" r="10406" b="-1"/>
          <a:stretch/>
        </p:blipFill>
        <p:spPr>
          <a:xfrm>
            <a:off x="7905729" y="225165"/>
            <a:ext cx="862617" cy="497320"/>
          </a:xfrm>
          <a:prstGeom prst="rect">
            <a:avLst/>
          </a:prstGeom>
          <a:noFill/>
          <a:ln>
            <a:noFill/>
          </a:ln>
        </p:spPr>
      </p:pic>
      <p:sp>
        <p:nvSpPr>
          <p:cNvPr id="207" name="Google Shape;207;p28"/>
          <p:cNvSpPr txBox="1"/>
          <p:nvPr/>
        </p:nvSpPr>
        <p:spPr>
          <a:xfrm>
            <a:off x="730550" y="962822"/>
            <a:ext cx="3541413" cy="29090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D96B3D"/>
              </a:buClr>
              <a:buSzPts val="600"/>
              <a:buFont typeface="Calibri"/>
              <a:buNone/>
            </a:pPr>
            <a:endParaRPr sz="600" b="1" i="0" u="none" strike="noStrike" cap="none">
              <a:solidFill>
                <a:srgbClr val="C17529"/>
              </a:solidFill>
              <a:latin typeface="Calibri"/>
              <a:ea typeface="Calibri"/>
              <a:cs typeface="Calibri"/>
              <a:sym typeface="Calibri"/>
            </a:endParaRPr>
          </a:p>
        </p:txBody>
      </p:sp>
      <p:graphicFrame>
        <p:nvGraphicFramePr>
          <p:cNvPr id="208" name="Google Shape;208;p28"/>
          <p:cNvGraphicFramePr/>
          <p:nvPr>
            <p:extLst>
              <p:ext uri="{D42A27DB-BD31-4B8C-83A1-F6EECF244321}">
                <p14:modId xmlns:p14="http://schemas.microsoft.com/office/powerpoint/2010/main" val="1510021868"/>
              </p:ext>
            </p:extLst>
          </p:nvPr>
        </p:nvGraphicFramePr>
        <p:xfrm>
          <a:off x="848728" y="1083000"/>
          <a:ext cx="7446550" cy="3478420"/>
        </p:xfrm>
        <a:graphic>
          <a:graphicData uri="http://schemas.openxmlformats.org/drawingml/2006/table">
            <a:tbl>
              <a:tblPr firstRow="1" bandRow="1">
                <a:noFill/>
                <a:tableStyleId>{03AB72E0-30B8-4DCC-98CD-6EA8F19E001B}</a:tableStyleId>
              </a:tblPr>
              <a:tblGrid>
                <a:gridCol w="3748200">
                  <a:extLst>
                    <a:ext uri="{9D8B030D-6E8A-4147-A177-3AD203B41FA5}">
                      <a16:colId xmlns:a16="http://schemas.microsoft.com/office/drawing/2014/main" val="20000"/>
                    </a:ext>
                  </a:extLst>
                </a:gridCol>
                <a:gridCol w="3698350">
                  <a:extLst>
                    <a:ext uri="{9D8B030D-6E8A-4147-A177-3AD203B41FA5}">
                      <a16:colId xmlns:a16="http://schemas.microsoft.com/office/drawing/2014/main" val="20001"/>
                    </a:ext>
                  </a:extLst>
                </a:gridCol>
              </a:tblGrid>
              <a:tr h="201725">
                <a:tc>
                  <a:txBody>
                    <a:bodyPr/>
                    <a:lstStyle/>
                    <a:p>
                      <a:pPr marL="0" marR="0" lvl="0" indent="0" algn="l" rtl="0">
                        <a:spcBef>
                          <a:spcPts val="0"/>
                        </a:spcBef>
                        <a:spcAft>
                          <a:spcPts val="0"/>
                        </a:spcAft>
                        <a:buNone/>
                      </a:pPr>
                      <a:r>
                        <a:rPr lang="en" sz="1100" b="1" u="none" strike="noStrike" cap="none">
                          <a:solidFill>
                            <a:schemeClr val="accent6"/>
                          </a:solidFill>
                          <a:latin typeface="Calibri"/>
                          <a:ea typeface="Calibri"/>
                          <a:cs typeface="Calibri"/>
                          <a:sym typeface="Calibri"/>
                        </a:rPr>
                        <a:t>Base Variables for </a:t>
                      </a:r>
                      <a:r>
                        <a:rPr lang="en" sz="1100">
                          <a:solidFill>
                            <a:schemeClr val="accent6"/>
                          </a:solidFill>
                        </a:rPr>
                        <a:t>A</a:t>
                      </a:r>
                      <a:r>
                        <a:rPr lang="en" sz="1100" b="1" u="none" strike="noStrike" cap="none">
                          <a:solidFill>
                            <a:schemeClr val="accent6"/>
                          </a:solidFill>
                          <a:latin typeface="Calibri"/>
                          <a:ea typeface="Calibri"/>
                          <a:cs typeface="Calibri"/>
                          <a:sym typeface="Calibri"/>
                        </a:rPr>
                        <a:t>nalysis: </a:t>
                      </a:r>
                      <a:endParaRPr sz="500" b="1" u="none" strike="noStrike" cap="none">
                        <a:solidFill>
                          <a:schemeClr val="accent6"/>
                        </a:solidFill>
                        <a:latin typeface="Calibri"/>
                        <a:ea typeface="Calibri"/>
                        <a:cs typeface="Calibri"/>
                        <a:sym typeface="Calibri"/>
                      </a:endParaRPr>
                    </a:p>
                  </a:txBody>
                  <a:tcPr marL="91450" marR="91450" marT="34300" marB="34300"/>
                </a:tc>
                <a:tc>
                  <a:txBody>
                    <a:bodyPr/>
                    <a:lstStyle/>
                    <a:p>
                      <a:pPr marL="0" marR="0" lvl="0" indent="0" algn="l" rtl="0">
                        <a:spcBef>
                          <a:spcPts val="0"/>
                        </a:spcBef>
                        <a:spcAft>
                          <a:spcPts val="0"/>
                        </a:spcAft>
                        <a:buNone/>
                      </a:pPr>
                      <a:r>
                        <a:rPr lang="en" sz="1100" u="none" strike="noStrike" cap="none">
                          <a:solidFill>
                            <a:schemeClr val="accent6"/>
                          </a:solidFill>
                        </a:rPr>
                        <a:t>Why these bases?</a:t>
                      </a:r>
                      <a:endParaRPr sz="1100"/>
                    </a:p>
                  </a:txBody>
                  <a:tcPr marL="91450" marR="91450" marT="34300" marB="34300"/>
                </a:tc>
                <a:extLst>
                  <a:ext uri="{0D108BD9-81ED-4DB2-BD59-A6C34878D82A}">
                    <a16:rowId xmlns:a16="http://schemas.microsoft.com/office/drawing/2014/main" val="10000"/>
                  </a:ext>
                </a:extLst>
              </a:tr>
              <a:tr h="201725">
                <a:tc>
                  <a:txBody>
                    <a:bodyPr/>
                    <a:lstStyle/>
                    <a:p>
                      <a:pPr marL="0" marR="0" lvl="0" indent="0" algn="l" rtl="0">
                        <a:spcBef>
                          <a:spcPts val="0"/>
                        </a:spcBef>
                        <a:spcAft>
                          <a:spcPts val="0"/>
                        </a:spcAft>
                        <a:buNone/>
                      </a:pPr>
                      <a:r>
                        <a:rPr lang="en" sz="900"/>
                        <a:t>Diner Preferences (0% missing values - ‘don’t know’ also treated as missing)</a:t>
                      </a:r>
                      <a:endParaRPr sz="900"/>
                    </a:p>
                  </a:txBody>
                  <a:tcPr marL="91450" marR="91450" marT="34300" marB="34300"/>
                </a:tc>
                <a:tc>
                  <a:txBody>
                    <a:bodyPr/>
                    <a:lstStyle/>
                    <a:p>
                      <a:pPr marL="127000" marR="0" lvl="0" indent="-120650" algn="l" rtl="0">
                        <a:spcBef>
                          <a:spcPts val="0"/>
                        </a:spcBef>
                        <a:spcAft>
                          <a:spcPts val="0"/>
                        </a:spcAft>
                        <a:buClr>
                          <a:schemeClr val="dk1"/>
                        </a:buClr>
                        <a:buSzPts val="900"/>
                        <a:buFont typeface="Arial"/>
                        <a:buChar char="•"/>
                      </a:pPr>
                      <a:r>
                        <a:rPr lang="en" sz="900"/>
                        <a:t>To map customer personas that are closely  aligned with Sticks’ vision</a:t>
                      </a:r>
                      <a:endParaRPr sz="1100"/>
                    </a:p>
                  </a:txBody>
                  <a:tcPr marL="91450" marR="91450" marT="34300" marB="34300"/>
                </a:tc>
                <a:extLst>
                  <a:ext uri="{0D108BD9-81ED-4DB2-BD59-A6C34878D82A}">
                    <a16:rowId xmlns:a16="http://schemas.microsoft.com/office/drawing/2014/main" val="10001"/>
                  </a:ext>
                </a:extLst>
              </a:tr>
              <a:tr h="359850">
                <a:tc>
                  <a:txBody>
                    <a:bodyPr/>
                    <a:lstStyle/>
                    <a:p>
                      <a:pPr marL="0" lvl="0" indent="0" algn="l" rtl="0">
                        <a:spcBef>
                          <a:spcPts val="0"/>
                        </a:spcBef>
                        <a:spcAft>
                          <a:spcPts val="0"/>
                        </a:spcAft>
                        <a:buSzPts val="1100"/>
                        <a:buNone/>
                      </a:pPr>
                      <a:r>
                        <a:rPr lang="en" sz="900"/>
                        <a:t>D1.3 – Important to buy local products</a:t>
                      </a:r>
                      <a:endParaRPr sz="900"/>
                    </a:p>
                    <a:p>
                      <a:pPr marL="0" lvl="0" indent="0" algn="l" rtl="0">
                        <a:spcBef>
                          <a:spcPts val="0"/>
                        </a:spcBef>
                        <a:spcAft>
                          <a:spcPts val="0"/>
                        </a:spcAft>
                        <a:buSzPts val="1100"/>
                        <a:buNone/>
                      </a:pPr>
                      <a:r>
                        <a:rPr lang="en" sz="900"/>
                        <a:t>D1.4 – Carefully considers the health benefits of what they eat</a:t>
                      </a:r>
                      <a:endParaRPr sz="900"/>
                    </a:p>
                  </a:txBody>
                  <a:tcPr marL="91450" marR="91450" marT="34300" marB="34300"/>
                </a:tc>
                <a:tc>
                  <a:txBody>
                    <a:bodyPr/>
                    <a:lstStyle/>
                    <a:p>
                      <a:pPr marL="127000" marR="0" lvl="0" indent="-120650" algn="just" rtl="0">
                        <a:lnSpc>
                          <a:spcPct val="100000"/>
                        </a:lnSpc>
                        <a:spcBef>
                          <a:spcPts val="0"/>
                        </a:spcBef>
                        <a:spcAft>
                          <a:spcPts val="0"/>
                        </a:spcAft>
                        <a:buClr>
                          <a:srgbClr val="000000"/>
                        </a:buClr>
                        <a:buSzPts val="900"/>
                        <a:buFont typeface="Arial"/>
                        <a:buChar char="•"/>
                      </a:pPr>
                      <a:r>
                        <a:rPr lang="en" sz="900" dirty="0">
                          <a:solidFill>
                            <a:srgbClr val="000000"/>
                          </a:solidFill>
                        </a:rPr>
                        <a:t>Sticks’ local, non-ethnic positioning and focus on quick healthy lunches made it key to understand diners’ preferences for local products and health-focused meals</a:t>
                      </a:r>
                      <a:endParaRPr sz="1400" dirty="0"/>
                    </a:p>
                  </a:txBody>
                  <a:tcPr marL="91450" marR="91450" marT="34300" marB="34300"/>
                </a:tc>
                <a:extLst>
                  <a:ext uri="{0D108BD9-81ED-4DB2-BD59-A6C34878D82A}">
                    <a16:rowId xmlns:a16="http://schemas.microsoft.com/office/drawing/2014/main" val="10002"/>
                  </a:ext>
                </a:extLst>
              </a:tr>
              <a:tr h="211350">
                <a:tc>
                  <a:txBody>
                    <a:bodyPr/>
                    <a:lstStyle/>
                    <a:p>
                      <a:pPr marL="0" lvl="0" indent="0" algn="l" rtl="0">
                        <a:spcBef>
                          <a:spcPts val="0"/>
                        </a:spcBef>
                        <a:spcAft>
                          <a:spcPts val="0"/>
                        </a:spcAft>
                        <a:buNone/>
                      </a:pPr>
                      <a:r>
                        <a:rPr lang="en" sz="900" dirty="0"/>
                        <a:t>Core Lunch Behaviour (12-14% missing values cleaned)</a:t>
                      </a:r>
                      <a:endParaRPr dirty="0"/>
                    </a:p>
                  </a:txBody>
                  <a:tcPr marL="91450" marR="91450" marT="34300" marB="34300"/>
                </a:tc>
                <a:tc>
                  <a:txBody>
                    <a:bodyPr/>
                    <a:lstStyle/>
                    <a:p>
                      <a:pPr marL="127000" lvl="0" indent="-120650" algn="l" rtl="0">
                        <a:spcBef>
                          <a:spcPts val="0"/>
                        </a:spcBef>
                        <a:spcAft>
                          <a:spcPts val="0"/>
                        </a:spcAft>
                        <a:buClr>
                          <a:schemeClr val="dk1"/>
                        </a:buClr>
                        <a:buSzPts val="900"/>
                        <a:buChar char="•"/>
                      </a:pPr>
                      <a:r>
                        <a:rPr lang="en" sz="900"/>
                        <a:t>To identify attributes of segment most likely to choose Sticks for lunch</a:t>
                      </a:r>
                      <a:endParaRPr/>
                    </a:p>
                  </a:txBody>
                  <a:tcPr marL="91450" marR="91450" marT="34300" marB="34300"/>
                </a:tc>
                <a:extLst>
                  <a:ext uri="{0D108BD9-81ED-4DB2-BD59-A6C34878D82A}">
                    <a16:rowId xmlns:a16="http://schemas.microsoft.com/office/drawing/2014/main" val="10003"/>
                  </a:ext>
                </a:extLst>
              </a:tr>
              <a:tr h="565475">
                <a:tc>
                  <a:txBody>
                    <a:bodyPr/>
                    <a:lstStyle/>
                    <a:p>
                      <a:pPr marL="0" lvl="0" indent="0" algn="l" rtl="0">
                        <a:spcBef>
                          <a:spcPts val="0"/>
                        </a:spcBef>
                        <a:spcAft>
                          <a:spcPts val="0"/>
                        </a:spcAft>
                        <a:buClr>
                          <a:schemeClr val="dk1"/>
                        </a:buClr>
                        <a:buSzPts val="1100"/>
                        <a:buFont typeface="Arial"/>
                        <a:buNone/>
                      </a:pPr>
                      <a:r>
                        <a:rPr lang="en" sz="900"/>
                        <a:t>D2.1 – Times made/ate lunch at home last week</a:t>
                      </a:r>
                      <a:endParaRPr sz="900"/>
                    </a:p>
                    <a:p>
                      <a:pPr marL="0" lvl="0" indent="0" algn="l" rtl="0">
                        <a:spcBef>
                          <a:spcPts val="0"/>
                        </a:spcBef>
                        <a:spcAft>
                          <a:spcPts val="0"/>
                        </a:spcAft>
                        <a:buClr>
                          <a:schemeClr val="dk1"/>
                        </a:buClr>
                        <a:buSzPts val="1100"/>
                        <a:buFont typeface="Arial"/>
                        <a:buNone/>
                      </a:pPr>
                      <a:r>
                        <a:rPr lang="en" sz="900"/>
                        <a:t>D2.2 – Times brought own lunch to work last week</a:t>
                      </a:r>
                      <a:endParaRPr sz="900"/>
                    </a:p>
                    <a:p>
                      <a:pPr marL="0" lvl="0" indent="0" algn="l" rtl="0">
                        <a:spcBef>
                          <a:spcPts val="0"/>
                        </a:spcBef>
                        <a:spcAft>
                          <a:spcPts val="0"/>
                        </a:spcAft>
                        <a:buClr>
                          <a:schemeClr val="dk1"/>
                        </a:buClr>
                        <a:buSzPts val="1100"/>
                        <a:buFont typeface="Arial"/>
                        <a:buNone/>
                      </a:pPr>
                      <a:r>
                        <a:rPr lang="en" sz="900"/>
                        <a:t>D2.3 – Times bought lunch at workplace (cafeteria) </a:t>
                      </a:r>
                      <a:endParaRPr sz="900"/>
                    </a:p>
                    <a:p>
                      <a:pPr marL="0" lvl="0" indent="0" algn="l" rtl="0">
                        <a:spcBef>
                          <a:spcPts val="0"/>
                        </a:spcBef>
                        <a:spcAft>
                          <a:spcPts val="0"/>
                        </a:spcAft>
                        <a:buClr>
                          <a:schemeClr val="dk1"/>
                        </a:buClr>
                        <a:buSzPts val="1100"/>
                        <a:buFont typeface="Arial"/>
                        <a:buNone/>
                      </a:pPr>
                      <a:r>
                        <a:rPr lang="en" sz="900"/>
                        <a:t>D2.4 – Times bought lunch at a restaurant last week</a:t>
                      </a:r>
                      <a:endParaRPr sz="900"/>
                    </a:p>
                    <a:p>
                      <a:pPr marL="0" lvl="0" indent="0" algn="l" rtl="0">
                        <a:spcBef>
                          <a:spcPts val="0"/>
                        </a:spcBef>
                        <a:spcAft>
                          <a:spcPts val="0"/>
                        </a:spcAft>
                        <a:buSzPts val="1100"/>
                        <a:buNone/>
                      </a:pPr>
                      <a:r>
                        <a:rPr lang="en" sz="900"/>
                        <a:t>D2.5 – Times skipped lunch last week</a:t>
                      </a:r>
                      <a:endParaRPr sz="900"/>
                    </a:p>
                  </a:txBody>
                  <a:tcPr marL="91450" marR="91450" marT="34300" marB="34300"/>
                </a:tc>
                <a:tc>
                  <a:txBody>
                    <a:bodyPr/>
                    <a:lstStyle/>
                    <a:p>
                      <a:pPr marL="127000" lvl="0" indent="-120650" algn="just" rtl="0">
                        <a:spcBef>
                          <a:spcPts val="0"/>
                        </a:spcBef>
                        <a:spcAft>
                          <a:spcPts val="0"/>
                        </a:spcAft>
                        <a:buClr>
                          <a:schemeClr val="dk1"/>
                        </a:buClr>
                        <a:buSzPts val="900"/>
                        <a:buChar char="•"/>
                      </a:pPr>
                      <a:r>
                        <a:rPr lang="en" sz="900" dirty="0"/>
                        <a:t>Sticks initially targeted working professionals in their mid-20s to mid-40s who visited during lunch breaks. Since it became part of customers’ regular lunch rotation alongside chains like Panera and Chipotle, it was important to examine the attributes most closely linked to diners’ core lunch behavior</a:t>
                      </a:r>
                      <a:endParaRPr dirty="0"/>
                    </a:p>
                  </a:txBody>
                  <a:tcPr marL="91450" marR="91450" marT="34300" marB="34300"/>
                </a:tc>
                <a:extLst>
                  <a:ext uri="{0D108BD9-81ED-4DB2-BD59-A6C34878D82A}">
                    <a16:rowId xmlns:a16="http://schemas.microsoft.com/office/drawing/2014/main" val="10004"/>
                  </a:ext>
                </a:extLst>
              </a:tr>
              <a:tr h="211350">
                <a:tc>
                  <a:txBody>
                    <a:bodyPr/>
                    <a:lstStyle/>
                    <a:p>
                      <a:pPr marL="0" lvl="0" indent="0" algn="l" rtl="0">
                        <a:spcBef>
                          <a:spcPts val="0"/>
                        </a:spcBef>
                        <a:spcAft>
                          <a:spcPts val="0"/>
                        </a:spcAft>
                        <a:buSzPts val="1100"/>
                        <a:buNone/>
                      </a:pPr>
                      <a:r>
                        <a:rPr lang="en" sz="900"/>
                        <a:t>Restaurant Selection Criteria (12-14% missing values cleaned)</a:t>
                      </a:r>
                      <a:endParaRPr sz="900"/>
                    </a:p>
                  </a:txBody>
                  <a:tcPr marL="91450" marR="91450" marT="34300" marB="34300"/>
                </a:tc>
                <a:tc>
                  <a:txBody>
                    <a:bodyPr/>
                    <a:lstStyle/>
                    <a:p>
                      <a:pPr marL="127000" lvl="0" indent="-120650" algn="l" rtl="0">
                        <a:spcBef>
                          <a:spcPts val="0"/>
                        </a:spcBef>
                        <a:spcAft>
                          <a:spcPts val="0"/>
                        </a:spcAft>
                        <a:buClr>
                          <a:schemeClr val="dk1"/>
                        </a:buClr>
                        <a:buSzPts val="900"/>
                        <a:buChar char="•"/>
                      </a:pPr>
                      <a:r>
                        <a:rPr lang="en" sz="900" dirty="0"/>
                        <a:t>To understand factors that make customers prefer Sticks to rivals</a:t>
                      </a:r>
                      <a:endParaRPr dirty="0"/>
                    </a:p>
                  </a:txBody>
                  <a:tcPr marL="91450" marR="91450" marT="34300" marB="34300"/>
                </a:tc>
                <a:extLst>
                  <a:ext uri="{0D108BD9-81ED-4DB2-BD59-A6C34878D82A}">
                    <a16:rowId xmlns:a16="http://schemas.microsoft.com/office/drawing/2014/main" val="10005"/>
                  </a:ext>
                </a:extLst>
              </a:tr>
              <a:tr h="1079525">
                <a:tc>
                  <a:txBody>
                    <a:bodyPr/>
                    <a:lstStyle/>
                    <a:p>
                      <a:pPr marL="0" lvl="0" indent="0" algn="l" rtl="0">
                        <a:spcBef>
                          <a:spcPts val="0"/>
                        </a:spcBef>
                        <a:spcAft>
                          <a:spcPts val="0"/>
                        </a:spcAft>
                        <a:buSzPts val="1100"/>
                        <a:buNone/>
                      </a:pPr>
                      <a:r>
                        <a:rPr lang="en" sz="900"/>
                        <a:t>D4.1 – Importance of convenience</a:t>
                      </a:r>
                      <a:endParaRPr sz="900"/>
                    </a:p>
                    <a:p>
                      <a:pPr marL="0" lvl="0" indent="0" algn="l" rtl="0">
                        <a:spcBef>
                          <a:spcPts val="0"/>
                        </a:spcBef>
                        <a:spcAft>
                          <a:spcPts val="0"/>
                        </a:spcAft>
                        <a:buClr>
                          <a:schemeClr val="dk1"/>
                        </a:buClr>
                        <a:buSzPts val="1100"/>
                        <a:buFont typeface="Arial"/>
                        <a:buNone/>
                      </a:pPr>
                      <a:r>
                        <a:rPr lang="en" sz="900"/>
                        <a:t>D4.2 – Importance of variety</a:t>
                      </a:r>
                      <a:endParaRPr sz="900"/>
                    </a:p>
                    <a:p>
                      <a:pPr marL="0" lvl="0" indent="0" algn="l" rtl="0">
                        <a:spcBef>
                          <a:spcPts val="0"/>
                        </a:spcBef>
                        <a:spcAft>
                          <a:spcPts val="0"/>
                        </a:spcAft>
                        <a:buClr>
                          <a:schemeClr val="dk1"/>
                        </a:buClr>
                        <a:buSzPts val="1100"/>
                        <a:buFont typeface="Arial"/>
                        <a:buNone/>
                      </a:pPr>
                      <a:r>
                        <a:rPr lang="en" sz="900"/>
                        <a:t>D4.3 – Importance of value for money</a:t>
                      </a:r>
                      <a:endParaRPr sz="900"/>
                    </a:p>
                    <a:p>
                      <a:pPr marL="0" lvl="0" indent="0" algn="l" rtl="0">
                        <a:spcBef>
                          <a:spcPts val="0"/>
                        </a:spcBef>
                        <a:spcAft>
                          <a:spcPts val="0"/>
                        </a:spcAft>
                        <a:buClr>
                          <a:schemeClr val="dk1"/>
                        </a:buClr>
                        <a:buSzPts val="1100"/>
                        <a:buFont typeface="Arial"/>
                        <a:buNone/>
                      </a:pPr>
                      <a:r>
                        <a:rPr lang="en" sz="900"/>
                        <a:t>D4.4 – Importance of healthy options</a:t>
                      </a:r>
                      <a:endParaRPr sz="900"/>
                    </a:p>
                    <a:p>
                      <a:pPr marL="0" lvl="0" indent="0" algn="l" rtl="0">
                        <a:spcBef>
                          <a:spcPts val="0"/>
                        </a:spcBef>
                        <a:spcAft>
                          <a:spcPts val="0"/>
                        </a:spcAft>
                        <a:buClr>
                          <a:schemeClr val="dk1"/>
                        </a:buClr>
                        <a:buSzPts val="1100"/>
                        <a:buFont typeface="Arial"/>
                        <a:buNone/>
                      </a:pPr>
                      <a:r>
                        <a:rPr lang="en" sz="900"/>
                        <a:t>D4.5 – Importance of taste &amp; satisfaction</a:t>
                      </a:r>
                      <a:endParaRPr sz="900"/>
                    </a:p>
                    <a:p>
                      <a:pPr marL="0" lvl="0" indent="0" algn="l" rtl="0">
                        <a:spcBef>
                          <a:spcPts val="0"/>
                        </a:spcBef>
                        <a:spcAft>
                          <a:spcPts val="0"/>
                        </a:spcAft>
                        <a:buSzPts val="1100"/>
                        <a:buNone/>
                      </a:pPr>
                      <a:r>
                        <a:rPr lang="en" sz="900"/>
                        <a:t>D4.6 – Importance of friendly staff</a:t>
                      </a:r>
                      <a:endParaRPr sz="900"/>
                    </a:p>
                    <a:p>
                      <a:pPr marL="0" lvl="0" indent="0" algn="l" rtl="0">
                        <a:spcBef>
                          <a:spcPts val="0"/>
                        </a:spcBef>
                        <a:spcAft>
                          <a:spcPts val="0"/>
                        </a:spcAft>
                        <a:buSzPts val="1100"/>
                        <a:buNone/>
                      </a:pPr>
                      <a:r>
                        <a:rPr lang="en" sz="900"/>
                        <a:t>D4.7 – Importance of ambiance</a:t>
                      </a:r>
                      <a:endParaRPr sz="900"/>
                    </a:p>
                    <a:p>
                      <a:pPr marL="0" lvl="0" indent="0" algn="l" rtl="0">
                        <a:spcBef>
                          <a:spcPts val="0"/>
                        </a:spcBef>
                        <a:spcAft>
                          <a:spcPts val="0"/>
                        </a:spcAft>
                        <a:buSzPts val="1100"/>
                        <a:buNone/>
                      </a:pPr>
                      <a:r>
                        <a:rPr lang="en" sz="900"/>
                        <a:t>D4.8 – Importance of consistency/reliability</a:t>
                      </a:r>
                      <a:endParaRPr sz="900"/>
                    </a:p>
                    <a:p>
                      <a:pPr marL="0" lvl="0" indent="0" algn="l" rtl="0">
                        <a:spcBef>
                          <a:spcPts val="0"/>
                        </a:spcBef>
                        <a:spcAft>
                          <a:spcPts val="0"/>
                        </a:spcAft>
                        <a:buSzPts val="1100"/>
                        <a:buNone/>
                      </a:pPr>
                      <a:r>
                        <a:rPr lang="en" sz="900"/>
                        <a:t>D4.9 – Importance of “part of the community”</a:t>
                      </a:r>
                      <a:endParaRPr sz="900"/>
                    </a:p>
                  </a:txBody>
                  <a:tcPr marL="91450" marR="91450" marT="34300" marB="34300"/>
                </a:tc>
                <a:tc>
                  <a:txBody>
                    <a:bodyPr/>
                    <a:lstStyle/>
                    <a:p>
                      <a:pPr marL="127000" lvl="0" indent="-120650" algn="just" rtl="0">
                        <a:spcBef>
                          <a:spcPts val="0"/>
                        </a:spcBef>
                        <a:spcAft>
                          <a:spcPts val="0"/>
                        </a:spcAft>
                        <a:buClr>
                          <a:schemeClr val="dk1"/>
                        </a:buClr>
                        <a:buSzPts val="900"/>
                        <a:buChar char="•"/>
                      </a:pPr>
                      <a:r>
                        <a:rPr lang="en" sz="900" dirty="0"/>
                        <a:t>Each of the nine base variables captures a distinct attribute customers value when choosing where to dine. By analyzing factors such as healthy options, variety, taste, and value for money, Sticks can design menu items tailored to the right segments. Attributes like ambiance, convenience, consistency, and friendly staff help track customer perceptions and enhance the overall dining experience. All selected variables had minimal missing data, which was removed before conducting the cluster analysis</a:t>
                      </a:r>
                      <a:endParaRPr sz="1100" dirty="0"/>
                    </a:p>
                    <a:p>
                      <a:pPr marL="0" marR="0" lvl="0" indent="0" algn="l" rtl="0">
                        <a:spcBef>
                          <a:spcPts val="0"/>
                        </a:spcBef>
                        <a:spcAft>
                          <a:spcPts val="0"/>
                        </a:spcAft>
                        <a:buNone/>
                      </a:pPr>
                      <a:endParaRPr dirty="0"/>
                    </a:p>
                  </a:txBody>
                  <a:tcPr marL="91450" marR="91450" marT="34300" marB="34300"/>
                </a:tc>
                <a:extLst>
                  <a:ext uri="{0D108BD9-81ED-4DB2-BD59-A6C34878D82A}">
                    <a16:rowId xmlns:a16="http://schemas.microsoft.com/office/drawing/2014/main" val="10006"/>
                  </a:ext>
                </a:extLst>
              </a:tr>
            </a:tbl>
          </a:graphicData>
        </a:graphic>
      </p:graphicFrame>
      <p:pic>
        <p:nvPicPr>
          <p:cNvPr id="2" name="Google Shape;148;p26" descr="A black and orange logo&#10;&#10;AI-generated content may be incorrect.">
            <a:extLst>
              <a:ext uri="{FF2B5EF4-FFF2-40B4-BE49-F238E27FC236}">
                <a16:creationId xmlns:a16="http://schemas.microsoft.com/office/drawing/2014/main" id="{DE6BBF25-60AA-270A-C3F5-5FE6B8E8D0AC}"/>
              </a:ext>
            </a:extLst>
          </p:cNvPr>
          <p:cNvPicPr preferRelativeResize="0"/>
          <p:nvPr/>
        </p:nvPicPr>
        <p:blipFill rotWithShape="1">
          <a:blip r:embed="rId3">
            <a:alphaModFix/>
          </a:blip>
          <a:srcRect l="5357" r="10411"/>
          <a:stretch/>
        </p:blipFill>
        <p:spPr>
          <a:xfrm>
            <a:off x="7905729" y="199474"/>
            <a:ext cx="862617" cy="4973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3"/>
        <p:cNvGrpSpPr/>
        <p:nvPr/>
      </p:nvGrpSpPr>
      <p:grpSpPr>
        <a:xfrm>
          <a:off x="0" y="0"/>
          <a:ext cx="0" cy="0"/>
          <a:chOff x="0" y="0"/>
          <a:chExt cx="0" cy="0"/>
        </a:xfrm>
      </p:grpSpPr>
      <p:sp>
        <p:nvSpPr>
          <p:cNvPr id="214" name="Google Shape;214;p29"/>
          <p:cNvSpPr/>
          <p:nvPr/>
        </p:nvSpPr>
        <p:spPr>
          <a:xfrm>
            <a:off x="0" y="0"/>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215" name="Google Shape;215;p29"/>
          <p:cNvGrpSpPr/>
          <p:nvPr/>
        </p:nvGrpSpPr>
        <p:grpSpPr>
          <a:xfrm>
            <a:off x="55721" y="1788827"/>
            <a:ext cx="430556" cy="1565846"/>
            <a:chOff x="209669" y="2857423"/>
            <a:chExt cx="463661" cy="2087794"/>
          </a:xfrm>
        </p:grpSpPr>
        <p:sp>
          <p:nvSpPr>
            <p:cNvPr id="216" name="Google Shape;216;p29"/>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217" name="Google Shape;217;p29"/>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218" name="Google Shape;218;p29"/>
          <p:cNvSpPr/>
          <p:nvPr/>
        </p:nvSpPr>
        <p:spPr>
          <a:xfrm flipH="1">
            <a:off x="8023200" y="0"/>
            <a:ext cx="1120800"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19" name="Google Shape;219;p29"/>
          <p:cNvSpPr/>
          <p:nvPr/>
        </p:nvSpPr>
        <p:spPr>
          <a:xfrm>
            <a:off x="434646" y="473825"/>
            <a:ext cx="8333700" cy="43143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20" name="Google Shape;220;p29"/>
          <p:cNvSpPr txBox="1">
            <a:spLocks noGrp="1"/>
          </p:cNvSpPr>
          <p:nvPr>
            <p:ph type="title"/>
          </p:nvPr>
        </p:nvSpPr>
        <p:spPr>
          <a:xfrm>
            <a:off x="519327" y="561045"/>
            <a:ext cx="6562200" cy="589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accent6"/>
              </a:buClr>
              <a:buSzPts val="2400"/>
              <a:buFont typeface="Calibri"/>
              <a:buNone/>
            </a:pPr>
            <a:r>
              <a:rPr lang="en" sz="2400" b="1" dirty="0">
                <a:solidFill>
                  <a:schemeClr val="accent6"/>
                </a:solidFill>
              </a:rPr>
              <a:t>Descriptors for Target Segment(s) Identification</a:t>
            </a:r>
            <a:endParaRPr sz="1400" b="1" dirty="0">
              <a:solidFill>
                <a:schemeClr val="accent6"/>
              </a:solidFill>
              <a:latin typeface="Calibri"/>
              <a:ea typeface="Calibri"/>
              <a:cs typeface="Calibri"/>
              <a:sym typeface="Calibri"/>
            </a:endParaRPr>
          </a:p>
        </p:txBody>
      </p:sp>
      <p:pic>
        <p:nvPicPr>
          <p:cNvPr id="222" name="Google Shape;222;p29" descr="A black and orange logo&#10;&#10;AI-generated content may be incorrect."/>
          <p:cNvPicPr preferRelativeResize="0"/>
          <p:nvPr/>
        </p:nvPicPr>
        <p:blipFill rotWithShape="1">
          <a:blip r:embed="rId3">
            <a:alphaModFix/>
          </a:blip>
          <a:srcRect l="5357" r="10411"/>
          <a:stretch/>
        </p:blipFill>
        <p:spPr>
          <a:xfrm>
            <a:off x="7891071" y="212187"/>
            <a:ext cx="862617" cy="497320"/>
          </a:xfrm>
          <a:prstGeom prst="rect">
            <a:avLst/>
          </a:prstGeom>
          <a:noFill/>
          <a:ln>
            <a:noFill/>
          </a:ln>
        </p:spPr>
      </p:pic>
      <p:sp>
        <p:nvSpPr>
          <p:cNvPr id="223" name="Google Shape;223;p29"/>
          <p:cNvSpPr txBox="1"/>
          <p:nvPr/>
        </p:nvSpPr>
        <p:spPr>
          <a:xfrm>
            <a:off x="730550" y="962822"/>
            <a:ext cx="3541500" cy="291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D96B3D"/>
              </a:buClr>
              <a:buSzPts val="600"/>
              <a:buFont typeface="Calibri"/>
              <a:buNone/>
            </a:pPr>
            <a:endParaRPr sz="600" b="1" i="0" u="none" strike="noStrike" cap="none">
              <a:solidFill>
                <a:srgbClr val="C17529"/>
              </a:solidFill>
              <a:latin typeface="Calibri"/>
              <a:ea typeface="Calibri"/>
              <a:cs typeface="Calibri"/>
              <a:sym typeface="Calibri"/>
            </a:endParaRPr>
          </a:p>
        </p:txBody>
      </p:sp>
      <p:graphicFrame>
        <p:nvGraphicFramePr>
          <p:cNvPr id="224" name="Google Shape;224;p29"/>
          <p:cNvGraphicFramePr/>
          <p:nvPr/>
        </p:nvGraphicFramePr>
        <p:xfrm>
          <a:off x="811403" y="1285675"/>
          <a:ext cx="7446550" cy="3721795"/>
        </p:xfrm>
        <a:graphic>
          <a:graphicData uri="http://schemas.openxmlformats.org/drawingml/2006/table">
            <a:tbl>
              <a:tblPr firstRow="1" bandRow="1">
                <a:noFill/>
                <a:tableStyleId>{03AB72E0-30B8-4DCC-98CD-6EA8F19E001B}</a:tableStyleId>
              </a:tblPr>
              <a:tblGrid>
                <a:gridCol w="3748200">
                  <a:extLst>
                    <a:ext uri="{9D8B030D-6E8A-4147-A177-3AD203B41FA5}">
                      <a16:colId xmlns:a16="http://schemas.microsoft.com/office/drawing/2014/main" val="20000"/>
                    </a:ext>
                  </a:extLst>
                </a:gridCol>
                <a:gridCol w="3698350">
                  <a:extLst>
                    <a:ext uri="{9D8B030D-6E8A-4147-A177-3AD203B41FA5}">
                      <a16:colId xmlns:a16="http://schemas.microsoft.com/office/drawing/2014/main" val="20001"/>
                    </a:ext>
                  </a:extLst>
                </a:gridCol>
              </a:tblGrid>
              <a:tr h="201725">
                <a:tc>
                  <a:txBody>
                    <a:bodyPr/>
                    <a:lstStyle/>
                    <a:p>
                      <a:pPr marL="0" marR="0" lvl="0" indent="0" algn="l" rtl="0">
                        <a:spcBef>
                          <a:spcPts val="0"/>
                        </a:spcBef>
                        <a:spcAft>
                          <a:spcPts val="0"/>
                        </a:spcAft>
                        <a:buNone/>
                      </a:pPr>
                      <a:r>
                        <a:rPr lang="en" sz="1100">
                          <a:solidFill>
                            <a:schemeClr val="accent6"/>
                          </a:solidFill>
                        </a:rPr>
                        <a:t>Descriptors</a:t>
                      </a:r>
                      <a:r>
                        <a:rPr lang="en" sz="1100" b="1" u="none" strike="noStrike" cap="none">
                          <a:solidFill>
                            <a:schemeClr val="accent6"/>
                          </a:solidFill>
                          <a:latin typeface="Calibri"/>
                          <a:ea typeface="Calibri"/>
                          <a:cs typeface="Calibri"/>
                          <a:sym typeface="Calibri"/>
                        </a:rPr>
                        <a:t> for </a:t>
                      </a:r>
                      <a:r>
                        <a:rPr lang="en" sz="1100">
                          <a:solidFill>
                            <a:schemeClr val="accent6"/>
                          </a:solidFill>
                        </a:rPr>
                        <a:t>A</a:t>
                      </a:r>
                      <a:r>
                        <a:rPr lang="en" sz="1100" b="1" u="none" strike="noStrike" cap="none">
                          <a:solidFill>
                            <a:schemeClr val="accent6"/>
                          </a:solidFill>
                          <a:latin typeface="Calibri"/>
                          <a:ea typeface="Calibri"/>
                          <a:cs typeface="Calibri"/>
                          <a:sym typeface="Calibri"/>
                        </a:rPr>
                        <a:t>nalysis: </a:t>
                      </a:r>
                      <a:endParaRPr sz="500" b="1" u="none" strike="noStrike" cap="none">
                        <a:solidFill>
                          <a:schemeClr val="accent6"/>
                        </a:solidFill>
                        <a:latin typeface="Calibri"/>
                        <a:ea typeface="Calibri"/>
                        <a:cs typeface="Calibri"/>
                        <a:sym typeface="Calibri"/>
                      </a:endParaRPr>
                    </a:p>
                  </a:txBody>
                  <a:tcPr marL="91450" marR="91450" marT="34300" marB="34300"/>
                </a:tc>
                <a:tc>
                  <a:txBody>
                    <a:bodyPr/>
                    <a:lstStyle/>
                    <a:p>
                      <a:pPr marL="0" marR="0" lvl="0" indent="0" algn="l" rtl="0">
                        <a:spcBef>
                          <a:spcPts val="0"/>
                        </a:spcBef>
                        <a:spcAft>
                          <a:spcPts val="0"/>
                        </a:spcAft>
                        <a:buNone/>
                      </a:pPr>
                      <a:r>
                        <a:rPr lang="en" sz="1100" u="none" strike="noStrike" cap="none">
                          <a:solidFill>
                            <a:schemeClr val="accent6"/>
                          </a:solidFill>
                        </a:rPr>
                        <a:t>Why these </a:t>
                      </a:r>
                      <a:r>
                        <a:rPr lang="en" sz="1100">
                          <a:solidFill>
                            <a:schemeClr val="accent6"/>
                          </a:solidFill>
                        </a:rPr>
                        <a:t>descriptors</a:t>
                      </a:r>
                      <a:r>
                        <a:rPr lang="en" sz="1100" u="none" strike="noStrike" cap="none">
                          <a:solidFill>
                            <a:schemeClr val="accent6"/>
                          </a:solidFill>
                        </a:rPr>
                        <a:t>?</a:t>
                      </a:r>
                      <a:endParaRPr sz="1100"/>
                    </a:p>
                  </a:txBody>
                  <a:tcPr marL="91450" marR="91450" marT="34300" marB="34300"/>
                </a:tc>
                <a:extLst>
                  <a:ext uri="{0D108BD9-81ED-4DB2-BD59-A6C34878D82A}">
                    <a16:rowId xmlns:a16="http://schemas.microsoft.com/office/drawing/2014/main" val="10000"/>
                  </a:ext>
                </a:extLst>
              </a:tr>
              <a:tr h="266925">
                <a:tc>
                  <a:txBody>
                    <a:bodyPr/>
                    <a:lstStyle/>
                    <a:p>
                      <a:pPr marL="0" marR="0" lvl="0" indent="0" algn="l" rtl="0">
                        <a:spcBef>
                          <a:spcPts val="0"/>
                        </a:spcBef>
                        <a:spcAft>
                          <a:spcPts val="0"/>
                        </a:spcAft>
                        <a:buNone/>
                      </a:pPr>
                      <a:r>
                        <a:rPr lang="en" sz="900"/>
                        <a:t>D5: What is your gender?</a:t>
                      </a:r>
                      <a:endParaRPr sz="900"/>
                    </a:p>
                  </a:txBody>
                  <a:tcPr marL="91450" marR="91450" marT="34300" marB="34300"/>
                </a:tc>
                <a:tc>
                  <a:txBody>
                    <a:bodyPr/>
                    <a:lstStyle/>
                    <a:p>
                      <a:pPr marL="127000" marR="0" lvl="0" indent="-120650" algn="l" rtl="0">
                        <a:spcBef>
                          <a:spcPts val="0"/>
                        </a:spcBef>
                        <a:spcAft>
                          <a:spcPts val="0"/>
                        </a:spcAft>
                        <a:buClr>
                          <a:schemeClr val="dk1"/>
                        </a:buClr>
                        <a:buSzPts val="900"/>
                        <a:buFont typeface="Arial"/>
                        <a:buChar char="•"/>
                      </a:pPr>
                      <a:r>
                        <a:rPr lang="en" sz="900"/>
                        <a:t>Marketing frequency, messaging, and channels differ for attracting female versus male segments</a:t>
                      </a:r>
                      <a:endParaRPr sz="900"/>
                    </a:p>
                  </a:txBody>
                  <a:tcPr marL="91450" marR="91450" marT="34300" marB="34300"/>
                </a:tc>
                <a:extLst>
                  <a:ext uri="{0D108BD9-81ED-4DB2-BD59-A6C34878D82A}">
                    <a16:rowId xmlns:a16="http://schemas.microsoft.com/office/drawing/2014/main" val="10001"/>
                  </a:ext>
                </a:extLst>
              </a:tr>
              <a:tr h="274125">
                <a:tc>
                  <a:txBody>
                    <a:bodyPr/>
                    <a:lstStyle/>
                    <a:p>
                      <a:pPr marL="0" lvl="0" indent="0" algn="l" rtl="0">
                        <a:spcBef>
                          <a:spcPts val="0"/>
                        </a:spcBef>
                        <a:spcAft>
                          <a:spcPts val="0"/>
                        </a:spcAft>
                        <a:buNone/>
                      </a:pPr>
                      <a:r>
                        <a:rPr lang="en" sz="900"/>
                        <a:t>D6: What is your age? </a:t>
                      </a:r>
                      <a:endParaRPr sz="900"/>
                    </a:p>
                  </a:txBody>
                  <a:tcPr marL="91450" marR="91450" marT="34300" marB="34300"/>
                </a:tc>
                <a:tc>
                  <a:txBody>
                    <a:bodyPr/>
                    <a:lstStyle/>
                    <a:p>
                      <a:pPr marL="127000" lvl="0" indent="-120650" algn="l" rtl="0">
                        <a:spcBef>
                          <a:spcPts val="0"/>
                        </a:spcBef>
                        <a:spcAft>
                          <a:spcPts val="0"/>
                        </a:spcAft>
                        <a:buClr>
                          <a:schemeClr val="dk1"/>
                        </a:buClr>
                        <a:buSzPts val="900"/>
                        <a:buChar char="•"/>
                      </a:pPr>
                      <a:r>
                        <a:rPr lang="en" sz="900"/>
                        <a:t>Sticks relies on median age as an important criterion for location decisions</a:t>
                      </a:r>
                      <a:endParaRPr sz="900"/>
                    </a:p>
                  </a:txBody>
                  <a:tcPr marL="91450" marR="91450" marT="34300" marB="34300"/>
                </a:tc>
                <a:extLst>
                  <a:ext uri="{0D108BD9-81ED-4DB2-BD59-A6C34878D82A}">
                    <a16:rowId xmlns:a16="http://schemas.microsoft.com/office/drawing/2014/main" val="10002"/>
                  </a:ext>
                </a:extLst>
              </a:tr>
              <a:tr h="211350">
                <a:tc>
                  <a:txBody>
                    <a:bodyPr/>
                    <a:lstStyle/>
                    <a:p>
                      <a:pPr marL="0" lvl="0" indent="0" algn="l" rtl="0">
                        <a:spcBef>
                          <a:spcPts val="0"/>
                        </a:spcBef>
                        <a:spcAft>
                          <a:spcPts val="0"/>
                        </a:spcAft>
                        <a:buNone/>
                      </a:pPr>
                      <a:r>
                        <a:rPr lang="en" sz="900"/>
                        <a:t>D7: What is your approximate average annual household income?</a:t>
                      </a:r>
                      <a:endParaRPr sz="900"/>
                    </a:p>
                  </a:txBody>
                  <a:tcPr marL="91450" marR="91450" marT="34300" marB="34300"/>
                </a:tc>
                <a:tc>
                  <a:txBody>
                    <a:bodyPr/>
                    <a:lstStyle/>
                    <a:p>
                      <a:pPr marL="127000" lvl="0" indent="-120650" algn="l" rtl="0">
                        <a:spcBef>
                          <a:spcPts val="0"/>
                        </a:spcBef>
                        <a:spcAft>
                          <a:spcPts val="0"/>
                        </a:spcAft>
                        <a:buClr>
                          <a:schemeClr val="dk1"/>
                        </a:buClr>
                        <a:buSzPts val="900"/>
                        <a:buChar char="•"/>
                      </a:pPr>
                      <a:r>
                        <a:rPr lang="en" sz="900"/>
                        <a:t>Household consumer spending is a key factor in Sticks’ location selection</a:t>
                      </a:r>
                      <a:endParaRPr sz="900"/>
                    </a:p>
                  </a:txBody>
                  <a:tcPr marL="91450" marR="91450" marT="34300" marB="34300"/>
                </a:tc>
                <a:extLst>
                  <a:ext uri="{0D108BD9-81ED-4DB2-BD59-A6C34878D82A}">
                    <a16:rowId xmlns:a16="http://schemas.microsoft.com/office/drawing/2014/main" val="10003"/>
                  </a:ext>
                </a:extLst>
              </a:tr>
              <a:tr h="260675">
                <a:tc>
                  <a:txBody>
                    <a:bodyPr/>
                    <a:lstStyle/>
                    <a:p>
                      <a:pPr marL="0" lvl="0" indent="0" algn="l" rtl="0">
                        <a:spcBef>
                          <a:spcPts val="0"/>
                        </a:spcBef>
                        <a:spcAft>
                          <a:spcPts val="0"/>
                        </a:spcAft>
                        <a:buSzPts val="1100"/>
                        <a:buNone/>
                      </a:pPr>
                      <a:r>
                        <a:rPr lang="en" sz="900"/>
                        <a:t>D8: How would you best describe your household type?</a:t>
                      </a:r>
                      <a:endParaRPr sz="900"/>
                    </a:p>
                  </a:txBody>
                  <a:tcPr marL="91450" marR="91450" marT="34300" marB="34300"/>
                </a:tc>
                <a:tc>
                  <a:txBody>
                    <a:bodyPr/>
                    <a:lstStyle/>
                    <a:p>
                      <a:pPr marL="127000" lvl="0" indent="-120650" algn="l" rtl="0">
                        <a:spcBef>
                          <a:spcPts val="0"/>
                        </a:spcBef>
                        <a:spcAft>
                          <a:spcPts val="0"/>
                        </a:spcAft>
                        <a:buClr>
                          <a:schemeClr val="dk1"/>
                        </a:buClr>
                        <a:buSzPts val="900"/>
                        <a:buChar char="•"/>
                      </a:pPr>
                      <a:r>
                        <a:rPr lang="en" sz="900"/>
                        <a:t>Total household spend varies by household type; for example, families with children typically have a higher check average than single diners</a:t>
                      </a:r>
                      <a:endParaRPr sz="900"/>
                    </a:p>
                  </a:txBody>
                  <a:tcPr marL="91450" marR="91450" marT="34300" marB="34300"/>
                </a:tc>
                <a:extLst>
                  <a:ext uri="{0D108BD9-81ED-4DB2-BD59-A6C34878D82A}">
                    <a16:rowId xmlns:a16="http://schemas.microsoft.com/office/drawing/2014/main" val="10004"/>
                  </a:ext>
                </a:extLst>
              </a:tr>
              <a:tr h="253375">
                <a:tc>
                  <a:txBody>
                    <a:bodyPr/>
                    <a:lstStyle/>
                    <a:p>
                      <a:pPr marL="0" lvl="0" indent="0" algn="l" rtl="0">
                        <a:spcBef>
                          <a:spcPts val="0"/>
                        </a:spcBef>
                        <a:spcAft>
                          <a:spcPts val="0"/>
                        </a:spcAft>
                        <a:buSzPts val="1100"/>
                        <a:buNone/>
                      </a:pPr>
                      <a:r>
                        <a:rPr lang="en" sz="900"/>
                        <a:t>D9.1 - D9.3: How many children, by age, currently live in your household?</a:t>
                      </a:r>
                      <a:endParaRPr sz="900"/>
                    </a:p>
                  </a:txBody>
                  <a:tcPr marL="91450" marR="91450" marT="34300" marB="34300"/>
                </a:tc>
                <a:tc>
                  <a:txBody>
                    <a:bodyPr/>
                    <a:lstStyle/>
                    <a:p>
                      <a:pPr marL="127000" lvl="0" indent="-120650" algn="l" rtl="0">
                        <a:spcBef>
                          <a:spcPts val="0"/>
                        </a:spcBef>
                        <a:spcAft>
                          <a:spcPts val="0"/>
                        </a:spcAft>
                        <a:buClr>
                          <a:schemeClr val="dk1"/>
                        </a:buClr>
                        <a:buSzPts val="900"/>
                        <a:buChar char="•"/>
                      </a:pPr>
                      <a:r>
                        <a:rPr lang="en" sz="900"/>
                        <a:t>The number of children determines household size, which in turn influences a segment’s decision and frequency of visiting Sticks</a:t>
                      </a:r>
                      <a:endParaRPr sz="900"/>
                    </a:p>
                  </a:txBody>
                  <a:tcPr marL="91450" marR="91450" marT="34300" marB="34300"/>
                </a:tc>
                <a:extLst>
                  <a:ext uri="{0D108BD9-81ED-4DB2-BD59-A6C34878D82A}">
                    <a16:rowId xmlns:a16="http://schemas.microsoft.com/office/drawing/2014/main" val="10005"/>
                  </a:ext>
                </a:extLst>
              </a:tr>
              <a:tr h="253375">
                <a:tc>
                  <a:txBody>
                    <a:bodyPr/>
                    <a:lstStyle/>
                    <a:p>
                      <a:pPr marL="0" lvl="0" indent="0" algn="l" rtl="0">
                        <a:spcBef>
                          <a:spcPts val="0"/>
                        </a:spcBef>
                        <a:spcAft>
                          <a:spcPts val="0"/>
                        </a:spcAft>
                        <a:buNone/>
                      </a:pPr>
                      <a:r>
                        <a:rPr lang="en" sz="900"/>
                        <a:t>D11.1: If you have children living at home, in what activities do they participate?</a:t>
                      </a:r>
                      <a:endParaRPr sz="900"/>
                    </a:p>
                  </a:txBody>
                  <a:tcPr marL="91450" marR="91450" marT="34300" marB="34300"/>
                </a:tc>
                <a:tc>
                  <a:txBody>
                    <a:bodyPr/>
                    <a:lstStyle/>
                    <a:p>
                      <a:pPr marL="127000" lvl="0" indent="-120650" algn="l" rtl="0">
                        <a:spcBef>
                          <a:spcPts val="0"/>
                        </a:spcBef>
                        <a:spcAft>
                          <a:spcPts val="0"/>
                        </a:spcAft>
                        <a:buClr>
                          <a:schemeClr val="dk1"/>
                        </a:buClr>
                        <a:buSzPts val="900"/>
                        <a:buChar char="•"/>
                      </a:pPr>
                      <a:r>
                        <a:rPr lang="en" sz="900"/>
                        <a:t>The case study notes that Sticks attracts individuals from active families, so activities like soccer may be a useful attribute for targeting this segment</a:t>
                      </a:r>
                      <a:endParaRPr sz="900"/>
                    </a:p>
                  </a:txBody>
                  <a:tcPr marL="91450" marR="91450" marT="34300" marB="34300"/>
                </a:tc>
                <a:extLst>
                  <a:ext uri="{0D108BD9-81ED-4DB2-BD59-A6C34878D82A}">
                    <a16:rowId xmlns:a16="http://schemas.microsoft.com/office/drawing/2014/main" val="10006"/>
                  </a:ext>
                </a:extLst>
              </a:tr>
              <a:tr h="253375">
                <a:tc>
                  <a:txBody>
                    <a:bodyPr/>
                    <a:lstStyle/>
                    <a:p>
                      <a:pPr marL="0" lvl="0" indent="0" algn="l" rtl="0">
                        <a:spcBef>
                          <a:spcPts val="0"/>
                        </a:spcBef>
                        <a:spcAft>
                          <a:spcPts val="0"/>
                        </a:spcAft>
                        <a:buNone/>
                      </a:pPr>
                      <a:r>
                        <a:rPr lang="en" sz="900"/>
                        <a:t>Cust: Customer or not?</a:t>
                      </a:r>
                      <a:endParaRPr sz="900"/>
                    </a:p>
                  </a:txBody>
                  <a:tcPr marL="91450" marR="91450" marT="34300" marB="34300"/>
                </a:tc>
                <a:tc>
                  <a:txBody>
                    <a:bodyPr/>
                    <a:lstStyle/>
                    <a:p>
                      <a:pPr marL="127000" lvl="0" indent="-120650" algn="l" rtl="0">
                        <a:spcBef>
                          <a:spcPts val="0"/>
                        </a:spcBef>
                        <a:spcAft>
                          <a:spcPts val="0"/>
                        </a:spcAft>
                        <a:buClr>
                          <a:schemeClr val="dk1"/>
                        </a:buClr>
                        <a:buSzPts val="900"/>
                        <a:buChar char="•"/>
                      </a:pPr>
                      <a:r>
                        <a:rPr lang="en" sz="900"/>
                        <a:t>Segments that already contain Sticks’ customer personas are more likely to convert and should be prioritized when selecting expansion locations</a:t>
                      </a:r>
                      <a:endParaRPr sz="900"/>
                    </a:p>
                  </a:txBody>
                  <a:tcPr marL="91450" marR="91450" marT="34300" marB="34300"/>
                </a:tc>
                <a:extLst>
                  <a:ext uri="{0D108BD9-81ED-4DB2-BD59-A6C34878D82A}">
                    <a16:rowId xmlns:a16="http://schemas.microsoft.com/office/drawing/2014/main" val="10007"/>
                  </a:ext>
                </a:extLst>
              </a:tr>
              <a:tr h="1079525">
                <a:tc>
                  <a:txBody>
                    <a:bodyPr/>
                    <a:lstStyle/>
                    <a:p>
                      <a:pPr marL="0" lvl="0" indent="0" algn="l" rtl="0">
                        <a:spcBef>
                          <a:spcPts val="0"/>
                        </a:spcBef>
                        <a:spcAft>
                          <a:spcPts val="0"/>
                        </a:spcAft>
                        <a:buSzPts val="1100"/>
                        <a:buNone/>
                      </a:pPr>
                      <a:r>
                        <a:rPr lang="en" sz="900" b="1" dirty="0"/>
                        <a:t>NOTE:</a:t>
                      </a:r>
                      <a:r>
                        <a:rPr lang="en" sz="900" dirty="0"/>
                        <a:t> Nearly all descriptors had less than 3% missing values, ensuring effective segment analysis</a:t>
                      </a:r>
                      <a:endParaRPr sz="900" dirty="0"/>
                    </a:p>
                  </a:txBody>
                  <a:tcPr marL="91450" marR="91450" marT="34300" marB="34300"/>
                </a:tc>
                <a:tc>
                  <a:txBody>
                    <a:bodyPr/>
                    <a:lstStyle/>
                    <a:p>
                      <a:pPr marL="0" marR="0" lvl="0" indent="0" algn="l" rtl="0">
                        <a:spcBef>
                          <a:spcPts val="0"/>
                        </a:spcBef>
                        <a:spcAft>
                          <a:spcPts val="0"/>
                        </a:spcAft>
                        <a:buNone/>
                      </a:pPr>
                      <a:endParaRPr dirty="0"/>
                    </a:p>
                  </a:txBody>
                  <a:tcPr marL="91450" marR="91450" marT="34300" marB="34300"/>
                </a:tc>
                <a:extLst>
                  <a:ext uri="{0D108BD9-81ED-4DB2-BD59-A6C34878D82A}">
                    <a16:rowId xmlns:a16="http://schemas.microsoft.com/office/drawing/2014/main" val="10008"/>
                  </a:ext>
                </a:extLst>
              </a:tr>
            </a:tbl>
          </a:graphicData>
        </a:graphic>
      </p:graphicFrame>
      <p:pic>
        <p:nvPicPr>
          <p:cNvPr id="2" name="Google Shape;148;p26" descr="A black and orange logo&#10;&#10;AI-generated content may be incorrect.">
            <a:extLst>
              <a:ext uri="{FF2B5EF4-FFF2-40B4-BE49-F238E27FC236}">
                <a16:creationId xmlns:a16="http://schemas.microsoft.com/office/drawing/2014/main" id="{77B5956F-5D7A-4186-25C1-A43873503FD4}"/>
              </a:ext>
            </a:extLst>
          </p:cNvPr>
          <p:cNvPicPr preferRelativeResize="0"/>
          <p:nvPr/>
        </p:nvPicPr>
        <p:blipFill rotWithShape="1">
          <a:blip r:embed="rId3">
            <a:alphaModFix/>
          </a:blip>
          <a:srcRect l="5357" r="10411"/>
          <a:stretch/>
        </p:blipFill>
        <p:spPr>
          <a:xfrm>
            <a:off x="7905729" y="199474"/>
            <a:ext cx="862617" cy="4973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9"/>
        <p:cNvGrpSpPr/>
        <p:nvPr/>
      </p:nvGrpSpPr>
      <p:grpSpPr>
        <a:xfrm>
          <a:off x="0" y="0"/>
          <a:ext cx="0" cy="0"/>
          <a:chOff x="0" y="0"/>
          <a:chExt cx="0" cy="0"/>
        </a:xfrm>
      </p:grpSpPr>
      <p:sp>
        <p:nvSpPr>
          <p:cNvPr id="230" name="Google Shape;230;p30"/>
          <p:cNvSpPr/>
          <p:nvPr/>
        </p:nvSpPr>
        <p:spPr>
          <a:xfrm>
            <a:off x="0" y="0"/>
            <a:ext cx="9143999" cy="514302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231" name="Google Shape;231;p30"/>
          <p:cNvGrpSpPr/>
          <p:nvPr/>
        </p:nvGrpSpPr>
        <p:grpSpPr>
          <a:xfrm>
            <a:off x="55725" y="1788826"/>
            <a:ext cx="430568" cy="1565847"/>
            <a:chOff x="209668" y="2857422"/>
            <a:chExt cx="463662" cy="2087796"/>
          </a:xfrm>
        </p:grpSpPr>
        <p:sp>
          <p:nvSpPr>
            <p:cNvPr id="232" name="Google Shape;232;p30"/>
            <p:cNvSpPr/>
            <p:nvPr/>
          </p:nvSpPr>
          <p:spPr>
            <a:xfrm rot="10800000">
              <a:off x="423947" y="2857422"/>
              <a:ext cx="249383" cy="2087795"/>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233" name="Google Shape;233;p30"/>
            <p:cNvCxnSpPr/>
            <p:nvPr/>
          </p:nvCxnSpPr>
          <p:spPr>
            <a:xfrm flipH="1">
              <a:off x="209668" y="2857423"/>
              <a:ext cx="1" cy="2087795"/>
            </a:xfrm>
            <a:prstGeom prst="straightConnector1">
              <a:avLst/>
            </a:prstGeom>
            <a:noFill/>
            <a:ln w="177800" cap="flat" cmpd="sng">
              <a:solidFill>
                <a:schemeClr val="accent4"/>
              </a:solidFill>
              <a:prstDash val="solid"/>
              <a:round/>
              <a:headEnd type="none" w="sm" len="sm"/>
              <a:tailEnd type="none" w="sm" len="sm"/>
            </a:ln>
          </p:spPr>
        </p:cxnSp>
      </p:grpSp>
      <p:sp>
        <p:nvSpPr>
          <p:cNvPr id="234" name="Google Shape;234;p30"/>
          <p:cNvSpPr/>
          <p:nvPr/>
        </p:nvSpPr>
        <p:spPr>
          <a:xfrm flipH="1">
            <a:off x="8023252" y="0"/>
            <a:ext cx="1120748"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35" name="Google Shape;235;p30"/>
          <p:cNvSpPr/>
          <p:nvPr/>
        </p:nvSpPr>
        <p:spPr>
          <a:xfrm>
            <a:off x="434646" y="473825"/>
            <a:ext cx="8333796" cy="4314303"/>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Calibri"/>
              <a:ea typeface="Calibri"/>
              <a:cs typeface="Calibri"/>
              <a:sym typeface="Calibri"/>
            </a:endParaRPr>
          </a:p>
        </p:txBody>
      </p:sp>
      <p:sp>
        <p:nvSpPr>
          <p:cNvPr id="236" name="Google Shape;236;p30"/>
          <p:cNvSpPr txBox="1">
            <a:spLocks noGrp="1"/>
          </p:cNvSpPr>
          <p:nvPr>
            <p:ph type="title"/>
          </p:nvPr>
        </p:nvSpPr>
        <p:spPr>
          <a:xfrm>
            <a:off x="843422" y="472783"/>
            <a:ext cx="6721572" cy="589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6"/>
              </a:buClr>
              <a:buSzPts val="2400"/>
              <a:buFont typeface="Calibri"/>
              <a:buNone/>
            </a:pPr>
            <a:br>
              <a:rPr lang="en" sz="1600" dirty="0">
                <a:solidFill>
                  <a:schemeClr val="accent6"/>
                </a:solidFill>
              </a:rPr>
            </a:br>
            <a:r>
              <a:rPr lang="en" sz="1600" dirty="0">
                <a:solidFill>
                  <a:schemeClr val="accent6"/>
                </a:solidFill>
              </a:rPr>
              <a:t>Determining the Number of Segments using Elbow Plot</a:t>
            </a:r>
            <a:br>
              <a:rPr lang="en" sz="1600" dirty="0"/>
            </a:br>
            <a:endParaRPr sz="1600" dirty="0">
              <a:solidFill>
                <a:schemeClr val="accent6"/>
              </a:solidFill>
              <a:latin typeface="Calibri"/>
              <a:ea typeface="Calibri"/>
              <a:cs typeface="Calibri"/>
              <a:sym typeface="Calibri"/>
            </a:endParaRPr>
          </a:p>
        </p:txBody>
      </p:sp>
      <p:sp>
        <p:nvSpPr>
          <p:cNvPr id="239" name="Google Shape;239;p30"/>
          <p:cNvSpPr txBox="1"/>
          <p:nvPr/>
        </p:nvSpPr>
        <p:spPr>
          <a:xfrm>
            <a:off x="834955" y="278529"/>
            <a:ext cx="6462734" cy="290906"/>
          </a:xfrm>
          <a:prstGeom prst="rect">
            <a:avLst/>
          </a:prstGeom>
          <a:noFill/>
          <a:ln>
            <a:noFill/>
          </a:ln>
        </p:spPr>
        <p:txBody>
          <a:bodyPr spcFirstLastPara="1" wrap="square" lIns="91425" tIns="45700" rIns="91425" bIns="45700" anchor="ctr" anchorCtr="0">
            <a:noAutofit/>
          </a:bodyPr>
          <a:lstStyle/>
          <a:p>
            <a:pPr lvl="0">
              <a:buClr>
                <a:srgbClr val="D96B3D"/>
              </a:buClr>
              <a:buSzPts val="600"/>
            </a:pPr>
            <a:r>
              <a:rPr lang="en" sz="2400" b="1" dirty="0">
                <a:solidFill>
                  <a:schemeClr val="accent6"/>
                </a:solidFill>
                <a:latin typeface="Calibri" panose="020F0502020204030204" pitchFamily="34" charset="0"/>
                <a:ea typeface="Calibri" panose="020F0502020204030204" pitchFamily="34" charset="0"/>
                <a:cs typeface="Calibri" panose="020F0502020204030204" pitchFamily="34" charset="0"/>
                <a:sym typeface="DM Sans"/>
              </a:rPr>
              <a:t>Cluster Analysis with Base Variables</a:t>
            </a:r>
            <a:endParaRPr sz="2400" b="1" i="0" u="none" strike="noStrike" cap="none" dirty="0">
              <a:solidFill>
                <a:schemeClr val="accent6"/>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241" name="Google Shape;241;p30"/>
          <p:cNvPicPr preferRelativeResize="0"/>
          <p:nvPr/>
        </p:nvPicPr>
        <p:blipFill>
          <a:blip r:embed="rId3">
            <a:alphaModFix/>
          </a:blip>
          <a:stretch>
            <a:fillRect/>
          </a:stretch>
        </p:blipFill>
        <p:spPr>
          <a:xfrm>
            <a:off x="953016" y="1250605"/>
            <a:ext cx="7016811" cy="3331495"/>
          </a:xfrm>
          <a:prstGeom prst="rect">
            <a:avLst/>
          </a:prstGeom>
          <a:noFill/>
          <a:ln>
            <a:noFill/>
          </a:ln>
        </p:spPr>
      </p:pic>
      <p:sp>
        <p:nvSpPr>
          <p:cNvPr id="244" name="Google Shape;244;p30"/>
          <p:cNvSpPr txBox="1"/>
          <p:nvPr/>
        </p:nvSpPr>
        <p:spPr>
          <a:xfrm>
            <a:off x="4052453" y="2150968"/>
            <a:ext cx="2712029" cy="681234"/>
          </a:xfrm>
          <a:prstGeom prst="rect">
            <a:avLst/>
          </a:prstGeom>
          <a:ln w="9525">
            <a:headEnd type="none" w="sm" len="sm"/>
            <a:tailEnd type="none" w="sm" len="sm"/>
          </a:ln>
        </p:spPr>
        <p:style>
          <a:lnRef idx="2">
            <a:schemeClr val="accent3"/>
          </a:lnRef>
          <a:fillRef idx="1">
            <a:schemeClr val="lt1"/>
          </a:fillRef>
          <a:effectRef idx="0">
            <a:schemeClr val="accent3"/>
          </a:effectRef>
          <a:fontRef idx="minor">
            <a:schemeClr val="dk1"/>
          </a:fontRef>
        </p:style>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2"/>
                </a:solidFill>
                <a:latin typeface="Calibri"/>
                <a:ea typeface="Calibri"/>
                <a:cs typeface="Calibri"/>
                <a:sym typeface="Calibri"/>
              </a:rPr>
              <a:t>Identifying the elbow point here allowed us to </a:t>
            </a:r>
            <a:r>
              <a:rPr lang="en" sz="1200" dirty="0">
                <a:solidFill>
                  <a:schemeClr val="tx1"/>
                </a:solidFill>
                <a:latin typeface="Calibri"/>
                <a:ea typeface="Calibri"/>
                <a:cs typeface="Calibri"/>
                <a:sym typeface="Calibri"/>
              </a:rPr>
              <a:t>determine that </a:t>
            </a:r>
            <a:r>
              <a:rPr lang="en" sz="1200" b="1" dirty="0">
                <a:solidFill>
                  <a:schemeClr val="accent6"/>
                </a:solidFill>
                <a:latin typeface="Calibri"/>
                <a:ea typeface="Calibri"/>
                <a:cs typeface="Calibri"/>
                <a:sym typeface="Calibri"/>
              </a:rPr>
              <a:t>6</a:t>
            </a:r>
            <a:r>
              <a:rPr lang="en" sz="1200" dirty="0">
                <a:solidFill>
                  <a:schemeClr val="accent6"/>
                </a:solidFill>
                <a:latin typeface="Calibri"/>
                <a:ea typeface="Calibri"/>
                <a:cs typeface="Calibri"/>
                <a:sym typeface="Calibri"/>
              </a:rPr>
              <a:t> </a:t>
            </a:r>
            <a:r>
              <a:rPr lang="en" sz="1200" dirty="0">
                <a:solidFill>
                  <a:schemeClr val="dk2"/>
                </a:solidFill>
                <a:latin typeface="Calibri"/>
                <a:ea typeface="Calibri"/>
                <a:cs typeface="Calibri"/>
                <a:sym typeface="Calibri"/>
              </a:rPr>
              <a:t>is the optimal number of segments for cluster analysis.</a:t>
            </a:r>
            <a:endParaRPr sz="1200" dirty="0">
              <a:solidFill>
                <a:schemeClr val="dk2"/>
              </a:solidFill>
              <a:latin typeface="Calibri"/>
              <a:ea typeface="Calibri"/>
              <a:cs typeface="Calibri"/>
              <a:sym typeface="Calibri"/>
            </a:endParaRPr>
          </a:p>
        </p:txBody>
      </p:sp>
      <p:cxnSp>
        <p:nvCxnSpPr>
          <p:cNvPr id="4" name="Straight Arrow Connector 3">
            <a:extLst>
              <a:ext uri="{FF2B5EF4-FFF2-40B4-BE49-F238E27FC236}">
                <a16:creationId xmlns:a16="http://schemas.microsoft.com/office/drawing/2014/main" id="{6F78809E-ED2D-2857-7B92-4D6602A8D0A8}"/>
              </a:ext>
            </a:extLst>
          </p:cNvPr>
          <p:cNvCxnSpPr>
            <a:cxnSpLocks/>
          </p:cNvCxnSpPr>
          <p:nvPr/>
        </p:nvCxnSpPr>
        <p:spPr>
          <a:xfrm flipV="1">
            <a:off x="4973520" y="2832202"/>
            <a:ext cx="0" cy="656101"/>
          </a:xfrm>
          <a:prstGeom prst="straightConnector1">
            <a:avLst/>
          </a:prstGeom>
          <a:ln>
            <a:solidFill>
              <a:schemeClr val="accent6">
                <a:lumMod val="60000"/>
                <a:lumOff val="40000"/>
              </a:schemeClr>
            </a:solidFill>
            <a:tailEnd type="triangle"/>
          </a:ln>
        </p:spPr>
        <p:style>
          <a:lnRef idx="3">
            <a:schemeClr val="accent2"/>
          </a:lnRef>
          <a:fillRef idx="0">
            <a:schemeClr val="accent2"/>
          </a:fillRef>
          <a:effectRef idx="2">
            <a:schemeClr val="accent2"/>
          </a:effectRef>
          <a:fontRef idx="minor">
            <a:schemeClr val="tx1"/>
          </a:fontRef>
        </p:style>
      </p:cxnSp>
      <p:sp>
        <p:nvSpPr>
          <p:cNvPr id="6" name="Oval 5">
            <a:extLst>
              <a:ext uri="{FF2B5EF4-FFF2-40B4-BE49-F238E27FC236}">
                <a16:creationId xmlns:a16="http://schemas.microsoft.com/office/drawing/2014/main" id="{A74658CA-2DBB-9F3B-6FAF-6A8BCCD42E0D}"/>
              </a:ext>
            </a:extLst>
          </p:cNvPr>
          <p:cNvSpPr/>
          <p:nvPr/>
        </p:nvSpPr>
        <p:spPr>
          <a:xfrm>
            <a:off x="4754576" y="3503049"/>
            <a:ext cx="394855" cy="301229"/>
          </a:xfrm>
          <a:prstGeom prst="ellipse">
            <a:avLst/>
          </a:prstGeom>
          <a:noFill/>
          <a:ln w="190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oogle Shape;148;p26" descr="A black and orange logo&#10;&#10;AI-generated content may be incorrect.">
            <a:extLst>
              <a:ext uri="{FF2B5EF4-FFF2-40B4-BE49-F238E27FC236}">
                <a16:creationId xmlns:a16="http://schemas.microsoft.com/office/drawing/2014/main" id="{CA904CC8-0264-117F-757A-D394A2B4D781}"/>
              </a:ext>
            </a:extLst>
          </p:cNvPr>
          <p:cNvPicPr preferRelativeResize="0"/>
          <p:nvPr/>
        </p:nvPicPr>
        <p:blipFill rotWithShape="1">
          <a:blip r:embed="rId4">
            <a:alphaModFix/>
          </a:blip>
          <a:srcRect l="5357" r="10411"/>
          <a:stretch/>
        </p:blipFill>
        <p:spPr>
          <a:xfrm>
            <a:off x="7905729" y="199474"/>
            <a:ext cx="862617" cy="4973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8"/>
        <p:cNvGrpSpPr/>
        <p:nvPr/>
      </p:nvGrpSpPr>
      <p:grpSpPr>
        <a:xfrm>
          <a:off x="0" y="0"/>
          <a:ext cx="0" cy="0"/>
          <a:chOff x="0" y="0"/>
          <a:chExt cx="0" cy="0"/>
        </a:xfrm>
      </p:grpSpPr>
      <p:sp>
        <p:nvSpPr>
          <p:cNvPr id="249" name="Google Shape;249;p31"/>
          <p:cNvSpPr/>
          <p:nvPr/>
        </p:nvSpPr>
        <p:spPr>
          <a:xfrm>
            <a:off x="0" y="0"/>
            <a:ext cx="9143999" cy="514302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250" name="Google Shape;250;p31"/>
          <p:cNvGrpSpPr/>
          <p:nvPr/>
        </p:nvGrpSpPr>
        <p:grpSpPr>
          <a:xfrm>
            <a:off x="55725" y="1788826"/>
            <a:ext cx="430568" cy="1565847"/>
            <a:chOff x="209668" y="2857422"/>
            <a:chExt cx="463662" cy="2087796"/>
          </a:xfrm>
        </p:grpSpPr>
        <p:sp>
          <p:nvSpPr>
            <p:cNvPr id="251" name="Google Shape;251;p31"/>
            <p:cNvSpPr/>
            <p:nvPr/>
          </p:nvSpPr>
          <p:spPr>
            <a:xfrm rot="10800000">
              <a:off x="423947" y="2857422"/>
              <a:ext cx="249383" cy="2087795"/>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252" name="Google Shape;252;p31"/>
            <p:cNvCxnSpPr/>
            <p:nvPr/>
          </p:nvCxnSpPr>
          <p:spPr>
            <a:xfrm flipH="1">
              <a:off x="209668" y="2857423"/>
              <a:ext cx="1" cy="2087795"/>
            </a:xfrm>
            <a:prstGeom prst="straightConnector1">
              <a:avLst/>
            </a:prstGeom>
            <a:noFill/>
            <a:ln w="177800" cap="flat" cmpd="sng">
              <a:solidFill>
                <a:schemeClr val="accent4"/>
              </a:solidFill>
              <a:prstDash val="solid"/>
              <a:round/>
              <a:headEnd type="none" w="sm" len="sm"/>
              <a:tailEnd type="none" w="sm" len="sm"/>
            </a:ln>
          </p:spPr>
        </p:cxnSp>
      </p:grpSp>
      <p:sp>
        <p:nvSpPr>
          <p:cNvPr id="253" name="Google Shape;253;p31"/>
          <p:cNvSpPr/>
          <p:nvPr/>
        </p:nvSpPr>
        <p:spPr>
          <a:xfrm flipH="1">
            <a:off x="8023252" y="0"/>
            <a:ext cx="1120748"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54" name="Google Shape;254;p31"/>
          <p:cNvSpPr/>
          <p:nvPr/>
        </p:nvSpPr>
        <p:spPr>
          <a:xfrm>
            <a:off x="434646" y="473825"/>
            <a:ext cx="8333796" cy="4314303"/>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57" name="Google Shape;257;p31"/>
          <p:cNvSpPr txBox="1"/>
          <p:nvPr/>
        </p:nvSpPr>
        <p:spPr>
          <a:xfrm>
            <a:off x="730550" y="962822"/>
            <a:ext cx="3541413" cy="29090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D96B3D"/>
              </a:buClr>
              <a:buSzPts val="600"/>
              <a:buFont typeface="Calibri"/>
              <a:buNone/>
            </a:pPr>
            <a:endParaRPr sz="600" b="1" i="0" u="none" strike="noStrike" cap="none">
              <a:solidFill>
                <a:srgbClr val="C17529"/>
              </a:solidFill>
              <a:latin typeface="Calibri"/>
              <a:ea typeface="Calibri"/>
              <a:cs typeface="Calibri"/>
              <a:sym typeface="Calibri"/>
            </a:endParaRPr>
          </a:p>
        </p:txBody>
      </p:sp>
      <p:pic>
        <p:nvPicPr>
          <p:cNvPr id="258" name="Google Shape;258;p31" descr="Base"/>
          <p:cNvPicPr preferRelativeResize="0"/>
          <p:nvPr/>
        </p:nvPicPr>
        <p:blipFill rotWithShape="1">
          <a:blip r:embed="rId3">
            <a:alphaModFix/>
          </a:blip>
          <a:srcRect t="9323" b="34729"/>
          <a:stretch/>
        </p:blipFill>
        <p:spPr>
          <a:xfrm>
            <a:off x="586975" y="1038250"/>
            <a:ext cx="4775224" cy="3171599"/>
          </a:xfrm>
          <a:prstGeom prst="rect">
            <a:avLst/>
          </a:prstGeom>
          <a:noFill/>
          <a:ln w="9525" cap="flat" cmpd="sng">
            <a:solidFill>
              <a:srgbClr val="000000"/>
            </a:solidFill>
            <a:prstDash val="solid"/>
            <a:round/>
            <a:headEnd type="none" w="sm" len="sm"/>
            <a:tailEnd type="none" w="sm" len="sm"/>
          </a:ln>
        </p:spPr>
      </p:pic>
      <p:sp>
        <p:nvSpPr>
          <p:cNvPr id="259" name="Google Shape;259;p31"/>
          <p:cNvSpPr txBox="1"/>
          <p:nvPr/>
        </p:nvSpPr>
        <p:spPr>
          <a:xfrm>
            <a:off x="513506" y="652292"/>
            <a:ext cx="7430886"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dirty="0">
                <a:solidFill>
                  <a:schemeClr val="accent6"/>
                </a:solidFill>
                <a:latin typeface="Calibri"/>
                <a:ea typeface="Calibri"/>
                <a:cs typeface="Calibri"/>
                <a:sym typeface="Calibri"/>
              </a:rPr>
              <a:t>Segment 3 - Primary Target</a:t>
            </a:r>
            <a:endParaRPr sz="1600" dirty="0">
              <a:solidFill>
                <a:schemeClr val="accent6"/>
              </a:solidFill>
              <a:latin typeface="Calibri"/>
              <a:ea typeface="Calibri"/>
              <a:cs typeface="Calibri"/>
              <a:sym typeface="Calibri"/>
            </a:endParaRPr>
          </a:p>
        </p:txBody>
      </p:sp>
      <p:sp>
        <p:nvSpPr>
          <p:cNvPr id="260" name="Google Shape;260;p31"/>
          <p:cNvSpPr txBox="1"/>
          <p:nvPr/>
        </p:nvSpPr>
        <p:spPr>
          <a:xfrm>
            <a:off x="5607300" y="1051500"/>
            <a:ext cx="2848800" cy="3731750"/>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lang="en-US"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accent6"/>
                </a:solidFill>
                <a:latin typeface="Calibri"/>
                <a:ea typeface="Calibri"/>
                <a:cs typeface="Calibri"/>
                <a:sym typeface="Calibri"/>
              </a:rPr>
              <a:t>Segment 3 </a:t>
            </a:r>
            <a:r>
              <a:rPr lang="en-US" sz="1100" dirty="0">
                <a:solidFill>
                  <a:schemeClr val="dk1"/>
                </a:solidFill>
                <a:latin typeface="Calibri"/>
                <a:ea typeface="Calibri"/>
                <a:cs typeface="Calibri"/>
                <a:sym typeface="Calibri"/>
              </a:rPr>
              <a:t>represents the highest potential customer base for Sticks: </a:t>
            </a:r>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171450" marR="0" lvl="0" indent="-165100" algn="l" rtl="0">
              <a:spcBef>
                <a:spcPts val="0"/>
              </a:spcBef>
              <a:spcAft>
                <a:spcPts val="0"/>
              </a:spcAft>
              <a:buClr>
                <a:schemeClr val="dk1"/>
              </a:buClr>
              <a:buSzPts val="1100"/>
              <a:buFont typeface="Arial"/>
              <a:buChar char="●"/>
            </a:pPr>
            <a:r>
              <a:rPr lang="en" sz="1100" dirty="0">
                <a:solidFill>
                  <a:schemeClr val="dk1"/>
                </a:solidFill>
                <a:latin typeface="Calibri"/>
                <a:ea typeface="Calibri"/>
                <a:cs typeface="Calibri"/>
                <a:sym typeface="Calibri"/>
              </a:rPr>
              <a:t>Largest attractive segment (59% of surveyed customers)</a:t>
            </a:r>
            <a:endParaRPr sz="1100" dirty="0">
              <a:solidFill>
                <a:schemeClr val="dk1"/>
              </a:solidFill>
              <a:latin typeface="Calibri"/>
              <a:ea typeface="Calibri"/>
              <a:cs typeface="Calibri"/>
              <a:sym typeface="Calibri"/>
            </a:endParaRPr>
          </a:p>
          <a:p>
            <a:pPr marL="45720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171450" marR="0" lvl="0" indent="-165100" algn="l" rtl="0">
              <a:spcBef>
                <a:spcPts val="0"/>
              </a:spcBef>
              <a:spcAft>
                <a:spcPts val="0"/>
              </a:spcAft>
              <a:buClr>
                <a:schemeClr val="dk1"/>
              </a:buClr>
              <a:buSzPts val="1100"/>
              <a:buFont typeface="Arial"/>
              <a:buChar char="●"/>
            </a:pPr>
            <a:r>
              <a:rPr lang="en" sz="1100" dirty="0">
                <a:solidFill>
                  <a:schemeClr val="dk1"/>
                </a:solidFill>
                <a:latin typeface="Calibri"/>
                <a:ea typeface="Calibri"/>
                <a:cs typeface="Calibri"/>
                <a:sym typeface="Calibri"/>
              </a:rPr>
              <a:t>Highest restaurant meal consumption, with a rating of 3.97 (highest) for lunch bought at restaurant and 2.51 (lowest) for lunch made at home last week</a:t>
            </a:r>
          </a:p>
          <a:p>
            <a:pPr marL="6350" marR="0" lvl="0" algn="l" rtl="0">
              <a:spcBef>
                <a:spcPts val="0"/>
              </a:spcBef>
              <a:spcAft>
                <a:spcPts val="0"/>
              </a:spcAft>
              <a:buClr>
                <a:schemeClr val="dk1"/>
              </a:buClr>
              <a:buSzPts val="1100"/>
            </a:pPr>
            <a:endParaRPr sz="1100" dirty="0">
              <a:solidFill>
                <a:schemeClr val="dk1"/>
              </a:solidFill>
              <a:latin typeface="Calibri"/>
              <a:ea typeface="Calibri"/>
              <a:cs typeface="Calibri"/>
              <a:sym typeface="Calibri"/>
            </a:endParaRPr>
          </a:p>
          <a:p>
            <a:pPr marL="171450" marR="0" lvl="0" indent="-165100" algn="l" rtl="0">
              <a:lnSpc>
                <a:spcPct val="150000"/>
              </a:lnSpc>
              <a:spcBef>
                <a:spcPts val="0"/>
              </a:spcBef>
              <a:spcAft>
                <a:spcPts val="0"/>
              </a:spcAft>
              <a:buClr>
                <a:schemeClr val="dk1"/>
              </a:buClr>
              <a:buSzPts val="1100"/>
              <a:buFont typeface="Calibri"/>
              <a:buChar char="●"/>
            </a:pPr>
            <a:r>
              <a:rPr lang="en" sz="1100" dirty="0">
                <a:solidFill>
                  <a:schemeClr val="dk1"/>
                </a:solidFill>
                <a:latin typeface="Calibri"/>
                <a:ea typeface="Calibri"/>
                <a:cs typeface="Calibri"/>
                <a:sym typeface="Calibri"/>
              </a:rPr>
              <a:t>Strongly matches Sticks’ core value: </a:t>
            </a:r>
            <a:endParaRPr sz="1100" dirty="0">
              <a:solidFill>
                <a:schemeClr val="dk1"/>
              </a:solidFill>
              <a:latin typeface="Calibri"/>
              <a:ea typeface="Calibri"/>
              <a:cs typeface="Calibri"/>
              <a:sym typeface="Calibri"/>
            </a:endParaRPr>
          </a:p>
          <a:p>
            <a:pPr marL="457200" marR="0" lvl="1" indent="-115888" algn="l" rtl="0">
              <a:lnSpc>
                <a:spcPct val="150000"/>
              </a:lnSpc>
              <a:spcBef>
                <a:spcPts val="0"/>
              </a:spcBef>
              <a:spcAft>
                <a:spcPts val="0"/>
              </a:spcAft>
              <a:buClr>
                <a:schemeClr val="dk1"/>
              </a:buClr>
              <a:buSzPts val="1100"/>
              <a:buFont typeface="Calibri"/>
              <a:buChar char="○"/>
            </a:pPr>
            <a:r>
              <a:rPr lang="en" sz="1100" dirty="0">
                <a:solidFill>
                  <a:schemeClr val="dk1"/>
                </a:solidFill>
                <a:latin typeface="Calibri"/>
                <a:ea typeface="Calibri"/>
                <a:cs typeface="Calibri"/>
                <a:sym typeface="Calibri"/>
              </a:rPr>
              <a:t>High importance on Convenience</a:t>
            </a:r>
          </a:p>
          <a:p>
            <a:pPr marL="457200" marR="0" lvl="1" indent="-115888" algn="l" rtl="0">
              <a:lnSpc>
                <a:spcPct val="150000"/>
              </a:lnSpc>
              <a:spcBef>
                <a:spcPts val="0"/>
              </a:spcBef>
              <a:spcAft>
                <a:spcPts val="0"/>
              </a:spcAft>
              <a:buClr>
                <a:schemeClr val="dk1"/>
              </a:buClr>
              <a:buSzPts val="1100"/>
              <a:buFont typeface="Calibri"/>
              <a:buChar char="○"/>
            </a:pPr>
            <a:r>
              <a:rPr lang="en" sz="1100" dirty="0">
                <a:solidFill>
                  <a:schemeClr val="dk1"/>
                </a:solidFill>
                <a:latin typeface="Calibri"/>
                <a:ea typeface="Calibri"/>
                <a:cs typeface="Calibri"/>
                <a:sym typeface="Calibri"/>
              </a:rPr>
              <a:t>Value for money </a:t>
            </a:r>
          </a:p>
          <a:p>
            <a:pPr marL="457200" marR="0" lvl="1" indent="-115888" algn="l" rtl="0">
              <a:lnSpc>
                <a:spcPct val="150000"/>
              </a:lnSpc>
              <a:spcBef>
                <a:spcPts val="0"/>
              </a:spcBef>
              <a:spcAft>
                <a:spcPts val="0"/>
              </a:spcAft>
              <a:buClr>
                <a:schemeClr val="dk1"/>
              </a:buClr>
              <a:buSzPts val="1100"/>
              <a:buFont typeface="Calibri"/>
              <a:buChar char="○"/>
            </a:pPr>
            <a:r>
              <a:rPr lang="en" sz="1100" dirty="0">
                <a:solidFill>
                  <a:schemeClr val="dk1"/>
                </a:solidFill>
                <a:latin typeface="Calibri"/>
                <a:ea typeface="Calibri"/>
                <a:cs typeface="Calibri"/>
                <a:sym typeface="Calibri"/>
              </a:rPr>
              <a:t>Healthy options </a:t>
            </a:r>
          </a:p>
          <a:p>
            <a:pPr marL="457200" marR="0" lvl="1" indent="-115888" algn="l" rtl="0">
              <a:lnSpc>
                <a:spcPct val="150000"/>
              </a:lnSpc>
              <a:spcBef>
                <a:spcPts val="0"/>
              </a:spcBef>
              <a:spcAft>
                <a:spcPts val="0"/>
              </a:spcAft>
              <a:buClr>
                <a:schemeClr val="dk1"/>
              </a:buClr>
              <a:buSzPts val="1100"/>
              <a:buFont typeface="Calibri"/>
              <a:buChar char="○"/>
            </a:pPr>
            <a:r>
              <a:rPr lang="en" sz="1100" dirty="0">
                <a:solidFill>
                  <a:schemeClr val="dk1"/>
                </a:solidFill>
                <a:latin typeface="Calibri"/>
                <a:ea typeface="Calibri"/>
                <a:cs typeface="Calibri"/>
                <a:sym typeface="Calibri"/>
              </a:rPr>
              <a:t>Friendly staff </a:t>
            </a:r>
            <a:endParaRPr lang="en-US" sz="1100" dirty="0">
              <a:solidFill>
                <a:schemeClr val="dk1"/>
              </a:solidFill>
              <a:latin typeface="Calibri"/>
              <a:ea typeface="Calibri"/>
              <a:cs typeface="Calibri"/>
              <a:sym typeface="Calibri"/>
            </a:endParaRPr>
          </a:p>
          <a:p>
            <a:pPr marL="0" marR="0" lvl="0" indent="0" algn="l" rtl="0">
              <a:spcBef>
                <a:spcPts val="0"/>
              </a:spcBef>
              <a:spcAft>
                <a:spcPts val="0"/>
              </a:spcAft>
              <a:buNone/>
            </a:pPr>
            <a:endParaRPr lang="en-US" sz="1100" dirty="0">
              <a:solidFill>
                <a:schemeClr val="dk1"/>
              </a:solidFill>
              <a:latin typeface="Calibri"/>
              <a:ea typeface="Calibri"/>
              <a:cs typeface="Calibri"/>
              <a:sym typeface="Calibri"/>
            </a:endParaRPr>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p:txBody>
      </p:sp>
      <p:sp>
        <p:nvSpPr>
          <p:cNvPr id="261" name="Google Shape;261;p31"/>
          <p:cNvSpPr txBox="1"/>
          <p:nvPr/>
        </p:nvSpPr>
        <p:spPr>
          <a:xfrm>
            <a:off x="618425" y="4329678"/>
            <a:ext cx="48495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800" b="1">
                <a:solidFill>
                  <a:schemeClr val="dk1"/>
                </a:solidFill>
                <a:latin typeface="Calibri"/>
                <a:ea typeface="Calibri"/>
                <a:cs typeface="Calibri"/>
                <a:sym typeface="Calibri"/>
              </a:rPr>
              <a:t>NOTE: </a:t>
            </a:r>
            <a:r>
              <a:rPr lang="en" sz="800">
                <a:solidFill>
                  <a:schemeClr val="dk1"/>
                </a:solidFill>
                <a:latin typeface="Calibri"/>
                <a:ea typeface="Calibri"/>
                <a:cs typeface="Calibri"/>
                <a:sym typeface="Calibri"/>
              </a:rPr>
              <a:t>Higher numbers indicate decreased importance for each metric in the figure (i.e., the lower the number, the more important the metric is). </a:t>
            </a:r>
            <a:endParaRPr sz="800"/>
          </a:p>
        </p:txBody>
      </p:sp>
      <p:cxnSp>
        <p:nvCxnSpPr>
          <p:cNvPr id="262" name="Google Shape;262;p31"/>
          <p:cNvCxnSpPr/>
          <p:nvPr/>
        </p:nvCxnSpPr>
        <p:spPr>
          <a:xfrm rot="10800000" flipH="1">
            <a:off x="633500" y="4336576"/>
            <a:ext cx="4743900" cy="7500"/>
          </a:xfrm>
          <a:prstGeom prst="straightConnector1">
            <a:avLst/>
          </a:prstGeom>
          <a:noFill/>
          <a:ln w="9525" cap="flat" cmpd="sng">
            <a:solidFill>
              <a:schemeClr val="dk2"/>
            </a:solidFill>
            <a:prstDash val="dash"/>
            <a:round/>
            <a:headEnd type="none" w="med" len="med"/>
            <a:tailEnd type="none" w="med" len="med"/>
          </a:ln>
        </p:spPr>
      </p:cxnSp>
      <p:sp>
        <p:nvSpPr>
          <p:cNvPr id="263" name="Google Shape;263;p31"/>
          <p:cNvSpPr txBox="1"/>
          <p:nvPr/>
        </p:nvSpPr>
        <p:spPr>
          <a:xfrm>
            <a:off x="3936825" y="1847750"/>
            <a:ext cx="335100" cy="165900"/>
          </a:xfrm>
          <a:prstGeom prst="rect">
            <a:avLst/>
          </a:prstGeom>
          <a:noFill/>
          <a:ln w="9525" cap="flat" cmpd="sng">
            <a:solidFill>
              <a:srgbClr val="90571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264" name="Google Shape;264;p31"/>
          <p:cNvSpPr txBox="1"/>
          <p:nvPr/>
        </p:nvSpPr>
        <p:spPr>
          <a:xfrm>
            <a:off x="3941064" y="1847088"/>
            <a:ext cx="335100" cy="165900"/>
          </a:xfrm>
          <a:prstGeom prst="rect">
            <a:avLst/>
          </a:prstGeom>
          <a:noFill/>
          <a:ln w="9525" cap="flat" cmpd="sng">
            <a:solidFill>
              <a:srgbClr val="90571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265" name="Google Shape;265;p31"/>
          <p:cNvSpPr txBox="1"/>
          <p:nvPr/>
        </p:nvSpPr>
        <p:spPr>
          <a:xfrm>
            <a:off x="3941064" y="2651760"/>
            <a:ext cx="335100" cy="165900"/>
          </a:xfrm>
          <a:prstGeom prst="rect">
            <a:avLst/>
          </a:prstGeom>
          <a:noFill/>
          <a:ln w="9525" cap="flat" cmpd="sng">
            <a:solidFill>
              <a:srgbClr val="90571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266" name="Google Shape;266;p31"/>
          <p:cNvSpPr txBox="1"/>
          <p:nvPr/>
        </p:nvSpPr>
        <p:spPr>
          <a:xfrm>
            <a:off x="3941064" y="2991253"/>
            <a:ext cx="335100" cy="165900"/>
          </a:xfrm>
          <a:prstGeom prst="rect">
            <a:avLst/>
          </a:prstGeom>
          <a:noFill/>
          <a:ln w="9525" cap="flat" cmpd="sng">
            <a:solidFill>
              <a:srgbClr val="90571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267" name="Google Shape;267;p31"/>
          <p:cNvSpPr txBox="1"/>
          <p:nvPr/>
        </p:nvSpPr>
        <p:spPr>
          <a:xfrm>
            <a:off x="3941064" y="3173820"/>
            <a:ext cx="335100" cy="165900"/>
          </a:xfrm>
          <a:prstGeom prst="rect">
            <a:avLst/>
          </a:prstGeom>
          <a:noFill/>
          <a:ln w="9525" cap="flat" cmpd="sng">
            <a:solidFill>
              <a:srgbClr val="90571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268" name="Google Shape;268;p31"/>
          <p:cNvSpPr txBox="1"/>
          <p:nvPr/>
        </p:nvSpPr>
        <p:spPr>
          <a:xfrm>
            <a:off x="3941064" y="3484598"/>
            <a:ext cx="335100" cy="165900"/>
          </a:xfrm>
          <a:prstGeom prst="rect">
            <a:avLst/>
          </a:prstGeom>
          <a:noFill/>
          <a:ln w="9525" cap="flat" cmpd="sng">
            <a:solidFill>
              <a:srgbClr val="90571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pic>
        <p:nvPicPr>
          <p:cNvPr id="269" name="Google Shape;269;p31" descr="Business goal or target icon, black dart board (Provided by Getty Images)"/>
          <p:cNvPicPr preferRelativeResize="0"/>
          <p:nvPr/>
        </p:nvPicPr>
        <p:blipFill>
          <a:blip r:embed="rId4">
            <a:alphaModFix/>
          </a:blip>
          <a:stretch>
            <a:fillRect/>
          </a:stretch>
        </p:blipFill>
        <p:spPr>
          <a:xfrm>
            <a:off x="4058403" y="797785"/>
            <a:ext cx="246487" cy="225055"/>
          </a:xfrm>
          <a:prstGeom prst="rect">
            <a:avLst/>
          </a:prstGeom>
          <a:noFill/>
          <a:ln>
            <a:noFill/>
          </a:ln>
        </p:spPr>
      </p:pic>
      <p:sp>
        <p:nvSpPr>
          <p:cNvPr id="2" name="Google Shape;259;p31">
            <a:extLst>
              <a:ext uri="{FF2B5EF4-FFF2-40B4-BE49-F238E27FC236}">
                <a16:creationId xmlns:a16="http://schemas.microsoft.com/office/drawing/2014/main" id="{2F8AC4F7-06CD-D68A-1D5C-933A08863A56}"/>
              </a:ext>
            </a:extLst>
          </p:cNvPr>
          <p:cNvSpPr txBox="1"/>
          <p:nvPr/>
        </p:nvSpPr>
        <p:spPr>
          <a:xfrm>
            <a:off x="466203" y="264586"/>
            <a:ext cx="7430886"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400" b="1" dirty="0">
                <a:solidFill>
                  <a:schemeClr val="accent6"/>
                </a:solidFill>
                <a:latin typeface="Calibri"/>
                <a:ea typeface="Calibri"/>
                <a:cs typeface="Calibri"/>
                <a:sym typeface="Calibri"/>
              </a:rPr>
              <a:t>Customer Segmentation Analysis</a:t>
            </a:r>
            <a:endParaRPr sz="2400" b="1" dirty="0">
              <a:solidFill>
                <a:schemeClr val="accent6"/>
              </a:solidFill>
              <a:latin typeface="Calibri"/>
              <a:ea typeface="Calibri"/>
              <a:cs typeface="Calibri"/>
              <a:sym typeface="Calibri"/>
            </a:endParaRPr>
          </a:p>
        </p:txBody>
      </p:sp>
      <p:sp>
        <p:nvSpPr>
          <p:cNvPr id="3" name="Google Shape;259;p31">
            <a:extLst>
              <a:ext uri="{FF2B5EF4-FFF2-40B4-BE49-F238E27FC236}">
                <a16:creationId xmlns:a16="http://schemas.microsoft.com/office/drawing/2014/main" id="{6B4E0CF8-8E34-84B2-7381-D4430F74E128}"/>
              </a:ext>
            </a:extLst>
          </p:cNvPr>
          <p:cNvSpPr txBox="1"/>
          <p:nvPr/>
        </p:nvSpPr>
        <p:spPr>
          <a:xfrm>
            <a:off x="5593477" y="904677"/>
            <a:ext cx="1339539"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b="1" u="sng" dirty="0">
                <a:solidFill>
                  <a:schemeClr val="accent6"/>
                </a:solidFill>
                <a:latin typeface="Calibri"/>
                <a:ea typeface="Calibri"/>
                <a:cs typeface="Calibri"/>
                <a:sym typeface="Calibri"/>
              </a:rPr>
              <a:t>Key Insights: </a:t>
            </a:r>
            <a:endParaRPr b="1" u="sng" dirty="0">
              <a:solidFill>
                <a:schemeClr val="accent6"/>
              </a:solidFill>
              <a:latin typeface="Calibri"/>
              <a:ea typeface="Calibri"/>
              <a:cs typeface="Calibri"/>
              <a:sym typeface="Calibri"/>
            </a:endParaRPr>
          </a:p>
        </p:txBody>
      </p:sp>
      <p:pic>
        <p:nvPicPr>
          <p:cNvPr id="4" name="Google Shape;148;p26" descr="A black and orange logo&#10;&#10;AI-generated content may be incorrect.">
            <a:extLst>
              <a:ext uri="{FF2B5EF4-FFF2-40B4-BE49-F238E27FC236}">
                <a16:creationId xmlns:a16="http://schemas.microsoft.com/office/drawing/2014/main" id="{154DD197-F61E-AAB1-1032-E9EB59C59CA0}"/>
              </a:ext>
            </a:extLst>
          </p:cNvPr>
          <p:cNvPicPr preferRelativeResize="0"/>
          <p:nvPr/>
        </p:nvPicPr>
        <p:blipFill rotWithShape="1">
          <a:blip r:embed="rId5">
            <a:alphaModFix/>
          </a:blip>
          <a:srcRect l="5357" r="10411"/>
          <a:stretch/>
        </p:blipFill>
        <p:spPr>
          <a:xfrm>
            <a:off x="7905729" y="199474"/>
            <a:ext cx="862617" cy="497320"/>
          </a:xfrm>
          <a:prstGeom prst="rect">
            <a:avLst/>
          </a:prstGeom>
          <a:noFill/>
          <a:ln>
            <a:noFill/>
          </a:ln>
        </p:spPr>
      </p:pic>
      <p:sp>
        <p:nvSpPr>
          <p:cNvPr id="5" name="Google Shape;264;p31">
            <a:extLst>
              <a:ext uri="{FF2B5EF4-FFF2-40B4-BE49-F238E27FC236}">
                <a16:creationId xmlns:a16="http://schemas.microsoft.com/office/drawing/2014/main" id="{6537AF9E-D0F4-A954-2F9E-6A1E41374475}"/>
              </a:ext>
            </a:extLst>
          </p:cNvPr>
          <p:cNvSpPr txBox="1"/>
          <p:nvPr/>
        </p:nvSpPr>
        <p:spPr>
          <a:xfrm>
            <a:off x="3941062" y="2329690"/>
            <a:ext cx="335100" cy="165900"/>
          </a:xfrm>
          <a:prstGeom prst="rect">
            <a:avLst/>
          </a:prstGeom>
          <a:noFill/>
          <a:ln w="9525" cap="flat" cmpd="sng">
            <a:solidFill>
              <a:srgbClr val="90571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4"/>
        <p:cNvGrpSpPr/>
        <p:nvPr/>
      </p:nvGrpSpPr>
      <p:grpSpPr>
        <a:xfrm>
          <a:off x="0" y="0"/>
          <a:ext cx="0" cy="0"/>
          <a:chOff x="0" y="0"/>
          <a:chExt cx="0" cy="0"/>
        </a:xfrm>
      </p:grpSpPr>
      <p:sp>
        <p:nvSpPr>
          <p:cNvPr id="275" name="Google Shape;275;p32"/>
          <p:cNvSpPr/>
          <p:nvPr/>
        </p:nvSpPr>
        <p:spPr>
          <a:xfrm>
            <a:off x="0" y="0"/>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Calibri"/>
              <a:ea typeface="Calibri"/>
              <a:cs typeface="Calibri"/>
              <a:sym typeface="Calibri"/>
            </a:endParaRPr>
          </a:p>
        </p:txBody>
      </p:sp>
      <p:grpSp>
        <p:nvGrpSpPr>
          <p:cNvPr id="276" name="Google Shape;276;p32"/>
          <p:cNvGrpSpPr/>
          <p:nvPr/>
        </p:nvGrpSpPr>
        <p:grpSpPr>
          <a:xfrm>
            <a:off x="55721" y="1788827"/>
            <a:ext cx="430556" cy="1565846"/>
            <a:chOff x="209669" y="2857423"/>
            <a:chExt cx="463661" cy="2087794"/>
          </a:xfrm>
        </p:grpSpPr>
        <p:sp>
          <p:nvSpPr>
            <p:cNvPr id="277" name="Google Shape;277;p32"/>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278" name="Google Shape;278;p32"/>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279" name="Google Shape;279;p32"/>
          <p:cNvSpPr/>
          <p:nvPr/>
        </p:nvSpPr>
        <p:spPr>
          <a:xfrm flipH="1">
            <a:off x="8023200" y="0"/>
            <a:ext cx="1120800"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80" name="Google Shape;280;p32"/>
          <p:cNvSpPr/>
          <p:nvPr/>
        </p:nvSpPr>
        <p:spPr>
          <a:xfrm>
            <a:off x="434646" y="473825"/>
            <a:ext cx="8333700" cy="43143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83" name="Google Shape;283;p32"/>
          <p:cNvSpPr txBox="1"/>
          <p:nvPr/>
        </p:nvSpPr>
        <p:spPr>
          <a:xfrm>
            <a:off x="730550" y="962822"/>
            <a:ext cx="3541500" cy="291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D96B3D"/>
              </a:buClr>
              <a:buSzPts val="600"/>
              <a:buFont typeface="Calibri"/>
              <a:buNone/>
            </a:pPr>
            <a:endParaRPr sz="600" b="1" i="0" u="none" strike="noStrike" cap="none">
              <a:solidFill>
                <a:srgbClr val="C17529"/>
              </a:solidFill>
              <a:latin typeface="Calibri"/>
              <a:ea typeface="Calibri"/>
              <a:cs typeface="Calibri"/>
              <a:sym typeface="Calibri"/>
            </a:endParaRPr>
          </a:p>
        </p:txBody>
      </p:sp>
      <p:sp>
        <p:nvSpPr>
          <p:cNvPr id="285" name="Google Shape;285;p32"/>
          <p:cNvSpPr txBox="1"/>
          <p:nvPr/>
        </p:nvSpPr>
        <p:spPr>
          <a:xfrm>
            <a:off x="559145" y="592104"/>
            <a:ext cx="6290100"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dirty="0">
                <a:solidFill>
                  <a:schemeClr val="accent6"/>
                </a:solidFill>
                <a:latin typeface="Calibri"/>
                <a:ea typeface="Calibri"/>
                <a:cs typeface="Calibri"/>
                <a:sym typeface="Calibri"/>
              </a:rPr>
              <a:t>Segment 5 - Secondary Target</a:t>
            </a:r>
            <a:endParaRPr sz="1600" dirty="0">
              <a:solidFill>
                <a:schemeClr val="accent6"/>
              </a:solidFill>
              <a:latin typeface="Calibri"/>
              <a:ea typeface="Calibri"/>
              <a:cs typeface="Calibri"/>
              <a:sym typeface="Calibri"/>
            </a:endParaRPr>
          </a:p>
        </p:txBody>
      </p:sp>
      <p:pic>
        <p:nvPicPr>
          <p:cNvPr id="284" name="Google Shape;284;p32" descr="Base"/>
          <p:cNvPicPr preferRelativeResize="0"/>
          <p:nvPr/>
        </p:nvPicPr>
        <p:blipFill rotWithShape="1">
          <a:blip r:embed="rId3">
            <a:alphaModFix/>
          </a:blip>
          <a:srcRect t="9320" b="34732"/>
          <a:stretch/>
        </p:blipFill>
        <p:spPr>
          <a:xfrm>
            <a:off x="586975" y="1038250"/>
            <a:ext cx="4775224" cy="3171599"/>
          </a:xfrm>
          <a:prstGeom prst="rect">
            <a:avLst/>
          </a:prstGeom>
          <a:noFill/>
          <a:ln w="9525" cap="flat" cmpd="sng">
            <a:solidFill>
              <a:srgbClr val="000000"/>
            </a:solidFill>
            <a:prstDash val="solid"/>
            <a:round/>
            <a:headEnd type="none" w="sm" len="sm"/>
            <a:tailEnd type="none" w="sm" len="sm"/>
          </a:ln>
        </p:spPr>
      </p:pic>
      <p:sp>
        <p:nvSpPr>
          <p:cNvPr id="286" name="Google Shape;286;p32"/>
          <p:cNvSpPr txBox="1"/>
          <p:nvPr/>
        </p:nvSpPr>
        <p:spPr>
          <a:xfrm>
            <a:off x="5588475" y="1051500"/>
            <a:ext cx="2888400" cy="3308558"/>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endParaRPr lang="en-US" sz="1100" b="1" dirty="0">
              <a:solidFill>
                <a:schemeClr val="accent6"/>
              </a:solidFill>
              <a:latin typeface="Calibri"/>
              <a:ea typeface="Calibri"/>
              <a:cs typeface="Calibri"/>
              <a:sym typeface="Calibri"/>
            </a:endParaRPr>
          </a:p>
          <a:p>
            <a:r>
              <a:rPr lang="en-US" sz="1100" dirty="0">
                <a:solidFill>
                  <a:schemeClr val="accent6"/>
                </a:solidFill>
                <a:latin typeface="Calibri"/>
                <a:ea typeface="Calibri"/>
                <a:cs typeface="Calibri"/>
                <a:sym typeface="Calibri"/>
              </a:rPr>
              <a:t>Segment 5 </a:t>
            </a:r>
            <a:r>
              <a:rPr lang="en-US" sz="1100" dirty="0">
                <a:solidFill>
                  <a:schemeClr val="tx1"/>
                </a:solidFill>
                <a:latin typeface="Calibri"/>
                <a:ea typeface="Calibri"/>
                <a:cs typeface="Calibri"/>
              </a:rPr>
              <a:t>is a large, value-seeking, health-focused group that can be a strong secondary target for Sticks:</a:t>
            </a:r>
          </a:p>
          <a:p>
            <a:pPr lvl="0"/>
            <a:endParaRPr sz="1100" dirty="0">
              <a:solidFill>
                <a:schemeClr val="tx1"/>
              </a:solidFill>
              <a:latin typeface="Calibri"/>
              <a:ea typeface="Calibri"/>
              <a:cs typeface="Calibri"/>
              <a:sym typeface="Calibri"/>
            </a:endParaRPr>
          </a:p>
          <a:p>
            <a:pPr marL="285750" indent="-184150">
              <a:buClr>
                <a:schemeClr val="dk1"/>
              </a:buClr>
              <a:buSzPts val="1100"/>
              <a:buFont typeface="Calibri"/>
              <a:buChar char="●"/>
            </a:pPr>
            <a:r>
              <a:rPr lang="en-US" sz="1100" dirty="0">
                <a:solidFill>
                  <a:schemeClr val="tx1"/>
                </a:solidFill>
                <a:latin typeface="Calibri"/>
                <a:ea typeface="Calibri"/>
                <a:cs typeface="Calibri"/>
              </a:rPr>
              <a:t>Sizeable dining segment: 63% of surveyed customers</a:t>
            </a:r>
          </a:p>
          <a:p>
            <a:pPr marL="101600">
              <a:buClr>
                <a:schemeClr val="dk1"/>
              </a:buClr>
              <a:buSzPts val="1100"/>
            </a:pPr>
            <a:endParaRPr lang="en-US" sz="1100" dirty="0">
              <a:solidFill>
                <a:schemeClr val="tx1"/>
              </a:solidFill>
              <a:latin typeface="Calibri"/>
              <a:ea typeface="Calibri"/>
              <a:cs typeface="Calibri"/>
            </a:endParaRPr>
          </a:p>
          <a:p>
            <a:pPr marL="285750" indent="-184150">
              <a:buClr>
                <a:schemeClr val="dk1"/>
              </a:buClr>
              <a:buSzPts val="1100"/>
              <a:buFont typeface="Calibri"/>
              <a:buChar char="●"/>
            </a:pPr>
            <a:r>
              <a:rPr lang="en-US" sz="1100" dirty="0">
                <a:solidFill>
                  <a:schemeClr val="dk1"/>
                </a:solidFill>
                <a:latin typeface="Calibri"/>
                <a:ea typeface="Calibri"/>
                <a:cs typeface="Calibri"/>
              </a:rPr>
              <a:t>Cost and health conscious: Frequently brings lunch to work, creating an opportunity for Sticks to offer tailored meals that resemble home-made options</a:t>
            </a:r>
          </a:p>
          <a:p>
            <a:pPr marL="101600">
              <a:buClr>
                <a:schemeClr val="dk1"/>
              </a:buClr>
              <a:buSzPts val="1100"/>
            </a:pPr>
            <a:endParaRPr lang="en" sz="1100" dirty="0">
              <a:solidFill>
                <a:schemeClr val="dk1"/>
              </a:solidFill>
              <a:latin typeface="Calibri"/>
              <a:ea typeface="Calibri"/>
              <a:cs typeface="Calibri"/>
              <a:sym typeface="Calibri"/>
            </a:endParaRPr>
          </a:p>
          <a:p>
            <a:pPr marL="285750" lvl="0" indent="-184150">
              <a:buClr>
                <a:schemeClr val="dk1"/>
              </a:buClr>
              <a:buSzPts val="1100"/>
              <a:buFont typeface="Calibri"/>
              <a:buChar char="●"/>
            </a:pPr>
            <a:r>
              <a:rPr lang="en-US" sz="1100" dirty="0">
                <a:solidFill>
                  <a:schemeClr val="dk1"/>
                </a:solidFill>
                <a:latin typeface="Calibri"/>
                <a:ea typeface="Calibri"/>
                <a:cs typeface="Calibri"/>
              </a:rPr>
              <a:t>Value for money is a key decision factor</a:t>
            </a:r>
          </a:p>
          <a:p>
            <a:pPr marL="101600" lvl="0">
              <a:buClr>
                <a:schemeClr val="dk1"/>
              </a:buClr>
              <a:buSzPts val="1100"/>
            </a:pPr>
            <a:endParaRPr sz="1100" dirty="0">
              <a:solidFill>
                <a:schemeClr val="dk1"/>
              </a:solidFill>
              <a:latin typeface="Calibri"/>
              <a:ea typeface="Calibri"/>
              <a:cs typeface="Calibri"/>
              <a:sym typeface="Calibri"/>
            </a:endParaRPr>
          </a:p>
          <a:p>
            <a:pPr marL="285750" indent="-184150">
              <a:buClr>
                <a:schemeClr val="dk1"/>
              </a:buClr>
              <a:buSzPts val="1100"/>
              <a:buFont typeface="Calibri"/>
              <a:buChar char="●"/>
            </a:pPr>
            <a:r>
              <a:rPr lang="en-US" sz="1100" dirty="0">
                <a:solidFill>
                  <a:schemeClr val="dk1"/>
                </a:solidFill>
                <a:latin typeface="Calibri"/>
                <a:ea typeface="Calibri"/>
                <a:cs typeface="Calibri"/>
              </a:rPr>
              <a:t>Care about great taste and high quality</a:t>
            </a:r>
          </a:p>
          <a:p>
            <a:pPr marL="101600" lvl="0" algn="l" rtl="0">
              <a:spcBef>
                <a:spcPts val="0"/>
              </a:spcBef>
              <a:spcAft>
                <a:spcPts val="0"/>
              </a:spcAft>
              <a:buClr>
                <a:schemeClr val="dk1"/>
              </a:buClr>
              <a:buSzPts val="1100"/>
            </a:pPr>
            <a:endParaRPr sz="1100" dirty="0">
              <a:solidFill>
                <a:schemeClr val="dk1"/>
              </a:solidFill>
              <a:latin typeface="Calibri"/>
              <a:ea typeface="Calibri"/>
              <a:cs typeface="Calibri"/>
              <a:sym typeface="Calibri"/>
            </a:endParaRPr>
          </a:p>
          <a:p>
            <a:pPr marL="101600" lvl="0" algn="l" rtl="0">
              <a:spcBef>
                <a:spcPts val="0"/>
              </a:spcBef>
              <a:spcAft>
                <a:spcPts val="0"/>
              </a:spcAft>
              <a:buClr>
                <a:schemeClr val="dk1"/>
              </a:buClr>
              <a:buSzPts val="1100"/>
            </a:pPr>
            <a:endParaRPr lang="en-US" sz="1100" dirty="0">
              <a:solidFill>
                <a:schemeClr val="dk1"/>
              </a:solidFill>
              <a:latin typeface="Calibri"/>
              <a:ea typeface="Calibri"/>
              <a:cs typeface="Calibri"/>
              <a:sym typeface="Calibri"/>
            </a:endParaRPr>
          </a:p>
          <a:p>
            <a:pPr marL="101600" lvl="0" algn="l" rtl="0">
              <a:spcBef>
                <a:spcPts val="0"/>
              </a:spcBef>
              <a:spcAft>
                <a:spcPts val="0"/>
              </a:spcAft>
              <a:buClr>
                <a:schemeClr val="dk1"/>
              </a:buClr>
              <a:buSzPts val="1100"/>
            </a:pPr>
            <a:endParaRPr lang="en-US" sz="1100" dirty="0">
              <a:solidFill>
                <a:schemeClr val="dk1"/>
              </a:solidFill>
              <a:latin typeface="Calibri"/>
              <a:ea typeface="Calibri"/>
              <a:cs typeface="Calibri"/>
              <a:sym typeface="Calibri"/>
            </a:endParaRPr>
          </a:p>
        </p:txBody>
      </p:sp>
      <p:sp>
        <p:nvSpPr>
          <p:cNvPr id="287" name="Google Shape;287;p32"/>
          <p:cNvSpPr txBox="1"/>
          <p:nvPr/>
        </p:nvSpPr>
        <p:spPr>
          <a:xfrm>
            <a:off x="618425" y="4329678"/>
            <a:ext cx="48495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800" b="1">
                <a:solidFill>
                  <a:schemeClr val="dk1"/>
                </a:solidFill>
                <a:latin typeface="Calibri"/>
                <a:ea typeface="Calibri"/>
                <a:cs typeface="Calibri"/>
                <a:sym typeface="Calibri"/>
              </a:rPr>
              <a:t>NOTE: </a:t>
            </a:r>
            <a:r>
              <a:rPr lang="en" sz="800">
                <a:solidFill>
                  <a:schemeClr val="dk1"/>
                </a:solidFill>
                <a:latin typeface="Calibri"/>
                <a:ea typeface="Calibri"/>
                <a:cs typeface="Calibri"/>
                <a:sym typeface="Calibri"/>
              </a:rPr>
              <a:t>Higher numbers indicate decreased importance for each metric in the figure (i.e., the lower the number, the more important the metric is). </a:t>
            </a:r>
            <a:endParaRPr sz="800"/>
          </a:p>
        </p:txBody>
      </p:sp>
      <p:cxnSp>
        <p:nvCxnSpPr>
          <p:cNvPr id="288" name="Google Shape;288;p32"/>
          <p:cNvCxnSpPr/>
          <p:nvPr/>
        </p:nvCxnSpPr>
        <p:spPr>
          <a:xfrm rot="10800000" flipH="1">
            <a:off x="633500" y="4336576"/>
            <a:ext cx="4743900" cy="7500"/>
          </a:xfrm>
          <a:prstGeom prst="straightConnector1">
            <a:avLst/>
          </a:prstGeom>
          <a:noFill/>
          <a:ln w="9525" cap="flat" cmpd="sng">
            <a:solidFill>
              <a:schemeClr val="dk2"/>
            </a:solidFill>
            <a:prstDash val="dash"/>
            <a:round/>
            <a:headEnd type="none" w="med" len="med"/>
            <a:tailEnd type="none" w="med" len="med"/>
          </a:ln>
        </p:spPr>
      </p:cxnSp>
      <p:pic>
        <p:nvPicPr>
          <p:cNvPr id="2" name="Google Shape;292;p32" descr="Business goal or target icon, black dart board (Provided by Getty Images)">
            <a:extLst>
              <a:ext uri="{FF2B5EF4-FFF2-40B4-BE49-F238E27FC236}">
                <a16:creationId xmlns:a16="http://schemas.microsoft.com/office/drawing/2014/main" id="{E9ACBCDC-DEA4-0401-F955-FD8CB852841E}"/>
              </a:ext>
            </a:extLst>
          </p:cNvPr>
          <p:cNvPicPr preferRelativeResize="0"/>
          <p:nvPr/>
        </p:nvPicPr>
        <p:blipFill>
          <a:blip r:embed="rId4">
            <a:alphaModFix/>
          </a:blip>
          <a:stretch>
            <a:fillRect/>
          </a:stretch>
        </p:blipFill>
        <p:spPr>
          <a:xfrm>
            <a:off x="4055240" y="773348"/>
            <a:ext cx="247646" cy="249806"/>
          </a:xfrm>
          <a:prstGeom prst="rect">
            <a:avLst/>
          </a:prstGeom>
          <a:noFill/>
          <a:ln>
            <a:noFill/>
          </a:ln>
        </p:spPr>
      </p:pic>
      <p:pic>
        <p:nvPicPr>
          <p:cNvPr id="292" name="Google Shape;292;p32" descr="Business goal or target icon, black dart board (Provided by Getty Images)"/>
          <p:cNvPicPr preferRelativeResize="0"/>
          <p:nvPr/>
        </p:nvPicPr>
        <p:blipFill>
          <a:blip r:embed="rId4">
            <a:alphaModFix/>
          </a:blip>
          <a:stretch>
            <a:fillRect/>
          </a:stretch>
        </p:blipFill>
        <p:spPr>
          <a:xfrm>
            <a:off x="4823632" y="772229"/>
            <a:ext cx="247646" cy="249806"/>
          </a:xfrm>
          <a:prstGeom prst="rect">
            <a:avLst/>
          </a:prstGeom>
          <a:noFill/>
          <a:ln>
            <a:noFill/>
          </a:ln>
        </p:spPr>
      </p:pic>
      <p:sp>
        <p:nvSpPr>
          <p:cNvPr id="4" name="Google Shape;259;p31">
            <a:extLst>
              <a:ext uri="{FF2B5EF4-FFF2-40B4-BE49-F238E27FC236}">
                <a16:creationId xmlns:a16="http://schemas.microsoft.com/office/drawing/2014/main" id="{5D18AF69-7D6F-7E1E-067F-9CFCEA194826}"/>
              </a:ext>
            </a:extLst>
          </p:cNvPr>
          <p:cNvSpPr txBox="1"/>
          <p:nvPr/>
        </p:nvSpPr>
        <p:spPr>
          <a:xfrm>
            <a:off x="486277" y="212361"/>
            <a:ext cx="7430886" cy="461624"/>
          </a:xfrm>
          <a:prstGeom prst="rect">
            <a:avLst/>
          </a:prstGeom>
          <a:noFill/>
          <a:ln>
            <a:noFill/>
          </a:ln>
        </p:spPr>
        <p:txBody>
          <a:bodyPr spcFirstLastPara="1" wrap="square" lIns="91425" tIns="45700" rIns="91425" bIns="45700" anchor="t" anchorCtr="0">
            <a:spAutoFit/>
          </a:bodyPr>
          <a:lstStyle/>
          <a:p>
            <a:pPr lvl="0"/>
            <a:r>
              <a:rPr lang="en-US" sz="2400" b="1" dirty="0">
                <a:solidFill>
                  <a:schemeClr val="accent6"/>
                </a:solidFill>
                <a:latin typeface="Calibri"/>
                <a:ea typeface="Calibri"/>
                <a:cs typeface="Calibri"/>
                <a:sym typeface="Calibri"/>
              </a:rPr>
              <a:t>Customer Segmentation Analysis</a:t>
            </a:r>
          </a:p>
        </p:txBody>
      </p:sp>
      <p:sp>
        <p:nvSpPr>
          <p:cNvPr id="289" name="Google Shape;289;p32"/>
          <p:cNvSpPr txBox="1"/>
          <p:nvPr/>
        </p:nvSpPr>
        <p:spPr>
          <a:xfrm>
            <a:off x="4698550" y="2011156"/>
            <a:ext cx="335100" cy="165900"/>
          </a:xfrm>
          <a:prstGeom prst="rect">
            <a:avLst/>
          </a:prstGeom>
          <a:noFill/>
          <a:ln w="9525" cap="flat" cmpd="sng">
            <a:solidFill>
              <a:srgbClr val="90571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290" name="Google Shape;290;p32"/>
          <p:cNvSpPr txBox="1"/>
          <p:nvPr/>
        </p:nvSpPr>
        <p:spPr>
          <a:xfrm>
            <a:off x="4698549" y="2991230"/>
            <a:ext cx="335100" cy="496500"/>
          </a:xfrm>
          <a:prstGeom prst="rect">
            <a:avLst/>
          </a:prstGeom>
          <a:noFill/>
          <a:ln w="9525" cap="flat" cmpd="sng">
            <a:solidFill>
              <a:srgbClr val="90571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3" name="Google Shape;289;p32">
            <a:extLst>
              <a:ext uri="{FF2B5EF4-FFF2-40B4-BE49-F238E27FC236}">
                <a16:creationId xmlns:a16="http://schemas.microsoft.com/office/drawing/2014/main" id="{93BDA026-51BA-AD49-8EAA-D6FD2A6368E6}"/>
              </a:ext>
            </a:extLst>
          </p:cNvPr>
          <p:cNvSpPr txBox="1"/>
          <p:nvPr/>
        </p:nvSpPr>
        <p:spPr>
          <a:xfrm>
            <a:off x="4656082" y="1204398"/>
            <a:ext cx="335100" cy="314321"/>
          </a:xfrm>
          <a:prstGeom prst="rect">
            <a:avLst/>
          </a:prstGeom>
          <a:noFill/>
          <a:ln w="9525" cap="flat" cmpd="sng">
            <a:solidFill>
              <a:srgbClr val="90571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5" name="Google Shape;259;p31">
            <a:extLst>
              <a:ext uri="{FF2B5EF4-FFF2-40B4-BE49-F238E27FC236}">
                <a16:creationId xmlns:a16="http://schemas.microsoft.com/office/drawing/2014/main" id="{C8EEB88C-CD68-3FB6-BAEB-CB24593A898E}"/>
              </a:ext>
            </a:extLst>
          </p:cNvPr>
          <p:cNvSpPr txBox="1"/>
          <p:nvPr/>
        </p:nvSpPr>
        <p:spPr>
          <a:xfrm>
            <a:off x="5593477" y="904677"/>
            <a:ext cx="1339539"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b="1" u="sng" dirty="0">
                <a:solidFill>
                  <a:schemeClr val="accent6"/>
                </a:solidFill>
                <a:latin typeface="Calibri"/>
                <a:ea typeface="Calibri"/>
                <a:cs typeface="Calibri"/>
                <a:sym typeface="Calibri"/>
              </a:rPr>
              <a:t>Key Insights: </a:t>
            </a:r>
            <a:endParaRPr b="1" u="sng" dirty="0">
              <a:solidFill>
                <a:schemeClr val="accent6"/>
              </a:solidFill>
              <a:latin typeface="Calibri"/>
              <a:ea typeface="Calibri"/>
              <a:cs typeface="Calibri"/>
              <a:sym typeface="Calibri"/>
            </a:endParaRPr>
          </a:p>
        </p:txBody>
      </p:sp>
      <p:pic>
        <p:nvPicPr>
          <p:cNvPr id="6" name="Google Shape;148;p26" descr="A black and orange logo&#10;&#10;AI-generated content may be incorrect.">
            <a:extLst>
              <a:ext uri="{FF2B5EF4-FFF2-40B4-BE49-F238E27FC236}">
                <a16:creationId xmlns:a16="http://schemas.microsoft.com/office/drawing/2014/main" id="{09834FBA-6FD7-23F0-A898-4515E9BE2D4F}"/>
              </a:ext>
            </a:extLst>
          </p:cNvPr>
          <p:cNvPicPr preferRelativeResize="0"/>
          <p:nvPr/>
        </p:nvPicPr>
        <p:blipFill rotWithShape="1">
          <a:blip r:embed="rId5">
            <a:alphaModFix/>
          </a:blip>
          <a:srcRect l="5357" r="10411"/>
          <a:stretch/>
        </p:blipFill>
        <p:spPr>
          <a:xfrm>
            <a:off x="7905729" y="199474"/>
            <a:ext cx="862617" cy="4973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7"/>
        <p:cNvGrpSpPr/>
        <p:nvPr/>
      </p:nvGrpSpPr>
      <p:grpSpPr>
        <a:xfrm>
          <a:off x="0" y="0"/>
          <a:ext cx="0" cy="0"/>
          <a:chOff x="0" y="0"/>
          <a:chExt cx="0" cy="0"/>
        </a:xfrm>
      </p:grpSpPr>
      <p:sp>
        <p:nvSpPr>
          <p:cNvPr id="298" name="Google Shape;298;p33"/>
          <p:cNvSpPr/>
          <p:nvPr/>
        </p:nvSpPr>
        <p:spPr>
          <a:xfrm>
            <a:off x="29496" y="-68955"/>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299" name="Google Shape;299;p33"/>
          <p:cNvGrpSpPr/>
          <p:nvPr/>
        </p:nvGrpSpPr>
        <p:grpSpPr>
          <a:xfrm>
            <a:off x="55721" y="1788827"/>
            <a:ext cx="430556" cy="1565846"/>
            <a:chOff x="209669" y="2857423"/>
            <a:chExt cx="463661" cy="2087794"/>
          </a:xfrm>
        </p:grpSpPr>
        <p:sp>
          <p:nvSpPr>
            <p:cNvPr id="300" name="Google Shape;300;p33"/>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301" name="Google Shape;301;p33"/>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302" name="Google Shape;302;p33"/>
          <p:cNvSpPr/>
          <p:nvPr/>
        </p:nvSpPr>
        <p:spPr>
          <a:xfrm flipH="1">
            <a:off x="8057068" y="-67736"/>
            <a:ext cx="1120800" cy="5211236"/>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03" name="Google Shape;303;p33"/>
          <p:cNvSpPr/>
          <p:nvPr/>
        </p:nvSpPr>
        <p:spPr>
          <a:xfrm>
            <a:off x="434646" y="473825"/>
            <a:ext cx="8333700" cy="43143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04" name="Google Shape;304;p33"/>
          <p:cNvSpPr txBox="1">
            <a:spLocks noGrp="1"/>
          </p:cNvSpPr>
          <p:nvPr>
            <p:ph type="title"/>
          </p:nvPr>
        </p:nvSpPr>
        <p:spPr>
          <a:xfrm>
            <a:off x="763277" y="683435"/>
            <a:ext cx="6936501" cy="534850"/>
          </a:xfrm>
          <a:prstGeom prst="rect">
            <a:avLst/>
          </a:prstGeom>
          <a:noFill/>
          <a:ln>
            <a:noFill/>
          </a:ln>
        </p:spPr>
        <p:txBody>
          <a:bodyPr spcFirstLastPara="1" wrap="square" lIns="91425" tIns="45700" rIns="91425" bIns="45700" anchor="ctr" anchorCtr="0">
            <a:noAutofit/>
          </a:bodyPr>
          <a:lstStyle/>
          <a:p>
            <a:pPr lvl="0" algn="l">
              <a:buClr>
                <a:schemeClr val="accent6"/>
              </a:buClr>
              <a:buSzPts val="2400"/>
            </a:pPr>
            <a:r>
              <a:rPr lang="en-US" sz="1600" dirty="0">
                <a:solidFill>
                  <a:schemeClr val="accent6"/>
                </a:solidFill>
              </a:rPr>
              <a:t>Segments 3 and 5: The Most Aligned and Conversion-Ready Audiences</a:t>
            </a:r>
            <a:endParaRPr sz="1600" dirty="0">
              <a:solidFill>
                <a:schemeClr val="accent6"/>
              </a:solidFill>
            </a:endParaRPr>
          </a:p>
        </p:txBody>
      </p:sp>
      <p:sp>
        <p:nvSpPr>
          <p:cNvPr id="313" name="Google Shape;313;p33"/>
          <p:cNvSpPr txBox="1"/>
          <p:nvPr/>
        </p:nvSpPr>
        <p:spPr>
          <a:xfrm>
            <a:off x="7072247" y="2610844"/>
            <a:ext cx="591000" cy="369300"/>
          </a:xfrm>
          <a:prstGeom prst="rect">
            <a:avLst/>
          </a:prstGeom>
          <a:noFill/>
          <a:ln w="12700" cap="flat" cmpd="sng">
            <a:solidFill>
              <a:schemeClr val="accent1"/>
            </a:solidFill>
            <a:prstDash val="dash"/>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4" name="Google Shape;314;p33"/>
          <p:cNvSpPr txBox="1"/>
          <p:nvPr/>
        </p:nvSpPr>
        <p:spPr>
          <a:xfrm>
            <a:off x="830754" y="3295981"/>
            <a:ext cx="7878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200" b="1" dirty="0">
                <a:solidFill>
                  <a:schemeClr val="accent6"/>
                </a:solidFill>
                <a:latin typeface="Calibri"/>
                <a:ea typeface="Calibri"/>
                <a:cs typeface="Calibri"/>
                <a:sym typeface="Calibri"/>
              </a:rPr>
              <a:t>Further validating why Segment 3 and  Segment 5 prove to be the most attractive</a:t>
            </a:r>
            <a:endParaRPr b="1" dirty="0"/>
          </a:p>
        </p:txBody>
      </p:sp>
      <p:sp>
        <p:nvSpPr>
          <p:cNvPr id="315" name="Google Shape;315;p33"/>
          <p:cNvSpPr txBox="1"/>
          <p:nvPr/>
        </p:nvSpPr>
        <p:spPr>
          <a:xfrm>
            <a:off x="886856" y="3617039"/>
            <a:ext cx="7512077" cy="723235"/>
          </a:xfrm>
          <a:prstGeom prst="rect">
            <a:avLst/>
          </a:prstGeom>
          <a:noFill/>
          <a:ln>
            <a:noFill/>
          </a:ln>
        </p:spPr>
        <p:txBody>
          <a:bodyPr spcFirstLastPara="1" wrap="square" lIns="91425" tIns="45700" rIns="91425" bIns="45700" anchor="t" anchorCtr="0">
            <a:spAutoFit/>
          </a:bodyPr>
          <a:lstStyle/>
          <a:p>
            <a:pPr marL="171450" marR="0" lvl="0" indent="-171450" algn="l" rtl="0">
              <a:spcBef>
                <a:spcPts val="0"/>
              </a:spcBef>
              <a:spcAft>
                <a:spcPts val="0"/>
              </a:spcAft>
              <a:buClr>
                <a:schemeClr val="dk1"/>
              </a:buClr>
              <a:buSzPts val="1200"/>
              <a:buChar char="•"/>
            </a:pPr>
            <a:r>
              <a:rPr lang="en" sz="1200" dirty="0">
                <a:solidFill>
                  <a:schemeClr val="dk1"/>
                </a:solidFill>
                <a:latin typeface="Calibri"/>
                <a:ea typeface="Calibri"/>
                <a:cs typeface="Calibri"/>
                <a:sym typeface="Calibri"/>
              </a:rPr>
              <a:t>Segments 3 and 5 have a high concentration of existing customers making it a prime target for market penetration</a:t>
            </a:r>
          </a:p>
          <a:p>
            <a:pPr marR="0" lvl="0" algn="l" rtl="0">
              <a:spcBef>
                <a:spcPts val="0"/>
              </a:spcBef>
              <a:spcAft>
                <a:spcPts val="0"/>
              </a:spcAft>
              <a:buClr>
                <a:schemeClr val="dk1"/>
              </a:buClr>
              <a:buSzPts val="1200"/>
            </a:pPr>
            <a:endParaRPr lang="en" sz="500" dirty="0">
              <a:solidFill>
                <a:schemeClr val="dk1"/>
              </a:solidFill>
              <a:latin typeface="Calibri"/>
              <a:ea typeface="Calibri"/>
              <a:cs typeface="Calibri"/>
              <a:sym typeface="Calibri"/>
            </a:endParaRPr>
          </a:p>
          <a:p>
            <a:pPr marL="171450" indent="-171450">
              <a:buClr>
                <a:schemeClr val="dk1"/>
              </a:buClr>
              <a:buSzPts val="1200"/>
              <a:buFont typeface="Arial"/>
              <a:buChar char="•"/>
            </a:pPr>
            <a:r>
              <a:rPr lang="en-US" sz="1200" dirty="0">
                <a:latin typeface="Calibri" panose="020F0502020204030204" pitchFamily="34" charset="0"/>
                <a:cs typeface="Calibri" panose="020F0502020204030204" pitchFamily="34" charset="0"/>
              </a:rPr>
              <a:t>The high percentage of customers also indicates a strong existing alignment with Sticks’ value proposition, suggesting that targeted marketing efforts can drive strong conversion rates</a:t>
            </a:r>
            <a:r>
              <a:rPr lang="en" sz="1200" dirty="0">
                <a:solidFill>
                  <a:schemeClr val="dk1"/>
                </a:solidFill>
                <a:latin typeface="Calibri"/>
                <a:ea typeface="Calibri"/>
                <a:cs typeface="Calibri"/>
                <a:sym typeface="Calibri"/>
              </a:rPr>
              <a:t> </a:t>
            </a:r>
            <a:endParaRPr dirty="0"/>
          </a:p>
        </p:txBody>
      </p:sp>
      <p:pic>
        <p:nvPicPr>
          <p:cNvPr id="316" name="Google Shape;316;p33"/>
          <p:cNvPicPr preferRelativeResize="0"/>
          <p:nvPr/>
        </p:nvPicPr>
        <p:blipFill>
          <a:blip r:embed="rId3">
            <a:alphaModFix/>
          </a:blip>
          <a:srcRect t="23184"/>
          <a:stretch>
            <a:fillRect/>
          </a:stretch>
        </p:blipFill>
        <p:spPr>
          <a:xfrm>
            <a:off x="846230" y="1455197"/>
            <a:ext cx="7410450" cy="15657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Google Shape;259;p31">
            <a:extLst>
              <a:ext uri="{FF2B5EF4-FFF2-40B4-BE49-F238E27FC236}">
                <a16:creationId xmlns:a16="http://schemas.microsoft.com/office/drawing/2014/main" id="{2AD9FDA9-E15C-7C75-EE76-B5ED4B0B331B}"/>
              </a:ext>
            </a:extLst>
          </p:cNvPr>
          <p:cNvSpPr txBox="1"/>
          <p:nvPr/>
        </p:nvSpPr>
        <p:spPr>
          <a:xfrm>
            <a:off x="719272" y="404268"/>
            <a:ext cx="7430886" cy="461624"/>
          </a:xfrm>
          <a:prstGeom prst="rect">
            <a:avLst/>
          </a:prstGeom>
          <a:noFill/>
          <a:ln>
            <a:noFill/>
          </a:ln>
        </p:spPr>
        <p:txBody>
          <a:bodyPr spcFirstLastPara="1" wrap="square" lIns="91425" tIns="45700" rIns="91425" bIns="45700" anchor="t" anchorCtr="0">
            <a:spAutoFit/>
          </a:bodyPr>
          <a:lstStyle/>
          <a:p>
            <a:pPr lvl="0"/>
            <a:r>
              <a:rPr lang="en-US" sz="2400" b="1" dirty="0">
                <a:solidFill>
                  <a:schemeClr val="accent6"/>
                </a:solidFill>
                <a:latin typeface="Calibri"/>
                <a:ea typeface="Calibri"/>
                <a:cs typeface="Calibri"/>
                <a:sym typeface="Calibri"/>
              </a:rPr>
              <a:t>Customer Segmentation Analysis</a:t>
            </a:r>
          </a:p>
        </p:txBody>
      </p:sp>
      <p:sp>
        <p:nvSpPr>
          <p:cNvPr id="3" name="Google Shape;289;p32">
            <a:extLst>
              <a:ext uri="{FF2B5EF4-FFF2-40B4-BE49-F238E27FC236}">
                <a16:creationId xmlns:a16="http://schemas.microsoft.com/office/drawing/2014/main" id="{E7C33CA5-BB18-1ADA-BD13-92A65C3EC899}"/>
              </a:ext>
            </a:extLst>
          </p:cNvPr>
          <p:cNvSpPr txBox="1"/>
          <p:nvPr/>
        </p:nvSpPr>
        <p:spPr>
          <a:xfrm>
            <a:off x="7543298" y="2043201"/>
            <a:ext cx="450405" cy="196040"/>
          </a:xfrm>
          <a:prstGeom prst="rect">
            <a:avLst/>
          </a:prstGeom>
          <a:noFill/>
          <a:ln w="9525" cap="flat" cmpd="sng">
            <a:solidFill>
              <a:srgbClr val="90571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6" name="Google Shape;289;p32">
            <a:extLst>
              <a:ext uri="{FF2B5EF4-FFF2-40B4-BE49-F238E27FC236}">
                <a16:creationId xmlns:a16="http://schemas.microsoft.com/office/drawing/2014/main" id="{28473782-A793-2573-E3BE-9A487A22A394}"/>
              </a:ext>
            </a:extLst>
          </p:cNvPr>
          <p:cNvSpPr txBox="1"/>
          <p:nvPr/>
        </p:nvSpPr>
        <p:spPr>
          <a:xfrm>
            <a:off x="7551587" y="2434935"/>
            <a:ext cx="450405" cy="196040"/>
          </a:xfrm>
          <a:prstGeom prst="rect">
            <a:avLst/>
          </a:prstGeom>
          <a:noFill/>
          <a:ln w="9525" cap="flat" cmpd="sng">
            <a:solidFill>
              <a:srgbClr val="90571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pic>
        <p:nvPicPr>
          <p:cNvPr id="2" name="Google Shape;148;p26" descr="A black and orange logo&#10;&#10;AI-generated content may be incorrect.">
            <a:extLst>
              <a:ext uri="{FF2B5EF4-FFF2-40B4-BE49-F238E27FC236}">
                <a16:creationId xmlns:a16="http://schemas.microsoft.com/office/drawing/2014/main" id="{985E4C1C-BB26-4922-5487-8AA229A5D673}"/>
              </a:ext>
            </a:extLst>
          </p:cNvPr>
          <p:cNvPicPr preferRelativeResize="0"/>
          <p:nvPr/>
        </p:nvPicPr>
        <p:blipFill rotWithShape="1">
          <a:blip r:embed="rId4">
            <a:alphaModFix/>
          </a:blip>
          <a:srcRect l="5357" r="10411"/>
          <a:stretch/>
        </p:blipFill>
        <p:spPr>
          <a:xfrm>
            <a:off x="7905729" y="199474"/>
            <a:ext cx="862617" cy="4973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5"/>
        <p:cNvGrpSpPr/>
        <p:nvPr/>
      </p:nvGrpSpPr>
      <p:grpSpPr>
        <a:xfrm>
          <a:off x="0" y="0"/>
          <a:ext cx="0" cy="0"/>
          <a:chOff x="0" y="0"/>
          <a:chExt cx="0" cy="0"/>
        </a:xfrm>
      </p:grpSpPr>
      <p:sp>
        <p:nvSpPr>
          <p:cNvPr id="366" name="Google Shape;366;p36"/>
          <p:cNvSpPr/>
          <p:nvPr/>
        </p:nvSpPr>
        <p:spPr>
          <a:xfrm>
            <a:off x="0" y="0"/>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367" name="Google Shape;367;p36"/>
          <p:cNvGrpSpPr/>
          <p:nvPr/>
        </p:nvGrpSpPr>
        <p:grpSpPr>
          <a:xfrm>
            <a:off x="55721" y="1788827"/>
            <a:ext cx="430556" cy="1565846"/>
            <a:chOff x="209669" y="2857423"/>
            <a:chExt cx="463661" cy="2087794"/>
          </a:xfrm>
        </p:grpSpPr>
        <p:sp>
          <p:nvSpPr>
            <p:cNvPr id="368" name="Google Shape;368;p36"/>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369" name="Google Shape;369;p36"/>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370" name="Google Shape;370;p36"/>
          <p:cNvSpPr/>
          <p:nvPr/>
        </p:nvSpPr>
        <p:spPr>
          <a:xfrm flipH="1">
            <a:off x="8023200" y="0"/>
            <a:ext cx="1120800"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71" name="Google Shape;371;p36"/>
          <p:cNvSpPr/>
          <p:nvPr/>
        </p:nvSpPr>
        <p:spPr>
          <a:xfrm>
            <a:off x="434646" y="473825"/>
            <a:ext cx="8333700" cy="43143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74" name="Google Shape;374;p36"/>
          <p:cNvSpPr txBox="1"/>
          <p:nvPr/>
        </p:nvSpPr>
        <p:spPr>
          <a:xfrm>
            <a:off x="730550" y="962822"/>
            <a:ext cx="3541500" cy="291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D96B3D"/>
              </a:buClr>
              <a:buSzPts val="600"/>
              <a:buFont typeface="Calibri"/>
              <a:buNone/>
            </a:pPr>
            <a:endParaRPr sz="600" b="1" i="0" u="none" strike="noStrike" cap="none">
              <a:solidFill>
                <a:srgbClr val="C17529"/>
              </a:solidFill>
              <a:latin typeface="Calibri"/>
              <a:ea typeface="Calibri"/>
              <a:cs typeface="Calibri"/>
              <a:sym typeface="Calibri"/>
            </a:endParaRPr>
          </a:p>
        </p:txBody>
      </p:sp>
      <p:sp>
        <p:nvSpPr>
          <p:cNvPr id="376" name="Google Shape;376;p36"/>
          <p:cNvSpPr txBox="1">
            <a:spLocks noGrp="1"/>
          </p:cNvSpPr>
          <p:nvPr>
            <p:ph type="title"/>
          </p:nvPr>
        </p:nvSpPr>
        <p:spPr>
          <a:xfrm>
            <a:off x="578982" y="638281"/>
            <a:ext cx="3844635" cy="349898"/>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6"/>
              </a:buClr>
              <a:buSzPts val="2400"/>
              <a:buFont typeface="Calibri"/>
              <a:buNone/>
            </a:pPr>
            <a:r>
              <a:rPr lang="en" sz="1600" dirty="0">
                <a:solidFill>
                  <a:schemeClr val="accent6"/>
                </a:solidFill>
              </a:rPr>
              <a:t>Single people from mid 20’s to mid 40’s</a:t>
            </a:r>
            <a:endParaRPr sz="1600" dirty="0">
              <a:solidFill>
                <a:schemeClr val="accent6"/>
              </a:solidFill>
            </a:endParaRPr>
          </a:p>
        </p:txBody>
      </p:sp>
      <p:sp>
        <p:nvSpPr>
          <p:cNvPr id="377" name="Google Shape;377;p36"/>
          <p:cNvSpPr txBox="1"/>
          <p:nvPr/>
        </p:nvSpPr>
        <p:spPr>
          <a:xfrm>
            <a:off x="5304953" y="1441418"/>
            <a:ext cx="3222827" cy="2825348"/>
          </a:xfrm>
          <a:prstGeom prst="rect">
            <a:avLst/>
          </a:prstGeom>
          <a:noFill/>
          <a:ln>
            <a:noFill/>
          </a:ln>
        </p:spPr>
        <p:txBody>
          <a:bodyPr spcFirstLastPara="1" wrap="square" lIns="91425" tIns="45700" rIns="91425" bIns="45700" anchor="t" anchorCtr="0">
            <a:spAutoFit/>
          </a:bodyPr>
          <a:lstStyle/>
          <a:p>
            <a:pPr marL="457200" lvl="0" indent="-304800" algn="l" rtl="0">
              <a:lnSpc>
                <a:spcPct val="115000"/>
              </a:lnSpc>
              <a:spcBef>
                <a:spcPts val="0"/>
              </a:spcBef>
              <a:spcAft>
                <a:spcPts val="0"/>
              </a:spcAft>
              <a:buClr>
                <a:schemeClr val="dk1"/>
              </a:buClr>
              <a:buSzPts val="1200"/>
              <a:buFont typeface="Calibri"/>
              <a:buChar char="•"/>
            </a:pPr>
            <a:r>
              <a:rPr lang="en" sz="1200" dirty="0">
                <a:solidFill>
                  <a:schemeClr val="dk1"/>
                </a:solidFill>
                <a:latin typeface="Calibri"/>
                <a:ea typeface="Calibri"/>
                <a:cs typeface="Calibri"/>
                <a:sym typeface="Calibri"/>
              </a:rPr>
              <a:t>As recognized by Dubois and Austin- Sticks historically observed a base skewed towards single people ranging from mid 20’s to mid 40’s</a:t>
            </a:r>
            <a:endParaRPr sz="1200" dirty="0">
              <a:solidFill>
                <a:schemeClr val="dk1"/>
              </a:solidFill>
              <a:latin typeface="Calibri"/>
              <a:ea typeface="Calibri"/>
              <a:cs typeface="Calibri"/>
              <a:sym typeface="Calibri"/>
            </a:endParaRPr>
          </a:p>
          <a:p>
            <a:pPr marL="457200" lvl="0" indent="0" algn="l" rtl="0">
              <a:lnSpc>
                <a:spcPct val="115000"/>
              </a:lnSpc>
              <a:spcBef>
                <a:spcPts val="0"/>
              </a:spcBef>
              <a:spcAft>
                <a:spcPts val="0"/>
              </a:spcAft>
              <a:buNone/>
            </a:pPr>
            <a:endParaRPr sz="600" dirty="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dirty="0">
                <a:solidFill>
                  <a:schemeClr val="dk1"/>
                </a:solidFill>
                <a:latin typeface="Calibri"/>
                <a:ea typeface="Calibri"/>
                <a:cs typeface="Calibri"/>
                <a:sym typeface="Calibri"/>
              </a:rPr>
              <a:t>We see here that segments 3 and 5 are leaders with the highest count of single people in the given age buckets, further validating potential to tap into these segments based on existing knowledge and patterns</a:t>
            </a:r>
            <a:endParaRPr sz="1200" dirty="0">
              <a:solidFill>
                <a:schemeClr val="dk1"/>
              </a:solidFill>
              <a:latin typeface="Calibri"/>
              <a:ea typeface="Calibri"/>
              <a:cs typeface="Calibri"/>
              <a:sym typeface="Calibri"/>
            </a:endParaRPr>
          </a:p>
          <a:p>
            <a:pPr marL="457200" lvl="0" indent="0" algn="l" rtl="0">
              <a:lnSpc>
                <a:spcPct val="115000"/>
              </a:lnSpc>
              <a:spcBef>
                <a:spcPts val="0"/>
              </a:spcBef>
              <a:spcAft>
                <a:spcPts val="0"/>
              </a:spcAft>
              <a:buNone/>
            </a:pPr>
            <a:endParaRPr sz="1200" dirty="0">
              <a:solidFill>
                <a:schemeClr val="dk1"/>
              </a:solidFill>
              <a:latin typeface="Calibri"/>
              <a:ea typeface="Calibri"/>
              <a:cs typeface="Calibri"/>
              <a:sym typeface="Calibri"/>
            </a:endParaRPr>
          </a:p>
          <a:p>
            <a:pPr marL="457200" marR="0" lvl="0" indent="0" algn="l" rtl="0">
              <a:spcBef>
                <a:spcPts val="0"/>
              </a:spcBef>
              <a:spcAft>
                <a:spcPts val="0"/>
              </a:spcAft>
              <a:buNone/>
            </a:pPr>
            <a:endParaRPr sz="1200" dirty="0">
              <a:solidFill>
                <a:schemeClr val="dk1"/>
              </a:solidFill>
              <a:latin typeface="Calibri"/>
              <a:ea typeface="Calibri"/>
              <a:cs typeface="Calibri"/>
              <a:sym typeface="Calibri"/>
            </a:endParaRPr>
          </a:p>
        </p:txBody>
      </p:sp>
      <p:sp>
        <p:nvSpPr>
          <p:cNvPr id="2" name="Google Shape;259;p31">
            <a:extLst>
              <a:ext uri="{FF2B5EF4-FFF2-40B4-BE49-F238E27FC236}">
                <a16:creationId xmlns:a16="http://schemas.microsoft.com/office/drawing/2014/main" id="{D53A9059-C4EC-2224-C11C-F2B98841C088}"/>
              </a:ext>
            </a:extLst>
          </p:cNvPr>
          <p:cNvSpPr txBox="1"/>
          <p:nvPr/>
        </p:nvSpPr>
        <p:spPr>
          <a:xfrm>
            <a:off x="513480" y="249126"/>
            <a:ext cx="7430886" cy="461624"/>
          </a:xfrm>
          <a:prstGeom prst="rect">
            <a:avLst/>
          </a:prstGeom>
          <a:noFill/>
          <a:ln>
            <a:noFill/>
          </a:ln>
        </p:spPr>
        <p:txBody>
          <a:bodyPr spcFirstLastPara="1" wrap="square" lIns="91425" tIns="45700" rIns="91425" bIns="45700" anchor="t" anchorCtr="0">
            <a:spAutoFit/>
          </a:bodyPr>
          <a:lstStyle/>
          <a:p>
            <a:pPr lvl="0"/>
            <a:r>
              <a:rPr lang="en-US" sz="2400" b="1" dirty="0">
                <a:solidFill>
                  <a:schemeClr val="accent6"/>
                </a:solidFill>
                <a:latin typeface="Calibri"/>
                <a:ea typeface="Calibri"/>
                <a:cs typeface="Calibri"/>
                <a:sym typeface="Calibri"/>
              </a:rPr>
              <a:t>Customer Segmentation Analysis</a:t>
            </a:r>
          </a:p>
        </p:txBody>
      </p:sp>
      <p:pic>
        <p:nvPicPr>
          <p:cNvPr id="4" name="Picture 3">
            <a:extLst>
              <a:ext uri="{FF2B5EF4-FFF2-40B4-BE49-F238E27FC236}">
                <a16:creationId xmlns:a16="http://schemas.microsoft.com/office/drawing/2014/main" id="{04FF0A3D-F18A-6D75-764B-8C6103E47B4E}"/>
              </a:ext>
            </a:extLst>
          </p:cNvPr>
          <p:cNvPicPr>
            <a:picLocks noChangeAspect="1"/>
          </p:cNvPicPr>
          <p:nvPr/>
        </p:nvPicPr>
        <p:blipFill>
          <a:blip r:embed="rId3">
            <a:duotone>
              <a:schemeClr val="accent6">
                <a:shade val="45000"/>
                <a:satMod val="135000"/>
              </a:schemeClr>
              <a:prstClr val="white"/>
            </a:duotone>
          </a:blip>
          <a:stretch>
            <a:fillRect/>
          </a:stretch>
        </p:blipFill>
        <p:spPr>
          <a:xfrm>
            <a:off x="630613" y="1061468"/>
            <a:ext cx="4533759" cy="3568827"/>
          </a:xfrm>
          <a:prstGeom prst="rect">
            <a:avLst/>
          </a:prstGeom>
        </p:spPr>
      </p:pic>
      <p:pic>
        <p:nvPicPr>
          <p:cNvPr id="379" name="Google Shape;379;p36"/>
          <p:cNvPicPr preferRelativeResize="0"/>
          <p:nvPr/>
        </p:nvPicPr>
        <p:blipFill>
          <a:blip r:embed="rId4">
            <a:alphaModFix/>
            <a:duotone>
              <a:schemeClr val="accent6">
                <a:shade val="45000"/>
                <a:satMod val="135000"/>
              </a:schemeClr>
              <a:prstClr val="white"/>
            </a:duotone>
          </a:blip>
          <a:stretch>
            <a:fillRect/>
          </a:stretch>
        </p:blipFill>
        <p:spPr>
          <a:xfrm>
            <a:off x="4706696" y="1169507"/>
            <a:ext cx="783476" cy="542621"/>
          </a:xfrm>
          <a:prstGeom prst="rect">
            <a:avLst/>
          </a:prstGeom>
          <a:noFill/>
          <a:ln>
            <a:noFill/>
          </a:ln>
        </p:spPr>
      </p:pic>
      <p:sp>
        <p:nvSpPr>
          <p:cNvPr id="3" name="Google Shape;259;p31">
            <a:extLst>
              <a:ext uri="{FF2B5EF4-FFF2-40B4-BE49-F238E27FC236}">
                <a16:creationId xmlns:a16="http://schemas.microsoft.com/office/drawing/2014/main" id="{6AF80112-40F3-A773-DA36-C68E4FCF121F}"/>
              </a:ext>
            </a:extLst>
          </p:cNvPr>
          <p:cNvSpPr txBox="1"/>
          <p:nvPr/>
        </p:nvSpPr>
        <p:spPr>
          <a:xfrm>
            <a:off x="5490172" y="1077516"/>
            <a:ext cx="1339539"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b="1" u="sng" dirty="0">
                <a:solidFill>
                  <a:schemeClr val="accent6"/>
                </a:solidFill>
                <a:latin typeface="Calibri"/>
                <a:ea typeface="Calibri"/>
                <a:cs typeface="Calibri"/>
                <a:sym typeface="Calibri"/>
              </a:rPr>
              <a:t>Key Insights: </a:t>
            </a:r>
            <a:endParaRPr b="1" u="sng" dirty="0">
              <a:solidFill>
                <a:schemeClr val="accent6"/>
              </a:solidFill>
              <a:latin typeface="Calibri"/>
              <a:ea typeface="Calibri"/>
              <a:cs typeface="Calibri"/>
              <a:sym typeface="Calibri"/>
            </a:endParaRPr>
          </a:p>
        </p:txBody>
      </p:sp>
      <p:pic>
        <p:nvPicPr>
          <p:cNvPr id="5" name="Google Shape;148;p26" descr="A black and orange logo&#10;&#10;AI-generated content may be incorrect.">
            <a:extLst>
              <a:ext uri="{FF2B5EF4-FFF2-40B4-BE49-F238E27FC236}">
                <a16:creationId xmlns:a16="http://schemas.microsoft.com/office/drawing/2014/main" id="{4445734C-7A06-CFAA-EF75-488AD15BAD80}"/>
              </a:ext>
            </a:extLst>
          </p:cNvPr>
          <p:cNvPicPr preferRelativeResize="0"/>
          <p:nvPr/>
        </p:nvPicPr>
        <p:blipFill rotWithShape="1">
          <a:blip r:embed="rId5">
            <a:alphaModFix/>
          </a:blip>
          <a:srcRect l="5357" r="10411"/>
          <a:stretch/>
        </p:blipFill>
        <p:spPr>
          <a:xfrm>
            <a:off x="7905729" y="199474"/>
            <a:ext cx="862617" cy="49732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3"/>
        <p:cNvGrpSpPr/>
        <p:nvPr/>
      </p:nvGrpSpPr>
      <p:grpSpPr>
        <a:xfrm>
          <a:off x="0" y="0"/>
          <a:ext cx="0" cy="0"/>
          <a:chOff x="0" y="0"/>
          <a:chExt cx="0" cy="0"/>
        </a:xfrm>
      </p:grpSpPr>
      <p:sp>
        <p:nvSpPr>
          <p:cNvPr id="324" name="Google Shape;324;p34"/>
          <p:cNvSpPr/>
          <p:nvPr/>
        </p:nvSpPr>
        <p:spPr>
          <a:xfrm>
            <a:off x="0" y="0"/>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Calibri"/>
              <a:ea typeface="Calibri"/>
              <a:cs typeface="Calibri"/>
              <a:sym typeface="Calibri"/>
            </a:endParaRPr>
          </a:p>
        </p:txBody>
      </p:sp>
      <p:grpSp>
        <p:nvGrpSpPr>
          <p:cNvPr id="325" name="Google Shape;325;p34"/>
          <p:cNvGrpSpPr/>
          <p:nvPr/>
        </p:nvGrpSpPr>
        <p:grpSpPr>
          <a:xfrm>
            <a:off x="55721" y="1788827"/>
            <a:ext cx="430556" cy="1565846"/>
            <a:chOff x="209669" y="2857423"/>
            <a:chExt cx="463661" cy="2087794"/>
          </a:xfrm>
        </p:grpSpPr>
        <p:sp>
          <p:nvSpPr>
            <p:cNvPr id="326" name="Google Shape;326;p34"/>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327" name="Google Shape;327;p34"/>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328" name="Google Shape;328;p34"/>
          <p:cNvSpPr/>
          <p:nvPr/>
        </p:nvSpPr>
        <p:spPr>
          <a:xfrm flipH="1">
            <a:off x="8023200" y="0"/>
            <a:ext cx="1120800"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29" name="Google Shape;329;p34"/>
          <p:cNvSpPr/>
          <p:nvPr/>
        </p:nvSpPr>
        <p:spPr>
          <a:xfrm>
            <a:off x="434646" y="473825"/>
            <a:ext cx="8333700" cy="43143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Calibri"/>
              <a:ea typeface="Calibri"/>
              <a:cs typeface="Calibri"/>
              <a:sym typeface="Calibri"/>
            </a:endParaRPr>
          </a:p>
        </p:txBody>
      </p:sp>
      <p:sp>
        <p:nvSpPr>
          <p:cNvPr id="330" name="Google Shape;330;p34"/>
          <p:cNvSpPr txBox="1">
            <a:spLocks noGrp="1"/>
          </p:cNvSpPr>
          <p:nvPr>
            <p:ph type="title"/>
          </p:nvPr>
        </p:nvSpPr>
        <p:spPr>
          <a:xfrm>
            <a:off x="586949" y="557756"/>
            <a:ext cx="5996229" cy="589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6"/>
              </a:buClr>
              <a:buSzPts val="2400"/>
              <a:buFont typeface="Calibri"/>
              <a:buNone/>
            </a:pPr>
            <a:r>
              <a:rPr lang="en" sz="1600" dirty="0">
                <a:solidFill>
                  <a:schemeClr val="accent6"/>
                </a:solidFill>
              </a:rPr>
              <a:t>Addressing the Clich</a:t>
            </a:r>
            <a:r>
              <a:rPr lang="en-US" sz="1600" dirty="0">
                <a:solidFill>
                  <a:schemeClr val="accent6"/>
                </a:solidFill>
              </a:rPr>
              <a:t>e “Soccer Moms”</a:t>
            </a:r>
            <a:endParaRPr sz="1600" dirty="0">
              <a:solidFill>
                <a:schemeClr val="accent6"/>
              </a:solidFill>
            </a:endParaRPr>
          </a:p>
        </p:txBody>
      </p:sp>
      <p:pic>
        <p:nvPicPr>
          <p:cNvPr id="339" name="Google Shape;339;p34"/>
          <p:cNvPicPr preferRelativeResize="0"/>
          <p:nvPr/>
        </p:nvPicPr>
        <p:blipFill>
          <a:blip r:embed="rId3">
            <a:alphaModFix/>
            <a:duotone>
              <a:schemeClr val="accent6">
                <a:shade val="45000"/>
                <a:satMod val="135000"/>
              </a:schemeClr>
              <a:prstClr val="white"/>
            </a:duotone>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645660" y="1128242"/>
            <a:ext cx="3632142" cy="3288701"/>
          </a:xfrm>
          <a:prstGeom prst="rect">
            <a:avLst/>
          </a:prstGeom>
          <a:noFill/>
          <a:ln>
            <a:noFill/>
          </a:ln>
        </p:spPr>
      </p:pic>
      <p:sp>
        <p:nvSpPr>
          <p:cNvPr id="2" name="Google Shape;259;p31">
            <a:extLst>
              <a:ext uri="{FF2B5EF4-FFF2-40B4-BE49-F238E27FC236}">
                <a16:creationId xmlns:a16="http://schemas.microsoft.com/office/drawing/2014/main" id="{66D63BC6-12A1-6336-B326-B34B7444E3D4}"/>
              </a:ext>
            </a:extLst>
          </p:cNvPr>
          <p:cNvSpPr txBox="1"/>
          <p:nvPr/>
        </p:nvSpPr>
        <p:spPr>
          <a:xfrm>
            <a:off x="527294" y="282241"/>
            <a:ext cx="7430886" cy="461624"/>
          </a:xfrm>
          <a:prstGeom prst="rect">
            <a:avLst/>
          </a:prstGeom>
          <a:noFill/>
          <a:ln>
            <a:noFill/>
          </a:ln>
        </p:spPr>
        <p:txBody>
          <a:bodyPr spcFirstLastPara="1" wrap="square" lIns="91425" tIns="45700" rIns="91425" bIns="45700" anchor="t" anchorCtr="0">
            <a:spAutoFit/>
          </a:bodyPr>
          <a:lstStyle/>
          <a:p>
            <a:pPr lvl="0"/>
            <a:r>
              <a:rPr lang="en-US" sz="2400" b="1" dirty="0">
                <a:solidFill>
                  <a:schemeClr val="accent6"/>
                </a:solidFill>
                <a:latin typeface="Calibri"/>
                <a:ea typeface="Calibri"/>
                <a:cs typeface="Calibri"/>
                <a:sym typeface="Calibri"/>
              </a:rPr>
              <a:t>Customer Segmentation Analysis</a:t>
            </a:r>
          </a:p>
        </p:txBody>
      </p:sp>
      <p:sp>
        <p:nvSpPr>
          <p:cNvPr id="3" name="Google Shape;286;p32">
            <a:extLst>
              <a:ext uri="{FF2B5EF4-FFF2-40B4-BE49-F238E27FC236}">
                <a16:creationId xmlns:a16="http://schemas.microsoft.com/office/drawing/2014/main" id="{05161563-4532-CF26-7DF6-244C516A99CD}"/>
              </a:ext>
            </a:extLst>
          </p:cNvPr>
          <p:cNvSpPr txBox="1"/>
          <p:nvPr/>
        </p:nvSpPr>
        <p:spPr>
          <a:xfrm>
            <a:off x="4770061" y="1071794"/>
            <a:ext cx="3451200" cy="3083881"/>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endParaRPr lang="en-US" sz="1200" b="1" dirty="0">
              <a:solidFill>
                <a:schemeClr val="accent6"/>
              </a:solidFill>
              <a:latin typeface="Calibri"/>
              <a:ea typeface="Calibri"/>
              <a:cs typeface="Calibri"/>
              <a:sym typeface="Calibri"/>
            </a:endParaRPr>
          </a:p>
          <a:p>
            <a:pPr marL="457200" lvl="0" indent="-304800">
              <a:lnSpc>
                <a:spcPct val="115000"/>
              </a:lnSpc>
              <a:buClr>
                <a:schemeClr val="dk1"/>
              </a:buClr>
              <a:buSzPts val="1200"/>
              <a:buFont typeface="Calibri"/>
              <a:buChar char="•"/>
            </a:pPr>
            <a:r>
              <a:rPr lang="en-US" sz="1200" dirty="0">
                <a:solidFill>
                  <a:schemeClr val="tx1"/>
                </a:solidFill>
                <a:latin typeface="Calibri"/>
                <a:ea typeface="Calibri"/>
                <a:cs typeface="Calibri"/>
                <a:sym typeface="Calibri"/>
              </a:rPr>
              <a:t>Echoing Dubois’ insight that soccer is central to family life, </a:t>
            </a:r>
            <a:r>
              <a:rPr lang="en-US" sz="1200" dirty="0">
                <a:solidFill>
                  <a:schemeClr val="accent6"/>
                </a:solidFill>
                <a:latin typeface="Calibri"/>
                <a:ea typeface="Calibri"/>
                <a:cs typeface="Calibri"/>
                <a:sym typeface="Calibri"/>
              </a:rPr>
              <a:t>Segment 5’s </a:t>
            </a:r>
            <a:r>
              <a:rPr lang="en-US" sz="1200" dirty="0">
                <a:solidFill>
                  <a:schemeClr val="tx1"/>
                </a:solidFill>
                <a:latin typeface="Calibri"/>
                <a:ea typeface="Calibri"/>
                <a:cs typeface="Calibri"/>
                <a:sym typeface="Calibri"/>
              </a:rPr>
              <a:t>high share of soccer kids underscores a natural fit with active, sports-oriented families</a:t>
            </a:r>
          </a:p>
          <a:p>
            <a:pPr marL="457200" lvl="0">
              <a:lnSpc>
                <a:spcPct val="115000"/>
              </a:lnSpc>
            </a:pPr>
            <a:endParaRPr lang="en-US" sz="600" dirty="0">
              <a:solidFill>
                <a:schemeClr val="dk1"/>
              </a:solidFill>
              <a:latin typeface="Calibri"/>
              <a:ea typeface="Calibri"/>
              <a:cs typeface="Calibri"/>
              <a:sym typeface="Calibri"/>
            </a:endParaRPr>
          </a:p>
          <a:p>
            <a:pPr marL="457200" lvl="0" indent="-304800">
              <a:lnSpc>
                <a:spcPct val="115000"/>
              </a:lnSpc>
              <a:buClr>
                <a:schemeClr val="dk1"/>
              </a:buClr>
              <a:buSzPts val="1200"/>
              <a:buFont typeface="Calibri"/>
              <a:buChar char="•"/>
            </a:pPr>
            <a:r>
              <a:rPr lang="en-US" sz="1200" dirty="0">
                <a:solidFill>
                  <a:schemeClr val="dk1"/>
                </a:solidFill>
                <a:latin typeface="Calibri"/>
                <a:ea typeface="Calibri"/>
                <a:cs typeface="Calibri"/>
                <a:sym typeface="Calibri"/>
              </a:rPr>
              <a:t>Consistent success with these customers signals a possibility of strong brand connection in the future</a:t>
            </a:r>
          </a:p>
          <a:p>
            <a:pPr marL="101600" lvl="0" algn="l" rtl="0">
              <a:spcBef>
                <a:spcPts val="0"/>
              </a:spcBef>
              <a:spcAft>
                <a:spcPts val="0"/>
              </a:spcAft>
              <a:buClr>
                <a:schemeClr val="dk1"/>
              </a:buClr>
              <a:buSzPts val="1100"/>
            </a:pPr>
            <a:endParaRPr lang="en-US" sz="1200" dirty="0">
              <a:solidFill>
                <a:schemeClr val="dk1"/>
              </a:solidFill>
              <a:latin typeface="Calibri"/>
              <a:ea typeface="Calibri"/>
              <a:cs typeface="Calibri"/>
              <a:sym typeface="Calibri"/>
            </a:endParaRPr>
          </a:p>
          <a:p>
            <a:pPr marL="101600" lvl="0" algn="l" rtl="0">
              <a:spcBef>
                <a:spcPts val="0"/>
              </a:spcBef>
              <a:spcAft>
                <a:spcPts val="0"/>
              </a:spcAft>
              <a:buClr>
                <a:schemeClr val="dk1"/>
              </a:buClr>
              <a:buSzPts val="1100"/>
            </a:pPr>
            <a:endParaRPr lang="en-US" sz="1200" dirty="0">
              <a:solidFill>
                <a:schemeClr val="dk1"/>
              </a:solidFill>
              <a:latin typeface="Calibri"/>
              <a:ea typeface="Calibri"/>
              <a:cs typeface="Calibri"/>
              <a:sym typeface="Calibri"/>
            </a:endParaRPr>
          </a:p>
          <a:p>
            <a:pPr marL="101600" lvl="0" algn="l" rtl="0">
              <a:spcBef>
                <a:spcPts val="0"/>
              </a:spcBef>
              <a:spcAft>
                <a:spcPts val="0"/>
              </a:spcAft>
              <a:buClr>
                <a:schemeClr val="dk1"/>
              </a:buClr>
              <a:buSzPts val="1100"/>
            </a:pPr>
            <a:endParaRPr lang="en-US" sz="1200" dirty="0">
              <a:solidFill>
                <a:schemeClr val="dk1"/>
              </a:solidFill>
              <a:latin typeface="Calibri"/>
              <a:ea typeface="Calibri"/>
              <a:cs typeface="Calibri"/>
              <a:sym typeface="Calibri"/>
            </a:endParaRPr>
          </a:p>
          <a:p>
            <a:pPr marL="101600" lvl="0" algn="l" rtl="0">
              <a:spcBef>
                <a:spcPts val="0"/>
              </a:spcBef>
              <a:spcAft>
                <a:spcPts val="0"/>
              </a:spcAft>
              <a:buClr>
                <a:schemeClr val="dk1"/>
              </a:buClr>
              <a:buSzPts val="1100"/>
            </a:pPr>
            <a:endParaRPr lang="en-US" sz="1200" dirty="0">
              <a:solidFill>
                <a:schemeClr val="dk1"/>
              </a:solidFill>
              <a:latin typeface="Calibri"/>
              <a:ea typeface="Calibri"/>
              <a:cs typeface="Calibri"/>
              <a:sym typeface="Calibri"/>
            </a:endParaRPr>
          </a:p>
          <a:p>
            <a:pPr marL="101600" lvl="0" algn="l" rtl="0">
              <a:spcBef>
                <a:spcPts val="0"/>
              </a:spcBef>
              <a:spcAft>
                <a:spcPts val="0"/>
              </a:spcAft>
              <a:buClr>
                <a:schemeClr val="dk1"/>
              </a:buClr>
              <a:buSzPts val="1100"/>
            </a:pPr>
            <a:endParaRPr lang="en-US" sz="1200" dirty="0">
              <a:solidFill>
                <a:schemeClr val="dk1"/>
              </a:solidFill>
              <a:latin typeface="Calibri"/>
              <a:ea typeface="Calibri"/>
              <a:cs typeface="Calibri"/>
              <a:sym typeface="Calibri"/>
            </a:endParaRPr>
          </a:p>
          <a:p>
            <a:pPr marL="101600" lvl="0" algn="l" rtl="0">
              <a:spcBef>
                <a:spcPts val="0"/>
              </a:spcBef>
              <a:spcAft>
                <a:spcPts val="0"/>
              </a:spcAft>
              <a:buClr>
                <a:schemeClr val="dk1"/>
              </a:buClr>
              <a:buSzPts val="1100"/>
            </a:pPr>
            <a:endParaRPr lang="en-US" sz="1200" dirty="0">
              <a:solidFill>
                <a:schemeClr val="dk1"/>
              </a:solidFill>
              <a:latin typeface="Calibri"/>
              <a:ea typeface="Calibri"/>
              <a:cs typeface="Calibri"/>
              <a:sym typeface="Calibri"/>
            </a:endParaRPr>
          </a:p>
        </p:txBody>
      </p:sp>
      <p:pic>
        <p:nvPicPr>
          <p:cNvPr id="337" name="Google Shape;337;p34"/>
          <p:cNvPicPr preferRelativeResize="0"/>
          <p:nvPr/>
        </p:nvPicPr>
        <p:blipFill>
          <a:blip r:embed="rId5">
            <a:alphaModFix/>
          </a:blip>
          <a:stretch>
            <a:fillRect/>
          </a:stretch>
        </p:blipFill>
        <p:spPr>
          <a:xfrm>
            <a:off x="5357780" y="2928584"/>
            <a:ext cx="2523535" cy="1500881"/>
          </a:xfrm>
          <a:prstGeom prst="rect">
            <a:avLst/>
          </a:prstGeom>
          <a:solidFill>
            <a:schemeClr val="lt1"/>
          </a:solidFill>
          <a:ln>
            <a:noFill/>
          </a:ln>
          <a:effectLst>
            <a:outerShdw blurRad="139700" dist="127000" dir="5400000" algn="t" rotWithShape="0">
              <a:srgbClr val="000000">
                <a:alpha val="14900"/>
              </a:srgbClr>
            </a:outerShdw>
          </a:effectLst>
        </p:spPr>
      </p:pic>
      <p:sp>
        <p:nvSpPr>
          <p:cNvPr id="4" name="Google Shape;259;p31">
            <a:extLst>
              <a:ext uri="{FF2B5EF4-FFF2-40B4-BE49-F238E27FC236}">
                <a16:creationId xmlns:a16="http://schemas.microsoft.com/office/drawing/2014/main" id="{060260DA-6D77-0694-58AE-00F52FA12176}"/>
              </a:ext>
            </a:extLst>
          </p:cNvPr>
          <p:cNvSpPr txBox="1"/>
          <p:nvPr/>
        </p:nvSpPr>
        <p:spPr>
          <a:xfrm>
            <a:off x="4923455" y="907977"/>
            <a:ext cx="1339539"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b="1" u="sng" dirty="0">
                <a:solidFill>
                  <a:schemeClr val="accent6"/>
                </a:solidFill>
                <a:latin typeface="Calibri"/>
                <a:ea typeface="Calibri"/>
                <a:cs typeface="Calibri"/>
                <a:sym typeface="Calibri"/>
              </a:rPr>
              <a:t>Key Insights: </a:t>
            </a:r>
            <a:endParaRPr b="1" u="sng" dirty="0">
              <a:solidFill>
                <a:schemeClr val="accent6"/>
              </a:solidFill>
              <a:latin typeface="Calibri"/>
              <a:ea typeface="Calibri"/>
              <a:cs typeface="Calibri"/>
              <a:sym typeface="Calibri"/>
            </a:endParaRPr>
          </a:p>
        </p:txBody>
      </p:sp>
      <p:pic>
        <p:nvPicPr>
          <p:cNvPr id="5" name="Google Shape;148;p26" descr="A black and orange logo&#10;&#10;AI-generated content may be incorrect.">
            <a:extLst>
              <a:ext uri="{FF2B5EF4-FFF2-40B4-BE49-F238E27FC236}">
                <a16:creationId xmlns:a16="http://schemas.microsoft.com/office/drawing/2014/main" id="{F55E5F50-3C54-13E0-1576-DC8B85ED14FE}"/>
              </a:ext>
            </a:extLst>
          </p:cNvPr>
          <p:cNvPicPr preferRelativeResize="0"/>
          <p:nvPr/>
        </p:nvPicPr>
        <p:blipFill rotWithShape="1">
          <a:blip r:embed="rId6">
            <a:alphaModFix/>
          </a:blip>
          <a:srcRect l="5357" r="10411"/>
          <a:stretch/>
        </p:blipFill>
        <p:spPr>
          <a:xfrm>
            <a:off x="7905729" y="199474"/>
            <a:ext cx="862617" cy="49732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3"/>
        <p:cNvGrpSpPr/>
        <p:nvPr/>
      </p:nvGrpSpPr>
      <p:grpSpPr>
        <a:xfrm>
          <a:off x="0" y="0"/>
          <a:ext cx="0" cy="0"/>
          <a:chOff x="0" y="0"/>
          <a:chExt cx="0" cy="0"/>
        </a:xfrm>
      </p:grpSpPr>
      <p:sp>
        <p:nvSpPr>
          <p:cNvPr id="344" name="Google Shape;344;p35"/>
          <p:cNvSpPr/>
          <p:nvPr/>
        </p:nvSpPr>
        <p:spPr>
          <a:xfrm>
            <a:off x="0" y="0"/>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345" name="Google Shape;345;p35"/>
          <p:cNvGrpSpPr/>
          <p:nvPr/>
        </p:nvGrpSpPr>
        <p:grpSpPr>
          <a:xfrm>
            <a:off x="55721" y="1788827"/>
            <a:ext cx="430556" cy="1565846"/>
            <a:chOff x="209669" y="2857423"/>
            <a:chExt cx="463661" cy="2087794"/>
          </a:xfrm>
        </p:grpSpPr>
        <p:sp>
          <p:nvSpPr>
            <p:cNvPr id="346" name="Google Shape;346;p35"/>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347" name="Google Shape;347;p35"/>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348" name="Google Shape;348;p35"/>
          <p:cNvSpPr/>
          <p:nvPr/>
        </p:nvSpPr>
        <p:spPr>
          <a:xfrm flipH="1">
            <a:off x="8023200" y="0"/>
            <a:ext cx="1120800"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49" name="Google Shape;349;p35"/>
          <p:cNvSpPr/>
          <p:nvPr/>
        </p:nvSpPr>
        <p:spPr>
          <a:xfrm>
            <a:off x="440174" y="470543"/>
            <a:ext cx="8333700" cy="43143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52" name="Google Shape;352;p35"/>
          <p:cNvSpPr txBox="1"/>
          <p:nvPr/>
        </p:nvSpPr>
        <p:spPr>
          <a:xfrm>
            <a:off x="730550" y="962822"/>
            <a:ext cx="3541500" cy="291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D96B3D"/>
              </a:buClr>
              <a:buSzPts val="600"/>
              <a:buFont typeface="Calibri"/>
              <a:buNone/>
            </a:pPr>
            <a:endParaRPr sz="600" b="1" i="0" u="none" strike="noStrike" cap="none">
              <a:solidFill>
                <a:srgbClr val="C17529"/>
              </a:solidFill>
              <a:latin typeface="Calibri"/>
              <a:ea typeface="Calibri"/>
              <a:cs typeface="Calibri"/>
              <a:sym typeface="Calibri"/>
            </a:endParaRPr>
          </a:p>
        </p:txBody>
      </p:sp>
      <p:sp>
        <p:nvSpPr>
          <p:cNvPr id="357" name="Google Shape;357;p35"/>
          <p:cNvSpPr txBox="1">
            <a:spLocks noGrp="1"/>
          </p:cNvSpPr>
          <p:nvPr>
            <p:ph type="title"/>
          </p:nvPr>
        </p:nvSpPr>
        <p:spPr>
          <a:xfrm>
            <a:off x="384452" y="320234"/>
            <a:ext cx="6562200" cy="589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6"/>
              </a:buClr>
              <a:buSzPts val="2400"/>
              <a:buFont typeface="Calibri"/>
              <a:buNone/>
            </a:pPr>
            <a:r>
              <a:rPr lang="en" sz="1600" dirty="0">
                <a:solidFill>
                  <a:schemeClr val="accent6"/>
                </a:solidFill>
              </a:rPr>
              <a:t>Targeting Business Professionals on Lunch Break</a:t>
            </a:r>
            <a:endParaRPr sz="1600" dirty="0">
              <a:solidFill>
                <a:schemeClr val="accent6"/>
              </a:solidFill>
            </a:endParaRPr>
          </a:p>
        </p:txBody>
      </p:sp>
      <p:sp>
        <p:nvSpPr>
          <p:cNvPr id="358" name="Google Shape;358;p35"/>
          <p:cNvSpPr txBox="1"/>
          <p:nvPr/>
        </p:nvSpPr>
        <p:spPr>
          <a:xfrm>
            <a:off x="5395648" y="1102065"/>
            <a:ext cx="3231517" cy="3490146"/>
          </a:xfrm>
          <a:prstGeom prst="rect">
            <a:avLst/>
          </a:prstGeom>
          <a:noFill/>
          <a:ln>
            <a:noFill/>
          </a:ln>
        </p:spPr>
        <p:txBody>
          <a:bodyPr spcFirstLastPara="1" wrap="square" lIns="91425" tIns="45700" rIns="91425" bIns="45700" anchor="t" anchorCtr="0">
            <a:spAutoFit/>
          </a:bodyPr>
          <a:lstStyle/>
          <a:p>
            <a:pPr marL="55562" lvl="0" algn="l" rtl="0">
              <a:lnSpc>
                <a:spcPct val="115000"/>
              </a:lnSpc>
              <a:spcBef>
                <a:spcPts val="0"/>
              </a:spcBef>
              <a:spcAft>
                <a:spcPts val="0"/>
              </a:spcAft>
              <a:buClr>
                <a:schemeClr val="dk1"/>
              </a:buClr>
              <a:buSzPts val="1200"/>
            </a:pPr>
            <a:r>
              <a:rPr lang="en" sz="1200" dirty="0">
                <a:solidFill>
                  <a:schemeClr val="dk1"/>
                </a:solidFill>
                <a:latin typeface="Calibri"/>
                <a:ea typeface="Calibri"/>
                <a:cs typeface="Calibri"/>
                <a:sym typeface="Calibri"/>
              </a:rPr>
              <a:t>Sticks customer base is skewed towards professionals aliging with the target segment:</a:t>
            </a:r>
          </a:p>
          <a:p>
            <a:pPr marL="55562" lvl="0" algn="l" rtl="0">
              <a:lnSpc>
                <a:spcPct val="115000"/>
              </a:lnSpc>
              <a:spcBef>
                <a:spcPts val="0"/>
              </a:spcBef>
              <a:spcAft>
                <a:spcPts val="0"/>
              </a:spcAft>
              <a:buClr>
                <a:schemeClr val="dk1"/>
              </a:buClr>
              <a:buSzPts val="1200"/>
            </a:pPr>
            <a:endParaRPr lang="en" sz="1200" dirty="0">
              <a:solidFill>
                <a:schemeClr val="dk1"/>
              </a:solidFill>
              <a:latin typeface="Calibri"/>
              <a:ea typeface="Calibri"/>
              <a:cs typeface="Calibri"/>
              <a:sym typeface="Calibri"/>
            </a:endParaRPr>
          </a:p>
          <a:p>
            <a:pPr marL="285750" lvl="0" indent="-230188" algn="l" rtl="0">
              <a:lnSpc>
                <a:spcPct val="115000"/>
              </a:lnSpc>
              <a:spcBef>
                <a:spcPts val="0"/>
              </a:spcBef>
              <a:spcAft>
                <a:spcPts val="0"/>
              </a:spcAft>
              <a:buClr>
                <a:schemeClr val="dk1"/>
              </a:buClr>
              <a:buSzPts val="1200"/>
              <a:buFont typeface="Calibri"/>
              <a:buChar char="•"/>
            </a:pPr>
            <a:r>
              <a:rPr lang="en" sz="1200" dirty="0">
                <a:solidFill>
                  <a:schemeClr val="dk1"/>
                </a:solidFill>
                <a:latin typeface="Calibri"/>
                <a:ea typeface="Calibri"/>
                <a:cs typeface="Calibri"/>
                <a:sym typeface="Calibri"/>
              </a:rPr>
              <a:t>Segments 3 and 5 have the highest concentration of business professionals, representing a prime target audience for workplace lunch offerings</a:t>
            </a:r>
            <a:endParaRPr lang="en-US" sz="1200" dirty="0">
              <a:solidFill>
                <a:schemeClr val="dk1"/>
              </a:solidFill>
              <a:latin typeface="Calibri"/>
              <a:ea typeface="Calibri"/>
              <a:cs typeface="Calibri"/>
              <a:sym typeface="Calibri"/>
            </a:endParaRPr>
          </a:p>
          <a:p>
            <a:pPr marL="285750" lvl="0" indent="-230188" algn="l" rtl="0">
              <a:lnSpc>
                <a:spcPct val="115000"/>
              </a:lnSpc>
              <a:spcBef>
                <a:spcPts val="0"/>
              </a:spcBef>
              <a:spcAft>
                <a:spcPts val="0"/>
              </a:spcAft>
              <a:buNone/>
            </a:pPr>
            <a:endParaRPr lang="en-US" sz="1200" dirty="0">
              <a:solidFill>
                <a:schemeClr val="dk1"/>
              </a:solidFill>
              <a:latin typeface="Calibri"/>
              <a:ea typeface="Calibri"/>
              <a:cs typeface="Calibri"/>
              <a:sym typeface="Calibri"/>
            </a:endParaRPr>
          </a:p>
          <a:p>
            <a:pPr marL="285750" lvl="0" indent="-230188" algn="l" rtl="0">
              <a:lnSpc>
                <a:spcPct val="115000"/>
              </a:lnSpc>
              <a:spcBef>
                <a:spcPts val="0"/>
              </a:spcBef>
              <a:spcAft>
                <a:spcPts val="0"/>
              </a:spcAft>
              <a:buClr>
                <a:schemeClr val="dk1"/>
              </a:buClr>
              <a:buSzPts val="1200"/>
              <a:buFont typeface="Calibri"/>
              <a:buChar char="•"/>
            </a:pPr>
            <a:r>
              <a:rPr lang="en" sz="1200" dirty="0">
                <a:solidFill>
                  <a:schemeClr val="dk1"/>
                </a:solidFill>
                <a:latin typeface="Calibri"/>
                <a:ea typeface="Calibri"/>
                <a:cs typeface="Calibri"/>
                <a:sym typeface="Calibri"/>
              </a:rPr>
              <a:t>Despite the above, the average frequency of buying lunch at work is only around once per week, highlighting untapped market potential</a:t>
            </a:r>
          </a:p>
          <a:p>
            <a:pPr marL="55562" lvl="0" algn="l" rtl="0">
              <a:lnSpc>
                <a:spcPct val="115000"/>
              </a:lnSpc>
              <a:spcBef>
                <a:spcPts val="0"/>
              </a:spcBef>
              <a:spcAft>
                <a:spcPts val="0"/>
              </a:spcAft>
              <a:buClr>
                <a:schemeClr val="dk1"/>
              </a:buClr>
              <a:buSzPts val="1200"/>
            </a:pPr>
            <a:endParaRPr sz="1200" dirty="0">
              <a:solidFill>
                <a:schemeClr val="dk1"/>
              </a:solidFill>
              <a:latin typeface="Calibri"/>
              <a:ea typeface="Calibri"/>
              <a:cs typeface="Calibri"/>
              <a:sym typeface="Calibri"/>
            </a:endParaRPr>
          </a:p>
          <a:p>
            <a:pPr marL="152400" lvl="0" algn="l" rtl="0">
              <a:lnSpc>
                <a:spcPct val="115000"/>
              </a:lnSpc>
              <a:spcBef>
                <a:spcPts val="0"/>
              </a:spcBef>
              <a:spcAft>
                <a:spcPts val="0"/>
              </a:spcAft>
              <a:buClr>
                <a:schemeClr val="dk1"/>
              </a:buClr>
              <a:buSzPts val="1200"/>
            </a:pPr>
            <a:r>
              <a:rPr lang="en" sz="1200" b="1" dirty="0">
                <a:solidFill>
                  <a:schemeClr val="dk1"/>
                </a:solidFill>
                <a:latin typeface="Calibri"/>
                <a:ea typeface="Calibri"/>
                <a:cs typeface="Calibri"/>
                <a:sym typeface="Calibri"/>
              </a:rPr>
              <a:t>Action step:</a:t>
            </a:r>
          </a:p>
          <a:p>
            <a:pPr marL="152400" lvl="0" algn="l" rtl="0">
              <a:lnSpc>
                <a:spcPct val="115000"/>
              </a:lnSpc>
              <a:spcBef>
                <a:spcPts val="0"/>
              </a:spcBef>
              <a:spcAft>
                <a:spcPts val="0"/>
              </a:spcAft>
              <a:buClr>
                <a:schemeClr val="dk1"/>
              </a:buClr>
              <a:buSzPts val="1200"/>
            </a:pPr>
            <a:r>
              <a:rPr lang="en" sz="1200" dirty="0">
                <a:solidFill>
                  <a:schemeClr val="dk1"/>
                </a:solidFill>
                <a:latin typeface="Calibri"/>
                <a:ea typeface="Calibri"/>
                <a:cs typeface="Calibri"/>
                <a:sym typeface="Calibri"/>
              </a:rPr>
              <a:t>Position Sticks as the go-to brand for busy professionals seeking healthy lunch options</a:t>
            </a:r>
            <a:endParaRPr sz="1200" dirty="0">
              <a:solidFill>
                <a:schemeClr val="dk1"/>
              </a:solidFill>
              <a:latin typeface="Calibri"/>
              <a:ea typeface="Calibri"/>
              <a:cs typeface="Calibri"/>
              <a:sym typeface="Calibri"/>
            </a:endParaRPr>
          </a:p>
        </p:txBody>
      </p:sp>
      <p:pic>
        <p:nvPicPr>
          <p:cNvPr id="359" name="Google Shape;359;p35"/>
          <p:cNvPicPr preferRelativeResize="0"/>
          <p:nvPr/>
        </p:nvPicPr>
        <p:blipFill>
          <a:blip r:embed="rId3">
            <a:alphaModFix/>
            <a:duotone>
              <a:schemeClr val="accent6">
                <a:shade val="45000"/>
                <a:satMod val="135000"/>
              </a:schemeClr>
              <a:prstClr val="white"/>
            </a:duotone>
          </a:blip>
          <a:stretch>
            <a:fillRect/>
          </a:stretch>
        </p:blipFill>
        <p:spPr>
          <a:xfrm>
            <a:off x="782181" y="925864"/>
            <a:ext cx="4428069" cy="3781103"/>
          </a:xfrm>
          <a:prstGeom prst="rect">
            <a:avLst/>
          </a:prstGeom>
          <a:noFill/>
          <a:ln>
            <a:noFill/>
          </a:ln>
        </p:spPr>
      </p:pic>
      <p:sp>
        <p:nvSpPr>
          <p:cNvPr id="2" name="Google Shape;290;p32">
            <a:extLst>
              <a:ext uri="{FF2B5EF4-FFF2-40B4-BE49-F238E27FC236}">
                <a16:creationId xmlns:a16="http://schemas.microsoft.com/office/drawing/2014/main" id="{9D7C4BA0-BAC2-331B-BB71-4E1B126F9E09}"/>
              </a:ext>
            </a:extLst>
          </p:cNvPr>
          <p:cNvSpPr txBox="1"/>
          <p:nvPr/>
        </p:nvSpPr>
        <p:spPr>
          <a:xfrm>
            <a:off x="4046043" y="1108322"/>
            <a:ext cx="365760" cy="274320"/>
          </a:xfrm>
          <a:prstGeom prst="rect">
            <a:avLst/>
          </a:prstGeom>
          <a:noFill/>
          <a:ln w="19050" cap="flat" cmpd="sng">
            <a:solidFill>
              <a:srgbClr val="90571E"/>
            </a:solidFill>
            <a:prstDash val="sysDash"/>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3" name="Google Shape;290;p32">
            <a:extLst>
              <a:ext uri="{FF2B5EF4-FFF2-40B4-BE49-F238E27FC236}">
                <a16:creationId xmlns:a16="http://schemas.microsoft.com/office/drawing/2014/main" id="{A3871A85-3948-6253-19CD-0909CCF27B73}"/>
              </a:ext>
            </a:extLst>
          </p:cNvPr>
          <p:cNvSpPr txBox="1"/>
          <p:nvPr/>
        </p:nvSpPr>
        <p:spPr>
          <a:xfrm>
            <a:off x="2630455" y="1206342"/>
            <a:ext cx="365760" cy="274320"/>
          </a:xfrm>
          <a:prstGeom prst="rect">
            <a:avLst/>
          </a:prstGeom>
          <a:noFill/>
          <a:ln w="19050" cap="flat" cmpd="sng">
            <a:solidFill>
              <a:srgbClr val="90571E"/>
            </a:solidFill>
            <a:prstDash val="sysDash"/>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4" name="Google Shape;259;p31">
            <a:extLst>
              <a:ext uri="{FF2B5EF4-FFF2-40B4-BE49-F238E27FC236}">
                <a16:creationId xmlns:a16="http://schemas.microsoft.com/office/drawing/2014/main" id="{A4744F9B-7F56-3B3D-2A02-A0C1A68A6DD3}"/>
              </a:ext>
            </a:extLst>
          </p:cNvPr>
          <p:cNvSpPr txBox="1"/>
          <p:nvPr/>
        </p:nvSpPr>
        <p:spPr>
          <a:xfrm>
            <a:off x="330970" y="92655"/>
            <a:ext cx="7430886" cy="461624"/>
          </a:xfrm>
          <a:prstGeom prst="rect">
            <a:avLst/>
          </a:prstGeom>
          <a:noFill/>
          <a:ln>
            <a:noFill/>
          </a:ln>
        </p:spPr>
        <p:txBody>
          <a:bodyPr spcFirstLastPara="1" wrap="square" lIns="91425" tIns="45700" rIns="91425" bIns="45700" anchor="t" anchorCtr="0">
            <a:spAutoFit/>
          </a:bodyPr>
          <a:lstStyle/>
          <a:p>
            <a:pPr lvl="0"/>
            <a:r>
              <a:rPr lang="en-US" sz="2400" b="1" dirty="0">
                <a:solidFill>
                  <a:schemeClr val="accent6"/>
                </a:solidFill>
                <a:latin typeface="Calibri"/>
                <a:ea typeface="Calibri"/>
                <a:cs typeface="Calibri"/>
                <a:sym typeface="Calibri"/>
              </a:rPr>
              <a:t>Customer Segmentation Analysis</a:t>
            </a:r>
          </a:p>
        </p:txBody>
      </p:sp>
      <p:sp>
        <p:nvSpPr>
          <p:cNvPr id="5" name="Google Shape;259;p31">
            <a:extLst>
              <a:ext uri="{FF2B5EF4-FFF2-40B4-BE49-F238E27FC236}">
                <a16:creationId xmlns:a16="http://schemas.microsoft.com/office/drawing/2014/main" id="{698499DE-0E18-1504-7C2A-5477ECB57153}"/>
              </a:ext>
            </a:extLst>
          </p:cNvPr>
          <p:cNvSpPr txBox="1"/>
          <p:nvPr/>
        </p:nvSpPr>
        <p:spPr>
          <a:xfrm>
            <a:off x="5417479" y="852921"/>
            <a:ext cx="1339539"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b="1" u="sng" dirty="0">
                <a:solidFill>
                  <a:schemeClr val="accent6"/>
                </a:solidFill>
                <a:latin typeface="Calibri"/>
                <a:ea typeface="Calibri"/>
                <a:cs typeface="Calibri"/>
                <a:sym typeface="Calibri"/>
              </a:rPr>
              <a:t>Key Insights: </a:t>
            </a:r>
            <a:endParaRPr b="1" u="sng" dirty="0">
              <a:solidFill>
                <a:schemeClr val="accent6"/>
              </a:solidFill>
              <a:latin typeface="Calibri"/>
              <a:ea typeface="Calibri"/>
              <a:cs typeface="Calibri"/>
              <a:sym typeface="Calibri"/>
            </a:endParaRPr>
          </a:p>
        </p:txBody>
      </p:sp>
      <p:pic>
        <p:nvPicPr>
          <p:cNvPr id="6" name="Google Shape;148;p26" descr="A black and orange logo&#10;&#10;AI-generated content may be incorrect.">
            <a:extLst>
              <a:ext uri="{FF2B5EF4-FFF2-40B4-BE49-F238E27FC236}">
                <a16:creationId xmlns:a16="http://schemas.microsoft.com/office/drawing/2014/main" id="{9EFDE601-0F57-9B6D-CE12-5318DB27A15F}"/>
              </a:ext>
            </a:extLst>
          </p:cNvPr>
          <p:cNvPicPr preferRelativeResize="0"/>
          <p:nvPr/>
        </p:nvPicPr>
        <p:blipFill rotWithShape="1">
          <a:blip r:embed="rId4">
            <a:alphaModFix/>
          </a:blip>
          <a:srcRect l="5357" r="10411"/>
          <a:stretch/>
        </p:blipFill>
        <p:spPr>
          <a:xfrm>
            <a:off x="7914196" y="199474"/>
            <a:ext cx="862617" cy="49732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2">
          <a:extLst>
            <a:ext uri="{FF2B5EF4-FFF2-40B4-BE49-F238E27FC236}">
              <a16:creationId xmlns:a16="http://schemas.microsoft.com/office/drawing/2014/main" id="{C71BBFF9-A92A-60AA-8827-F1FBD019D5DC}"/>
            </a:ext>
          </a:extLst>
        </p:cNvPr>
        <p:cNvGrpSpPr/>
        <p:nvPr/>
      </p:nvGrpSpPr>
      <p:grpSpPr>
        <a:xfrm>
          <a:off x="0" y="0"/>
          <a:ext cx="0" cy="0"/>
          <a:chOff x="0" y="0"/>
          <a:chExt cx="0" cy="0"/>
        </a:xfrm>
      </p:grpSpPr>
      <p:sp>
        <p:nvSpPr>
          <p:cNvPr id="403" name="Google Shape;403;p38">
            <a:extLst>
              <a:ext uri="{FF2B5EF4-FFF2-40B4-BE49-F238E27FC236}">
                <a16:creationId xmlns:a16="http://schemas.microsoft.com/office/drawing/2014/main" id="{E93E24CB-50F2-3BDD-7C1B-9ACCB0BABA31}"/>
              </a:ext>
            </a:extLst>
          </p:cNvPr>
          <p:cNvSpPr/>
          <p:nvPr/>
        </p:nvSpPr>
        <p:spPr>
          <a:xfrm>
            <a:off x="0" y="0"/>
            <a:ext cx="9143999" cy="514302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404" name="Google Shape;404;p38">
            <a:extLst>
              <a:ext uri="{FF2B5EF4-FFF2-40B4-BE49-F238E27FC236}">
                <a16:creationId xmlns:a16="http://schemas.microsoft.com/office/drawing/2014/main" id="{DF7D55F0-A64C-4AAC-7854-760D92FE65AE}"/>
              </a:ext>
            </a:extLst>
          </p:cNvPr>
          <p:cNvGrpSpPr/>
          <p:nvPr/>
        </p:nvGrpSpPr>
        <p:grpSpPr>
          <a:xfrm>
            <a:off x="55725" y="1788826"/>
            <a:ext cx="430568" cy="1565847"/>
            <a:chOff x="209668" y="2857422"/>
            <a:chExt cx="463662" cy="2087796"/>
          </a:xfrm>
        </p:grpSpPr>
        <p:sp>
          <p:nvSpPr>
            <p:cNvPr id="405" name="Google Shape;405;p38">
              <a:extLst>
                <a:ext uri="{FF2B5EF4-FFF2-40B4-BE49-F238E27FC236}">
                  <a16:creationId xmlns:a16="http://schemas.microsoft.com/office/drawing/2014/main" id="{3E15D7E1-9055-0DC5-C28E-63AF94F38867}"/>
                </a:ext>
              </a:extLst>
            </p:cNvPr>
            <p:cNvSpPr/>
            <p:nvPr/>
          </p:nvSpPr>
          <p:spPr>
            <a:xfrm rot="10800000">
              <a:off x="423947" y="2857422"/>
              <a:ext cx="249383" cy="2087795"/>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406" name="Google Shape;406;p38">
              <a:extLst>
                <a:ext uri="{FF2B5EF4-FFF2-40B4-BE49-F238E27FC236}">
                  <a16:creationId xmlns:a16="http://schemas.microsoft.com/office/drawing/2014/main" id="{7D74599F-3FB0-A5DB-E7CD-015BD954B7D0}"/>
                </a:ext>
              </a:extLst>
            </p:cNvPr>
            <p:cNvCxnSpPr/>
            <p:nvPr/>
          </p:nvCxnSpPr>
          <p:spPr>
            <a:xfrm flipH="1">
              <a:off x="209668" y="2857423"/>
              <a:ext cx="1" cy="2087795"/>
            </a:xfrm>
            <a:prstGeom prst="straightConnector1">
              <a:avLst/>
            </a:prstGeom>
            <a:noFill/>
            <a:ln w="177800" cap="flat" cmpd="sng">
              <a:solidFill>
                <a:schemeClr val="accent4"/>
              </a:solidFill>
              <a:prstDash val="solid"/>
              <a:round/>
              <a:headEnd type="none" w="sm" len="sm"/>
              <a:tailEnd type="none" w="sm" len="sm"/>
            </a:ln>
          </p:spPr>
        </p:cxnSp>
      </p:grpSp>
      <p:sp>
        <p:nvSpPr>
          <p:cNvPr id="407" name="Google Shape;407;p38">
            <a:extLst>
              <a:ext uri="{FF2B5EF4-FFF2-40B4-BE49-F238E27FC236}">
                <a16:creationId xmlns:a16="http://schemas.microsoft.com/office/drawing/2014/main" id="{88DA674C-A60B-AD12-B0CA-D4F0F4DB28FB}"/>
              </a:ext>
            </a:extLst>
          </p:cNvPr>
          <p:cNvSpPr/>
          <p:nvPr/>
        </p:nvSpPr>
        <p:spPr>
          <a:xfrm flipH="1">
            <a:off x="8023252" y="0"/>
            <a:ext cx="1120748"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08" name="Google Shape;408;p38">
            <a:extLst>
              <a:ext uri="{FF2B5EF4-FFF2-40B4-BE49-F238E27FC236}">
                <a16:creationId xmlns:a16="http://schemas.microsoft.com/office/drawing/2014/main" id="{570DF860-D412-DAA0-C7FB-4A7350ACC999}"/>
              </a:ext>
            </a:extLst>
          </p:cNvPr>
          <p:cNvSpPr/>
          <p:nvPr/>
        </p:nvSpPr>
        <p:spPr>
          <a:xfrm>
            <a:off x="434671" y="473825"/>
            <a:ext cx="8333700" cy="4314300"/>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09" name="Google Shape;409;p38">
            <a:extLst>
              <a:ext uri="{FF2B5EF4-FFF2-40B4-BE49-F238E27FC236}">
                <a16:creationId xmlns:a16="http://schemas.microsoft.com/office/drawing/2014/main" id="{56C4CF39-4BCD-C2A4-BB2F-4C316BA5615A}"/>
              </a:ext>
            </a:extLst>
          </p:cNvPr>
          <p:cNvSpPr txBox="1">
            <a:spLocks noGrp="1"/>
          </p:cNvSpPr>
          <p:nvPr>
            <p:ph type="title"/>
          </p:nvPr>
        </p:nvSpPr>
        <p:spPr>
          <a:xfrm>
            <a:off x="474593" y="423724"/>
            <a:ext cx="6562200" cy="589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6"/>
              </a:buClr>
              <a:buSzPts val="2400"/>
              <a:buFont typeface="Calibri"/>
              <a:buNone/>
            </a:pPr>
            <a:r>
              <a:rPr lang="en" sz="1600" dirty="0">
                <a:solidFill>
                  <a:schemeClr val="accent6"/>
                </a:solidFill>
              </a:rPr>
              <a:t>Demographics – Income profile on Target vs. Non-Target</a:t>
            </a:r>
            <a:endParaRPr sz="1600" dirty="0"/>
          </a:p>
        </p:txBody>
      </p:sp>
      <p:sp>
        <p:nvSpPr>
          <p:cNvPr id="412" name="Google Shape;412;p38">
            <a:extLst>
              <a:ext uri="{FF2B5EF4-FFF2-40B4-BE49-F238E27FC236}">
                <a16:creationId xmlns:a16="http://schemas.microsoft.com/office/drawing/2014/main" id="{35945BE2-0E3E-611E-54DE-E97E2AE65739}"/>
              </a:ext>
            </a:extLst>
          </p:cNvPr>
          <p:cNvSpPr txBox="1"/>
          <p:nvPr/>
        </p:nvSpPr>
        <p:spPr>
          <a:xfrm>
            <a:off x="730550" y="962822"/>
            <a:ext cx="3541413" cy="29090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D96B3D"/>
              </a:buClr>
              <a:buSzPts val="600"/>
              <a:buFont typeface="Calibri"/>
              <a:buNone/>
            </a:pPr>
            <a:endParaRPr sz="600" b="1" i="0" u="none" strike="noStrike" cap="none">
              <a:solidFill>
                <a:srgbClr val="C17529"/>
              </a:solidFill>
              <a:latin typeface="Calibri"/>
              <a:ea typeface="Calibri"/>
              <a:cs typeface="Calibri"/>
              <a:sym typeface="Calibri"/>
            </a:endParaRPr>
          </a:p>
        </p:txBody>
      </p:sp>
      <p:sp>
        <p:nvSpPr>
          <p:cNvPr id="414" name="Google Shape;414;p38">
            <a:extLst>
              <a:ext uri="{FF2B5EF4-FFF2-40B4-BE49-F238E27FC236}">
                <a16:creationId xmlns:a16="http://schemas.microsoft.com/office/drawing/2014/main" id="{E585C959-C90D-FFBE-A607-D4B5B6E61D23}"/>
              </a:ext>
            </a:extLst>
          </p:cNvPr>
          <p:cNvSpPr txBox="1"/>
          <p:nvPr/>
        </p:nvSpPr>
        <p:spPr>
          <a:xfrm>
            <a:off x="5113295" y="1656088"/>
            <a:ext cx="3243305" cy="2677616"/>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pPr lvl="0"/>
            <a:r>
              <a:rPr lang="en-US" sz="1200" dirty="0">
                <a:solidFill>
                  <a:schemeClr val="dk1"/>
                </a:solidFill>
                <a:latin typeface="Calibri"/>
                <a:ea typeface="Calibri"/>
                <a:cs typeface="Calibri"/>
              </a:rPr>
              <a:t>Target Customers Skewed Lower-to-Mid Income:</a:t>
            </a:r>
          </a:p>
          <a:p>
            <a:pPr lvl="0"/>
            <a:endParaRPr sz="1200" dirty="0">
              <a:solidFill>
                <a:schemeClr val="dk1"/>
              </a:solidFill>
              <a:latin typeface="Calibri"/>
              <a:ea typeface="Calibri"/>
              <a:cs typeface="Calibri"/>
              <a:sym typeface="Calibri"/>
            </a:endParaRPr>
          </a:p>
          <a:p>
            <a:pPr marL="171450" indent="-165100">
              <a:buClr>
                <a:schemeClr val="dk1"/>
              </a:buClr>
              <a:buSzPts val="1100"/>
              <a:buFont typeface="Arial"/>
              <a:buChar char="•"/>
            </a:pPr>
            <a:r>
              <a:rPr lang="en-US" sz="1200" dirty="0">
                <a:latin typeface="Calibri" panose="020F0502020204030204" pitchFamily="34" charset="0"/>
                <a:cs typeface="Calibri" panose="020F0502020204030204" pitchFamily="34" charset="0"/>
              </a:rPr>
              <a:t>Target customers are primarily concentrated in the under-$50K and $50K–$100K income brackets, indicating a strong preference for value-oriented, budget-conscious households</a:t>
            </a:r>
            <a:endParaRPr lang="en-US" sz="1200" b="1" u="sng" dirty="0">
              <a:solidFill>
                <a:schemeClr val="accent6"/>
              </a:solidFill>
              <a:latin typeface="Calibri" panose="020F0502020204030204" pitchFamily="34" charset="0"/>
              <a:cs typeface="Calibri" panose="020F0502020204030204" pitchFamily="34" charset="0"/>
            </a:endParaRPr>
          </a:p>
          <a:p>
            <a:pPr marL="6350" lvl="0">
              <a:buClr>
                <a:schemeClr val="dk1"/>
              </a:buClr>
              <a:buSzPts val="1100"/>
            </a:pPr>
            <a:endParaRPr lang="en-US" sz="1200" dirty="0">
              <a:solidFill>
                <a:schemeClr val="dk1"/>
              </a:solidFill>
              <a:latin typeface="Calibri"/>
              <a:ea typeface="Calibri"/>
              <a:cs typeface="Calibri"/>
            </a:endParaRPr>
          </a:p>
          <a:p>
            <a:pPr marL="171450" lvl="0" indent="-165100">
              <a:buClr>
                <a:schemeClr val="dk1"/>
              </a:buClr>
              <a:buSzPts val="1100"/>
              <a:buFont typeface="Arial"/>
              <a:buChar char="•"/>
            </a:pPr>
            <a:r>
              <a:rPr lang="en-US" sz="1200" dirty="0">
                <a:latin typeface="Calibri" panose="020F0502020204030204" pitchFamily="34" charset="0"/>
                <a:cs typeface="Calibri" panose="020F0502020204030204" pitchFamily="34" charset="0"/>
              </a:rPr>
              <a:t>Higher-income households are under-represented in the target group, with only 22 customers in the $100K+ bracket compared to 31 among non-targets. This indicates that Sticks currently has weaker natural appeal among premium or affluent segments</a:t>
            </a:r>
            <a:endParaRPr lang="en-US" sz="1200" dirty="0">
              <a:solidFill>
                <a:schemeClr val="dk1"/>
              </a:solidFill>
              <a:latin typeface="Calibri" panose="020F0502020204030204" pitchFamily="34" charset="0"/>
              <a:ea typeface="Calibri"/>
              <a:cs typeface="Calibri" panose="020F0502020204030204" pitchFamily="34" charset="0"/>
            </a:endParaRPr>
          </a:p>
          <a:p>
            <a:pPr marL="171450" lvl="0" indent="-165100">
              <a:buClr>
                <a:schemeClr val="dk1"/>
              </a:buClr>
              <a:buSzPts val="1100"/>
              <a:buFont typeface="Arial"/>
              <a:buChar char="•"/>
            </a:pPr>
            <a:endParaRPr sz="1200" dirty="0">
              <a:solidFill>
                <a:schemeClr val="dk1"/>
              </a:solidFill>
              <a:latin typeface="Calibri"/>
              <a:ea typeface="Calibri"/>
              <a:cs typeface="Calibri"/>
              <a:sym typeface="Calibri"/>
            </a:endParaRPr>
          </a:p>
        </p:txBody>
      </p:sp>
      <p:sp>
        <p:nvSpPr>
          <p:cNvPr id="4" name="Google Shape;259;p31">
            <a:extLst>
              <a:ext uri="{FF2B5EF4-FFF2-40B4-BE49-F238E27FC236}">
                <a16:creationId xmlns:a16="http://schemas.microsoft.com/office/drawing/2014/main" id="{EF883242-2C0B-9FF7-C5C9-3732649DC1D5}"/>
              </a:ext>
            </a:extLst>
          </p:cNvPr>
          <p:cNvSpPr txBox="1"/>
          <p:nvPr/>
        </p:nvSpPr>
        <p:spPr>
          <a:xfrm>
            <a:off x="5140886" y="1347876"/>
            <a:ext cx="1339539"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b="1" u="sng" dirty="0">
                <a:solidFill>
                  <a:schemeClr val="accent6"/>
                </a:solidFill>
                <a:latin typeface="Calibri"/>
                <a:ea typeface="Calibri"/>
                <a:cs typeface="Calibri"/>
                <a:sym typeface="Calibri"/>
              </a:rPr>
              <a:t>Key Insights: </a:t>
            </a:r>
            <a:endParaRPr b="1" u="sng" dirty="0">
              <a:solidFill>
                <a:schemeClr val="accent6"/>
              </a:solidFill>
              <a:latin typeface="Calibri"/>
              <a:ea typeface="Calibri"/>
              <a:cs typeface="Calibri"/>
              <a:sym typeface="Calibri"/>
            </a:endParaRPr>
          </a:p>
        </p:txBody>
      </p:sp>
      <p:sp>
        <p:nvSpPr>
          <p:cNvPr id="5" name="Google Shape;259;p31">
            <a:extLst>
              <a:ext uri="{FF2B5EF4-FFF2-40B4-BE49-F238E27FC236}">
                <a16:creationId xmlns:a16="http://schemas.microsoft.com/office/drawing/2014/main" id="{73716CD2-7C13-F906-7409-ACE6F5F7BC07}"/>
              </a:ext>
            </a:extLst>
          </p:cNvPr>
          <p:cNvSpPr txBox="1"/>
          <p:nvPr/>
        </p:nvSpPr>
        <p:spPr>
          <a:xfrm>
            <a:off x="447690" y="190881"/>
            <a:ext cx="7430886" cy="461624"/>
          </a:xfrm>
          <a:prstGeom prst="rect">
            <a:avLst/>
          </a:prstGeom>
          <a:noFill/>
          <a:ln>
            <a:noFill/>
          </a:ln>
        </p:spPr>
        <p:txBody>
          <a:bodyPr spcFirstLastPara="1" wrap="square" lIns="91425" tIns="45700" rIns="91425" bIns="45700" anchor="t" anchorCtr="0">
            <a:spAutoFit/>
          </a:bodyPr>
          <a:lstStyle/>
          <a:p>
            <a:pPr lvl="0"/>
            <a:r>
              <a:rPr lang="en-US" sz="2400" b="1" dirty="0">
                <a:solidFill>
                  <a:schemeClr val="accent6"/>
                </a:solidFill>
                <a:latin typeface="Calibri"/>
                <a:ea typeface="Calibri"/>
                <a:cs typeface="Calibri"/>
                <a:sym typeface="Calibri"/>
              </a:rPr>
              <a:t>Customer Segmentation Analysis</a:t>
            </a:r>
          </a:p>
        </p:txBody>
      </p:sp>
      <p:pic>
        <p:nvPicPr>
          <p:cNvPr id="7" name="Picture 6">
            <a:extLst>
              <a:ext uri="{FF2B5EF4-FFF2-40B4-BE49-F238E27FC236}">
                <a16:creationId xmlns:a16="http://schemas.microsoft.com/office/drawing/2014/main" id="{7B7621B7-7443-24A6-71C4-EDE9FA3EC45A}"/>
              </a:ext>
            </a:extLst>
          </p:cNvPr>
          <p:cNvPicPr>
            <a:picLocks noChangeAspect="1"/>
          </p:cNvPicPr>
          <p:nvPr/>
        </p:nvPicPr>
        <p:blipFill>
          <a:blip r:embed="rId3">
            <a:duotone>
              <a:schemeClr val="accent6">
                <a:shade val="45000"/>
                <a:satMod val="135000"/>
              </a:schemeClr>
              <a:prstClr val="white"/>
            </a:duotone>
          </a:blip>
          <a:stretch>
            <a:fillRect/>
          </a:stretch>
        </p:blipFill>
        <p:spPr>
          <a:xfrm>
            <a:off x="714660" y="1108276"/>
            <a:ext cx="4477848" cy="3294410"/>
          </a:xfrm>
          <a:prstGeom prst="rect">
            <a:avLst/>
          </a:prstGeom>
        </p:spPr>
      </p:pic>
      <p:pic>
        <p:nvPicPr>
          <p:cNvPr id="2" name="Google Shape;148;p26" descr="A black and orange logo&#10;&#10;AI-generated content may be incorrect.">
            <a:extLst>
              <a:ext uri="{FF2B5EF4-FFF2-40B4-BE49-F238E27FC236}">
                <a16:creationId xmlns:a16="http://schemas.microsoft.com/office/drawing/2014/main" id="{27C55B50-8041-8EDD-C923-E904C5E86929}"/>
              </a:ext>
            </a:extLst>
          </p:cNvPr>
          <p:cNvPicPr preferRelativeResize="0"/>
          <p:nvPr/>
        </p:nvPicPr>
        <p:blipFill rotWithShape="1">
          <a:blip r:embed="rId4">
            <a:alphaModFix/>
          </a:blip>
          <a:srcRect l="5357" r="10411"/>
          <a:stretch/>
        </p:blipFill>
        <p:spPr>
          <a:xfrm>
            <a:off x="7905729" y="199474"/>
            <a:ext cx="862617" cy="497320"/>
          </a:xfrm>
          <a:prstGeom prst="rect">
            <a:avLst/>
          </a:prstGeom>
          <a:noFill/>
          <a:ln>
            <a:noFill/>
          </a:ln>
        </p:spPr>
      </p:pic>
    </p:spTree>
    <p:extLst>
      <p:ext uri="{BB962C8B-B14F-4D97-AF65-F5344CB8AC3E}">
        <p14:creationId xmlns:p14="http://schemas.microsoft.com/office/powerpoint/2010/main" val="2887179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3"/>
        <p:cNvGrpSpPr/>
        <p:nvPr/>
      </p:nvGrpSpPr>
      <p:grpSpPr>
        <a:xfrm>
          <a:off x="0" y="0"/>
          <a:ext cx="0" cy="0"/>
          <a:chOff x="0" y="0"/>
          <a:chExt cx="0" cy="0"/>
        </a:xfrm>
      </p:grpSpPr>
      <p:sp>
        <p:nvSpPr>
          <p:cNvPr id="384" name="Google Shape;384;p37"/>
          <p:cNvSpPr/>
          <p:nvPr/>
        </p:nvSpPr>
        <p:spPr>
          <a:xfrm>
            <a:off x="0" y="0"/>
            <a:ext cx="9143999" cy="514302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385" name="Google Shape;385;p37"/>
          <p:cNvGrpSpPr/>
          <p:nvPr/>
        </p:nvGrpSpPr>
        <p:grpSpPr>
          <a:xfrm>
            <a:off x="55725" y="1788826"/>
            <a:ext cx="430568" cy="1565847"/>
            <a:chOff x="209668" y="2857422"/>
            <a:chExt cx="463662" cy="2087796"/>
          </a:xfrm>
        </p:grpSpPr>
        <p:sp>
          <p:nvSpPr>
            <p:cNvPr id="386" name="Google Shape;386;p37"/>
            <p:cNvSpPr/>
            <p:nvPr/>
          </p:nvSpPr>
          <p:spPr>
            <a:xfrm rot="10800000">
              <a:off x="423947" y="2857422"/>
              <a:ext cx="249383" cy="2087795"/>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387" name="Google Shape;387;p37"/>
            <p:cNvCxnSpPr/>
            <p:nvPr/>
          </p:nvCxnSpPr>
          <p:spPr>
            <a:xfrm flipH="1">
              <a:off x="209668" y="2857423"/>
              <a:ext cx="1" cy="2087795"/>
            </a:xfrm>
            <a:prstGeom prst="straightConnector1">
              <a:avLst/>
            </a:prstGeom>
            <a:noFill/>
            <a:ln w="177800" cap="flat" cmpd="sng">
              <a:solidFill>
                <a:schemeClr val="accent4"/>
              </a:solidFill>
              <a:prstDash val="solid"/>
              <a:round/>
              <a:headEnd type="none" w="sm" len="sm"/>
              <a:tailEnd type="none" w="sm" len="sm"/>
            </a:ln>
          </p:spPr>
        </p:cxnSp>
      </p:grpSp>
      <p:sp>
        <p:nvSpPr>
          <p:cNvPr id="388" name="Google Shape;388;p37"/>
          <p:cNvSpPr/>
          <p:nvPr/>
        </p:nvSpPr>
        <p:spPr>
          <a:xfrm flipH="1">
            <a:off x="8023252" y="0"/>
            <a:ext cx="1120748" cy="5143500"/>
          </a:xfrm>
          <a:prstGeom prst="rect">
            <a:avLst/>
          </a:prstGeom>
          <a:solidFill>
            <a:schemeClr val="accent4"/>
          </a:solidFill>
          <a:ln>
            <a:noFill/>
          </a:ln>
          <a:effectLst>
            <a:reflection endPos="30000" dist="38100" dir="5400000" fadeDir="5400012" sy="-100000" algn="bl" rotWithShape="0"/>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89" name="Google Shape;389;p37"/>
          <p:cNvSpPr/>
          <p:nvPr/>
        </p:nvSpPr>
        <p:spPr>
          <a:xfrm>
            <a:off x="434646" y="473825"/>
            <a:ext cx="8333796" cy="4314303"/>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Calibri"/>
              <a:ea typeface="Calibri"/>
              <a:cs typeface="Calibri"/>
              <a:sym typeface="Calibri"/>
            </a:endParaRPr>
          </a:p>
        </p:txBody>
      </p:sp>
      <p:sp>
        <p:nvSpPr>
          <p:cNvPr id="390" name="Google Shape;390;p37"/>
          <p:cNvSpPr txBox="1">
            <a:spLocks noGrp="1"/>
          </p:cNvSpPr>
          <p:nvPr>
            <p:ph type="title"/>
          </p:nvPr>
        </p:nvSpPr>
        <p:spPr>
          <a:xfrm>
            <a:off x="540327" y="497410"/>
            <a:ext cx="6562200" cy="357448"/>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6"/>
              </a:buClr>
              <a:buSzPts val="2400"/>
              <a:buFont typeface="Calibri"/>
              <a:buNone/>
            </a:pPr>
            <a:r>
              <a:rPr lang="en" sz="1600" dirty="0">
                <a:solidFill>
                  <a:schemeClr val="accent6"/>
                </a:solidFill>
              </a:rPr>
              <a:t>Lunchtime Behavior – Target vs. Non-Target Customers</a:t>
            </a:r>
            <a:endParaRPr sz="1600" dirty="0"/>
          </a:p>
        </p:txBody>
      </p:sp>
      <p:sp>
        <p:nvSpPr>
          <p:cNvPr id="393" name="Google Shape;393;p37"/>
          <p:cNvSpPr txBox="1"/>
          <p:nvPr/>
        </p:nvSpPr>
        <p:spPr>
          <a:xfrm>
            <a:off x="730550" y="962822"/>
            <a:ext cx="3541413" cy="29090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D96B3D"/>
              </a:buClr>
              <a:buSzPts val="600"/>
              <a:buFont typeface="Calibri"/>
              <a:buNone/>
            </a:pPr>
            <a:endParaRPr sz="600" b="1" i="0" u="none" strike="noStrike" cap="none">
              <a:solidFill>
                <a:srgbClr val="C17529"/>
              </a:solidFill>
              <a:latin typeface="Calibri"/>
              <a:ea typeface="Calibri"/>
              <a:cs typeface="Calibri"/>
              <a:sym typeface="Calibri"/>
            </a:endParaRPr>
          </a:p>
        </p:txBody>
      </p:sp>
      <p:pic>
        <p:nvPicPr>
          <p:cNvPr id="396" name="Google Shape;396;p37"/>
          <p:cNvPicPr preferRelativeResize="0"/>
          <p:nvPr/>
        </p:nvPicPr>
        <p:blipFill>
          <a:blip r:embed="rId3">
            <a:alphaModFix/>
          </a:blip>
          <a:stretch>
            <a:fillRect/>
          </a:stretch>
        </p:blipFill>
        <p:spPr>
          <a:xfrm>
            <a:off x="3499225" y="962825"/>
            <a:ext cx="919126" cy="440525"/>
          </a:xfrm>
          <a:prstGeom prst="rect">
            <a:avLst/>
          </a:prstGeom>
          <a:noFill/>
          <a:ln>
            <a:noFill/>
          </a:ln>
        </p:spPr>
      </p:pic>
      <p:sp>
        <p:nvSpPr>
          <p:cNvPr id="397" name="Google Shape;397;p37"/>
          <p:cNvSpPr txBox="1"/>
          <p:nvPr/>
        </p:nvSpPr>
        <p:spPr>
          <a:xfrm>
            <a:off x="5308929" y="1167214"/>
            <a:ext cx="3104521" cy="3416279"/>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None/>
            </a:pPr>
            <a:r>
              <a:rPr lang="en" sz="1200" dirty="0">
                <a:solidFill>
                  <a:schemeClr val="dk1"/>
                </a:solidFill>
                <a:latin typeface="Calibri"/>
                <a:ea typeface="Calibri"/>
                <a:cs typeface="Calibri"/>
                <a:sym typeface="Calibri"/>
              </a:rPr>
              <a:t>Target customers eat out more, depend less on home or cafeteria meals, and value healthy, convenient options, making them a strong fit for Sticks.</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sz="600" dirty="0">
              <a:solidFill>
                <a:schemeClr val="dk1"/>
              </a:solidFill>
              <a:latin typeface="Calibri"/>
              <a:ea typeface="Calibri"/>
              <a:cs typeface="Calibri"/>
              <a:sym typeface="Calibri"/>
            </a:endParaRPr>
          </a:p>
          <a:p>
            <a:pPr marL="171450" lvl="0" indent="-165100" algn="l" rtl="0">
              <a:spcBef>
                <a:spcPts val="0"/>
              </a:spcBef>
              <a:spcAft>
                <a:spcPts val="0"/>
              </a:spcAft>
              <a:buClr>
                <a:schemeClr val="dk1"/>
              </a:buClr>
              <a:buSzPts val="1100"/>
              <a:buChar char="•"/>
            </a:pPr>
            <a:r>
              <a:rPr lang="en" sz="1200" dirty="0">
                <a:solidFill>
                  <a:schemeClr val="dk1"/>
                </a:solidFill>
                <a:latin typeface="Calibri"/>
                <a:ea typeface="Calibri"/>
                <a:cs typeface="Calibri"/>
                <a:sym typeface="Calibri"/>
              </a:rPr>
              <a:t>Slightly higher restaurant usage: Buy lunch at a restaurant: 2.8 vs. 2.4x per week</a:t>
            </a:r>
            <a:endParaRPr sz="1200" dirty="0">
              <a:solidFill>
                <a:schemeClr val="dk1"/>
              </a:solidFill>
              <a:latin typeface="Calibri"/>
              <a:ea typeface="Calibri"/>
              <a:cs typeface="Calibri"/>
              <a:sym typeface="Calibri"/>
            </a:endParaRPr>
          </a:p>
          <a:p>
            <a:pPr marL="457200" lvl="0" indent="0" algn="l" rtl="0">
              <a:spcBef>
                <a:spcPts val="0"/>
              </a:spcBef>
              <a:spcAft>
                <a:spcPts val="0"/>
              </a:spcAft>
              <a:buNone/>
            </a:pPr>
            <a:endParaRPr sz="600" dirty="0">
              <a:solidFill>
                <a:schemeClr val="dk1"/>
              </a:solidFill>
              <a:latin typeface="Calibri"/>
              <a:ea typeface="Calibri"/>
              <a:cs typeface="Calibri"/>
              <a:sym typeface="Calibri"/>
            </a:endParaRPr>
          </a:p>
          <a:p>
            <a:pPr marL="171450" lvl="0" indent="-165100" algn="l" rtl="0">
              <a:spcBef>
                <a:spcPts val="0"/>
              </a:spcBef>
              <a:spcAft>
                <a:spcPts val="0"/>
              </a:spcAft>
              <a:buClr>
                <a:schemeClr val="dk1"/>
              </a:buClr>
              <a:buSzPts val="1100"/>
              <a:buChar char="•"/>
            </a:pPr>
            <a:r>
              <a:rPr lang="en" sz="1200" dirty="0">
                <a:solidFill>
                  <a:schemeClr val="dk1"/>
                </a:solidFill>
                <a:latin typeface="Calibri"/>
                <a:ea typeface="Calibri"/>
                <a:cs typeface="Calibri"/>
                <a:sym typeface="Calibri"/>
              </a:rPr>
              <a:t>Less tied to eating at home (Target: 2.7 vs. Non-target: 4.6).  Targets are less home-locked and more open to outside options.</a:t>
            </a:r>
            <a:endParaRPr sz="1200" dirty="0">
              <a:solidFill>
                <a:schemeClr val="dk1"/>
              </a:solidFill>
              <a:latin typeface="Calibri"/>
              <a:ea typeface="Calibri"/>
              <a:cs typeface="Calibri"/>
              <a:sym typeface="Calibri"/>
            </a:endParaRPr>
          </a:p>
          <a:p>
            <a:pPr marL="457200" lvl="0" indent="0" algn="l" rtl="0">
              <a:spcBef>
                <a:spcPts val="0"/>
              </a:spcBef>
              <a:spcAft>
                <a:spcPts val="0"/>
              </a:spcAft>
              <a:buNone/>
            </a:pPr>
            <a:endParaRPr sz="600" dirty="0">
              <a:solidFill>
                <a:schemeClr val="dk1"/>
              </a:solidFill>
              <a:latin typeface="Calibri"/>
              <a:ea typeface="Calibri"/>
              <a:cs typeface="Calibri"/>
              <a:sym typeface="Calibri"/>
            </a:endParaRPr>
          </a:p>
          <a:p>
            <a:pPr marL="171450" lvl="0" indent="-165100" algn="l" rtl="0">
              <a:spcBef>
                <a:spcPts val="0"/>
              </a:spcBef>
              <a:spcAft>
                <a:spcPts val="0"/>
              </a:spcAft>
              <a:buClr>
                <a:schemeClr val="dk1"/>
              </a:buClr>
              <a:buSzPts val="1100"/>
              <a:buChar char="•"/>
            </a:pPr>
            <a:r>
              <a:rPr lang="en" sz="1200" dirty="0">
                <a:solidFill>
                  <a:schemeClr val="dk1"/>
                </a:solidFill>
                <a:latin typeface="Calibri"/>
                <a:ea typeface="Calibri"/>
                <a:cs typeface="Calibri"/>
                <a:sym typeface="Calibri"/>
              </a:rPr>
              <a:t>Heavy “bring-your-own” behavior (Target 3.2 vs. 1.9); targets are health/value-conscious. </a:t>
            </a:r>
            <a:endParaRPr sz="1200" dirty="0">
              <a:solidFill>
                <a:schemeClr val="dk1"/>
              </a:solidFill>
              <a:latin typeface="Calibri"/>
              <a:ea typeface="Calibri"/>
              <a:cs typeface="Calibri"/>
              <a:sym typeface="Calibri"/>
            </a:endParaRPr>
          </a:p>
          <a:p>
            <a:pPr marL="457200" lvl="0" indent="0" algn="l" rtl="0">
              <a:spcBef>
                <a:spcPts val="0"/>
              </a:spcBef>
              <a:spcAft>
                <a:spcPts val="0"/>
              </a:spcAft>
              <a:buNone/>
            </a:pPr>
            <a:endParaRPr sz="600" dirty="0">
              <a:solidFill>
                <a:schemeClr val="dk1"/>
              </a:solidFill>
              <a:latin typeface="Calibri"/>
              <a:ea typeface="Calibri"/>
              <a:cs typeface="Calibri"/>
              <a:sym typeface="Calibri"/>
            </a:endParaRPr>
          </a:p>
          <a:p>
            <a:pPr marL="171450" lvl="0" indent="-165100" algn="l" rtl="0">
              <a:spcBef>
                <a:spcPts val="0"/>
              </a:spcBef>
              <a:spcAft>
                <a:spcPts val="0"/>
              </a:spcAft>
              <a:buClr>
                <a:schemeClr val="dk1"/>
              </a:buClr>
              <a:buSzPts val="1100"/>
              <a:buChar char="•"/>
            </a:pPr>
            <a:r>
              <a:rPr lang="en" sz="1200" dirty="0">
                <a:solidFill>
                  <a:schemeClr val="dk1"/>
                </a:solidFill>
                <a:latin typeface="Calibri"/>
                <a:ea typeface="Calibri"/>
                <a:cs typeface="Calibri"/>
                <a:sym typeface="Calibri"/>
              </a:rPr>
              <a:t>Less dependent on workplace cafeterias: Buy lunch at workplace: 1.2 vs. 1.7; targets are more open to off-site restaurants </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DB75B611-0541-6D2E-6DF8-6E8DA11EE359}"/>
              </a:ext>
            </a:extLst>
          </p:cNvPr>
          <p:cNvPicPr>
            <a:picLocks noChangeAspect="1"/>
          </p:cNvPicPr>
          <p:nvPr/>
        </p:nvPicPr>
        <p:blipFill>
          <a:blip r:embed="rId4">
            <a:duotone>
              <a:schemeClr val="accent6">
                <a:shade val="45000"/>
                <a:satMod val="135000"/>
              </a:schemeClr>
              <a:prstClr val="white"/>
            </a:duotone>
          </a:blip>
          <a:stretch>
            <a:fillRect/>
          </a:stretch>
        </p:blipFill>
        <p:spPr>
          <a:xfrm>
            <a:off x="540327" y="942067"/>
            <a:ext cx="4333956" cy="3449475"/>
          </a:xfrm>
          <a:prstGeom prst="rect">
            <a:avLst/>
          </a:prstGeom>
        </p:spPr>
      </p:pic>
      <p:pic>
        <p:nvPicPr>
          <p:cNvPr id="5" name="Picture 4">
            <a:extLst>
              <a:ext uri="{FF2B5EF4-FFF2-40B4-BE49-F238E27FC236}">
                <a16:creationId xmlns:a16="http://schemas.microsoft.com/office/drawing/2014/main" id="{A288FB9E-843E-5D36-99DD-A016BA503FA5}"/>
              </a:ext>
            </a:extLst>
          </p:cNvPr>
          <p:cNvPicPr>
            <a:picLocks noChangeAspect="1"/>
          </p:cNvPicPr>
          <p:nvPr/>
        </p:nvPicPr>
        <p:blipFill>
          <a:blip r:embed="rId5">
            <a:duotone>
              <a:schemeClr val="accent6">
                <a:shade val="45000"/>
                <a:satMod val="135000"/>
              </a:schemeClr>
              <a:prstClr val="white"/>
            </a:duotone>
          </a:blip>
          <a:stretch>
            <a:fillRect/>
          </a:stretch>
        </p:blipFill>
        <p:spPr>
          <a:xfrm>
            <a:off x="2155474" y="1436627"/>
            <a:ext cx="747718" cy="381003"/>
          </a:xfrm>
          <a:prstGeom prst="rect">
            <a:avLst/>
          </a:prstGeom>
        </p:spPr>
      </p:pic>
      <p:sp>
        <p:nvSpPr>
          <p:cNvPr id="6" name="Google Shape;259;p31">
            <a:extLst>
              <a:ext uri="{FF2B5EF4-FFF2-40B4-BE49-F238E27FC236}">
                <a16:creationId xmlns:a16="http://schemas.microsoft.com/office/drawing/2014/main" id="{54180B5B-FA53-4243-F2AD-17C0DF4A9B59}"/>
              </a:ext>
            </a:extLst>
          </p:cNvPr>
          <p:cNvSpPr txBox="1"/>
          <p:nvPr/>
        </p:nvSpPr>
        <p:spPr>
          <a:xfrm>
            <a:off x="476132" y="159386"/>
            <a:ext cx="7430886" cy="461624"/>
          </a:xfrm>
          <a:prstGeom prst="rect">
            <a:avLst/>
          </a:prstGeom>
          <a:noFill/>
          <a:ln>
            <a:noFill/>
          </a:ln>
        </p:spPr>
        <p:txBody>
          <a:bodyPr spcFirstLastPara="1" wrap="square" lIns="91425" tIns="45700" rIns="91425" bIns="45700" anchor="t" anchorCtr="0">
            <a:spAutoFit/>
          </a:bodyPr>
          <a:lstStyle/>
          <a:p>
            <a:pPr lvl="0"/>
            <a:r>
              <a:rPr lang="en-US" sz="2400" b="1" dirty="0">
                <a:solidFill>
                  <a:schemeClr val="accent6"/>
                </a:solidFill>
                <a:latin typeface="Calibri"/>
                <a:ea typeface="Calibri"/>
                <a:cs typeface="Calibri"/>
                <a:sym typeface="Calibri"/>
              </a:rPr>
              <a:t>Customer Segmentation Analysis</a:t>
            </a:r>
          </a:p>
        </p:txBody>
      </p:sp>
      <p:sp>
        <p:nvSpPr>
          <p:cNvPr id="7" name="Google Shape;259;p31">
            <a:extLst>
              <a:ext uri="{FF2B5EF4-FFF2-40B4-BE49-F238E27FC236}">
                <a16:creationId xmlns:a16="http://schemas.microsoft.com/office/drawing/2014/main" id="{B1B8072D-672A-ADCF-1627-64F409F2A1C9}"/>
              </a:ext>
            </a:extLst>
          </p:cNvPr>
          <p:cNvSpPr txBox="1"/>
          <p:nvPr/>
        </p:nvSpPr>
        <p:spPr>
          <a:xfrm>
            <a:off x="5308883" y="897182"/>
            <a:ext cx="1339539"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b="1" u="sng" dirty="0">
                <a:solidFill>
                  <a:schemeClr val="accent6"/>
                </a:solidFill>
                <a:latin typeface="Calibri"/>
                <a:ea typeface="Calibri"/>
                <a:cs typeface="Calibri"/>
                <a:sym typeface="Calibri"/>
              </a:rPr>
              <a:t>Key Insights: </a:t>
            </a:r>
            <a:endParaRPr b="1" u="sng" dirty="0">
              <a:solidFill>
                <a:schemeClr val="accent6"/>
              </a:solidFill>
              <a:latin typeface="Calibri"/>
              <a:ea typeface="Calibri"/>
              <a:cs typeface="Calibri"/>
              <a:sym typeface="Calibri"/>
            </a:endParaRPr>
          </a:p>
        </p:txBody>
      </p:sp>
      <p:pic>
        <p:nvPicPr>
          <p:cNvPr id="2" name="Google Shape;148;p26" descr="A black and orange logo&#10;&#10;AI-generated content may be incorrect.">
            <a:extLst>
              <a:ext uri="{FF2B5EF4-FFF2-40B4-BE49-F238E27FC236}">
                <a16:creationId xmlns:a16="http://schemas.microsoft.com/office/drawing/2014/main" id="{A4838DE1-CF8C-C1C8-301C-6D732355E2E0}"/>
              </a:ext>
            </a:extLst>
          </p:cNvPr>
          <p:cNvPicPr preferRelativeResize="0"/>
          <p:nvPr/>
        </p:nvPicPr>
        <p:blipFill rotWithShape="1">
          <a:blip r:embed="rId6">
            <a:alphaModFix/>
          </a:blip>
          <a:srcRect l="5357" r="10411"/>
          <a:stretch/>
        </p:blipFill>
        <p:spPr>
          <a:xfrm>
            <a:off x="7905729" y="199474"/>
            <a:ext cx="862617" cy="4973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2"/>
        <p:cNvGrpSpPr/>
        <p:nvPr/>
      </p:nvGrpSpPr>
      <p:grpSpPr>
        <a:xfrm>
          <a:off x="0" y="0"/>
          <a:ext cx="0" cy="0"/>
          <a:chOff x="0" y="0"/>
          <a:chExt cx="0" cy="0"/>
        </a:xfrm>
      </p:grpSpPr>
      <p:sp>
        <p:nvSpPr>
          <p:cNvPr id="403" name="Google Shape;403;p38"/>
          <p:cNvSpPr/>
          <p:nvPr/>
        </p:nvSpPr>
        <p:spPr>
          <a:xfrm>
            <a:off x="0" y="0"/>
            <a:ext cx="9143999" cy="514302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404" name="Google Shape;404;p38"/>
          <p:cNvGrpSpPr/>
          <p:nvPr/>
        </p:nvGrpSpPr>
        <p:grpSpPr>
          <a:xfrm>
            <a:off x="55725" y="1788826"/>
            <a:ext cx="430568" cy="1565847"/>
            <a:chOff x="209668" y="2857422"/>
            <a:chExt cx="463662" cy="2087796"/>
          </a:xfrm>
        </p:grpSpPr>
        <p:sp>
          <p:nvSpPr>
            <p:cNvPr id="405" name="Google Shape;405;p38"/>
            <p:cNvSpPr/>
            <p:nvPr/>
          </p:nvSpPr>
          <p:spPr>
            <a:xfrm rot="10800000">
              <a:off x="423947" y="2857422"/>
              <a:ext cx="249383" cy="2087795"/>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406" name="Google Shape;406;p38"/>
            <p:cNvCxnSpPr/>
            <p:nvPr/>
          </p:nvCxnSpPr>
          <p:spPr>
            <a:xfrm flipH="1">
              <a:off x="209668" y="2857423"/>
              <a:ext cx="1" cy="2087795"/>
            </a:xfrm>
            <a:prstGeom prst="straightConnector1">
              <a:avLst/>
            </a:prstGeom>
            <a:noFill/>
            <a:ln w="177800" cap="flat" cmpd="sng">
              <a:solidFill>
                <a:schemeClr val="accent4"/>
              </a:solidFill>
              <a:prstDash val="solid"/>
              <a:round/>
              <a:headEnd type="none" w="sm" len="sm"/>
              <a:tailEnd type="none" w="sm" len="sm"/>
            </a:ln>
          </p:spPr>
        </p:cxnSp>
      </p:grpSp>
      <p:sp>
        <p:nvSpPr>
          <p:cNvPr id="407" name="Google Shape;407;p38"/>
          <p:cNvSpPr/>
          <p:nvPr/>
        </p:nvSpPr>
        <p:spPr>
          <a:xfrm flipH="1">
            <a:off x="8023252" y="0"/>
            <a:ext cx="1120748"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08" name="Google Shape;408;p38"/>
          <p:cNvSpPr/>
          <p:nvPr/>
        </p:nvSpPr>
        <p:spPr>
          <a:xfrm>
            <a:off x="434671" y="473825"/>
            <a:ext cx="8333700" cy="4314300"/>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09" name="Google Shape;409;p38"/>
          <p:cNvSpPr txBox="1">
            <a:spLocks noGrp="1"/>
          </p:cNvSpPr>
          <p:nvPr>
            <p:ph type="title"/>
          </p:nvPr>
        </p:nvSpPr>
        <p:spPr>
          <a:xfrm>
            <a:off x="474593" y="423724"/>
            <a:ext cx="6562200" cy="589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6"/>
              </a:buClr>
              <a:buSzPts val="2400"/>
              <a:buFont typeface="Calibri"/>
              <a:buNone/>
            </a:pPr>
            <a:r>
              <a:rPr lang="en" sz="1600" dirty="0">
                <a:solidFill>
                  <a:schemeClr val="accent6"/>
                </a:solidFill>
              </a:rPr>
              <a:t>Valuation Metric – Target vs. Non-Target</a:t>
            </a:r>
            <a:endParaRPr sz="1600" dirty="0"/>
          </a:p>
        </p:txBody>
      </p:sp>
      <p:sp>
        <p:nvSpPr>
          <p:cNvPr id="412" name="Google Shape;412;p38"/>
          <p:cNvSpPr txBox="1"/>
          <p:nvPr/>
        </p:nvSpPr>
        <p:spPr>
          <a:xfrm>
            <a:off x="730550" y="962822"/>
            <a:ext cx="3541413" cy="29090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D96B3D"/>
              </a:buClr>
              <a:buSzPts val="600"/>
              <a:buFont typeface="Calibri"/>
              <a:buNone/>
            </a:pPr>
            <a:endParaRPr sz="600" b="1" i="0" u="none" strike="noStrike" cap="none">
              <a:solidFill>
                <a:srgbClr val="C17529"/>
              </a:solidFill>
              <a:latin typeface="Calibri"/>
              <a:ea typeface="Calibri"/>
              <a:cs typeface="Calibri"/>
              <a:sym typeface="Calibri"/>
            </a:endParaRPr>
          </a:p>
        </p:txBody>
      </p:sp>
      <p:sp>
        <p:nvSpPr>
          <p:cNvPr id="414" name="Google Shape;414;p38"/>
          <p:cNvSpPr txBox="1"/>
          <p:nvPr/>
        </p:nvSpPr>
        <p:spPr>
          <a:xfrm>
            <a:off x="5719877" y="1225836"/>
            <a:ext cx="2765266" cy="3308558"/>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 sz="1100" dirty="0">
                <a:solidFill>
                  <a:schemeClr val="dk1"/>
                </a:solidFill>
                <a:latin typeface="Calibri"/>
                <a:ea typeface="Calibri"/>
                <a:cs typeface="Calibri"/>
                <a:sym typeface="Calibri"/>
              </a:rPr>
              <a:t>Across every attribute, the target group shows higher expectations and stronger engagement with restaurant choices:</a:t>
            </a:r>
            <a:endParaRPr sz="1100" dirty="0">
              <a:latin typeface="Calibri"/>
              <a:ea typeface="Calibri"/>
              <a:cs typeface="Calibri"/>
              <a:sym typeface="Calibri"/>
            </a:endParaRPr>
          </a:p>
          <a:p>
            <a:pPr marL="0" marR="0" lvl="0" indent="0" algn="l" rtl="0">
              <a:spcBef>
                <a:spcPts val="0"/>
              </a:spcBef>
              <a:spcAft>
                <a:spcPts val="0"/>
              </a:spcAft>
              <a:buNone/>
            </a:pPr>
            <a:endParaRPr sz="1100" b="1" dirty="0">
              <a:solidFill>
                <a:schemeClr val="dk1"/>
              </a:solidFill>
              <a:latin typeface="Calibri"/>
              <a:ea typeface="Calibri"/>
              <a:cs typeface="Calibri"/>
              <a:sym typeface="Calibri"/>
            </a:endParaRPr>
          </a:p>
          <a:p>
            <a:pPr marL="171450" marR="0" lvl="0" indent="-165100" algn="l" rtl="0">
              <a:spcBef>
                <a:spcPts val="0"/>
              </a:spcBef>
              <a:spcAft>
                <a:spcPts val="0"/>
              </a:spcAft>
              <a:buClr>
                <a:schemeClr val="dk1"/>
              </a:buClr>
              <a:buSzPts val="1100"/>
              <a:buFont typeface="Arial"/>
              <a:buChar char="•"/>
            </a:pPr>
            <a:r>
              <a:rPr lang="en" sz="1100" dirty="0">
                <a:solidFill>
                  <a:schemeClr val="dk1"/>
                </a:solidFill>
                <a:latin typeface="Calibri"/>
                <a:ea typeface="Calibri"/>
                <a:cs typeface="Calibri"/>
                <a:sym typeface="Calibri"/>
              </a:rPr>
              <a:t>Health, quality, and value remain essential, with targets giving higher scores for healthy menu options, as well as value for money and taste</a:t>
            </a:r>
          </a:p>
          <a:p>
            <a:pPr marL="6350" marR="0" lvl="0" algn="l" rtl="0">
              <a:spcBef>
                <a:spcPts val="0"/>
              </a:spcBef>
              <a:spcAft>
                <a:spcPts val="0"/>
              </a:spcAft>
              <a:buClr>
                <a:schemeClr val="dk1"/>
              </a:buClr>
              <a:buSzPts val="1100"/>
            </a:pPr>
            <a:endParaRPr sz="1100" dirty="0">
              <a:solidFill>
                <a:schemeClr val="dk1"/>
              </a:solidFill>
              <a:latin typeface="Calibri"/>
              <a:ea typeface="Calibri"/>
              <a:cs typeface="Calibri"/>
              <a:sym typeface="Calibri"/>
            </a:endParaRPr>
          </a:p>
          <a:p>
            <a:pPr marL="171450" marR="0" lvl="0" indent="-165100" algn="l" rtl="0">
              <a:spcBef>
                <a:spcPts val="0"/>
              </a:spcBef>
              <a:spcAft>
                <a:spcPts val="0"/>
              </a:spcAft>
              <a:buClr>
                <a:schemeClr val="dk1"/>
              </a:buClr>
              <a:buSzPts val="1100"/>
              <a:buFont typeface="Arial"/>
              <a:buChar char="•"/>
            </a:pPr>
            <a:r>
              <a:rPr lang="en" sz="1100" dirty="0">
                <a:solidFill>
                  <a:schemeClr val="dk1"/>
                </a:solidFill>
                <a:latin typeface="Calibri"/>
                <a:ea typeface="Calibri"/>
                <a:cs typeface="Calibri"/>
                <a:sym typeface="Calibri"/>
              </a:rPr>
              <a:t>Community connection stands out as a top priority (2.0 vs. 2.4 for non-targets), identity customers value neighborhood-focused brand</a:t>
            </a:r>
            <a:endParaRPr sz="1100" dirty="0">
              <a:latin typeface="Calibri"/>
              <a:ea typeface="Calibri"/>
              <a:cs typeface="Calibri"/>
              <a:sym typeface="Calibri"/>
            </a:endParaRPr>
          </a:p>
          <a:p>
            <a:pPr marL="457200" marR="0" lvl="0" indent="0" algn="l" rtl="0">
              <a:spcBef>
                <a:spcPts val="0"/>
              </a:spcBef>
              <a:spcAft>
                <a:spcPts val="0"/>
              </a:spcAft>
              <a:buNone/>
            </a:pPr>
            <a:endParaRPr sz="1100" dirty="0">
              <a:latin typeface="Calibri"/>
              <a:ea typeface="Calibri"/>
              <a:cs typeface="Calibri"/>
              <a:sym typeface="Calibri"/>
            </a:endParaRPr>
          </a:p>
          <a:p>
            <a:pPr marL="171450" marR="0" lvl="0" indent="-165100" algn="l" rtl="0">
              <a:spcBef>
                <a:spcPts val="0"/>
              </a:spcBef>
              <a:spcAft>
                <a:spcPts val="0"/>
              </a:spcAft>
              <a:buClr>
                <a:schemeClr val="dk1"/>
              </a:buClr>
              <a:buSzPts val="1100"/>
              <a:buFont typeface="Calibri"/>
              <a:buChar char="•"/>
            </a:pPr>
            <a:r>
              <a:rPr lang="en" sz="1100" dirty="0">
                <a:solidFill>
                  <a:schemeClr val="dk1"/>
                </a:solidFill>
                <a:latin typeface="Calibri"/>
                <a:ea typeface="Calibri"/>
                <a:cs typeface="Calibri"/>
                <a:sym typeface="Calibri"/>
              </a:rPr>
              <a:t>Experience-driven factors matter more, with targets rating pleasant ambiance, friendly staff, and variety of options higher, which are a perfect match for Sticks’ Mediterranean-style service</a:t>
            </a:r>
            <a:endParaRPr sz="1100" dirty="0">
              <a:latin typeface="Calibri"/>
              <a:ea typeface="Calibri"/>
              <a:cs typeface="Calibri"/>
              <a:sym typeface="Calibri"/>
            </a:endParaRPr>
          </a:p>
        </p:txBody>
      </p:sp>
      <p:sp>
        <p:nvSpPr>
          <p:cNvPr id="416" name="Google Shape;416;p38"/>
          <p:cNvSpPr txBox="1"/>
          <p:nvPr/>
        </p:nvSpPr>
        <p:spPr>
          <a:xfrm>
            <a:off x="796140" y="4539189"/>
            <a:ext cx="4272000" cy="20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700" b="1">
                <a:solidFill>
                  <a:schemeClr val="dk1"/>
                </a:solidFill>
                <a:latin typeface="Calibri"/>
                <a:ea typeface="Calibri"/>
                <a:cs typeface="Calibri"/>
                <a:sym typeface="Calibri"/>
              </a:rPr>
              <a:t>NOTE: </a:t>
            </a:r>
            <a:r>
              <a:rPr lang="en" sz="700">
                <a:solidFill>
                  <a:schemeClr val="dk1"/>
                </a:solidFill>
                <a:latin typeface="Calibri"/>
                <a:ea typeface="Calibri"/>
                <a:cs typeface="Calibri"/>
                <a:sym typeface="Calibri"/>
              </a:rPr>
              <a:t>Higher numbers indicate decreased importance for each metric in the figure </a:t>
            </a:r>
            <a:endParaRPr sz="700"/>
          </a:p>
        </p:txBody>
      </p:sp>
      <p:pic>
        <p:nvPicPr>
          <p:cNvPr id="3" name="Picture 2">
            <a:extLst>
              <a:ext uri="{FF2B5EF4-FFF2-40B4-BE49-F238E27FC236}">
                <a16:creationId xmlns:a16="http://schemas.microsoft.com/office/drawing/2014/main" id="{EE20C06C-34DC-92A9-B480-B32875D1E750}"/>
              </a:ext>
            </a:extLst>
          </p:cNvPr>
          <p:cNvPicPr>
            <a:picLocks noChangeAspect="1"/>
          </p:cNvPicPr>
          <p:nvPr/>
        </p:nvPicPr>
        <p:blipFill>
          <a:blip r:embed="rId3">
            <a:duotone>
              <a:schemeClr val="accent6">
                <a:shade val="45000"/>
                <a:satMod val="135000"/>
              </a:schemeClr>
              <a:prstClr val="white"/>
            </a:duotone>
          </a:blip>
          <a:stretch>
            <a:fillRect/>
          </a:stretch>
        </p:blipFill>
        <p:spPr>
          <a:xfrm>
            <a:off x="465025" y="1053426"/>
            <a:ext cx="5050707" cy="3480968"/>
          </a:xfrm>
          <a:prstGeom prst="rect">
            <a:avLst/>
          </a:prstGeom>
        </p:spPr>
      </p:pic>
      <p:pic>
        <p:nvPicPr>
          <p:cNvPr id="2" name="Picture 1">
            <a:extLst>
              <a:ext uri="{FF2B5EF4-FFF2-40B4-BE49-F238E27FC236}">
                <a16:creationId xmlns:a16="http://schemas.microsoft.com/office/drawing/2014/main" id="{985A098B-B6FD-440D-FD3D-126250BE99AC}"/>
              </a:ext>
            </a:extLst>
          </p:cNvPr>
          <p:cNvPicPr>
            <a:picLocks noChangeAspect="1"/>
          </p:cNvPicPr>
          <p:nvPr/>
        </p:nvPicPr>
        <p:blipFill>
          <a:blip r:embed="rId4">
            <a:duotone>
              <a:schemeClr val="accent6">
                <a:shade val="45000"/>
                <a:satMod val="135000"/>
              </a:schemeClr>
              <a:prstClr val="white"/>
            </a:duotone>
          </a:blip>
          <a:stretch>
            <a:fillRect/>
          </a:stretch>
        </p:blipFill>
        <p:spPr>
          <a:xfrm>
            <a:off x="4537488" y="1108275"/>
            <a:ext cx="747718" cy="381003"/>
          </a:xfrm>
          <a:prstGeom prst="rect">
            <a:avLst/>
          </a:prstGeom>
        </p:spPr>
      </p:pic>
      <p:sp>
        <p:nvSpPr>
          <p:cNvPr id="4" name="Google Shape;259;p31">
            <a:extLst>
              <a:ext uri="{FF2B5EF4-FFF2-40B4-BE49-F238E27FC236}">
                <a16:creationId xmlns:a16="http://schemas.microsoft.com/office/drawing/2014/main" id="{7589BD12-970F-80C7-67E9-89840F738DB6}"/>
              </a:ext>
            </a:extLst>
          </p:cNvPr>
          <p:cNvSpPr txBox="1"/>
          <p:nvPr/>
        </p:nvSpPr>
        <p:spPr>
          <a:xfrm>
            <a:off x="5697253" y="962822"/>
            <a:ext cx="1339539"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b="1" u="sng" dirty="0">
                <a:solidFill>
                  <a:schemeClr val="accent6"/>
                </a:solidFill>
                <a:latin typeface="Calibri"/>
                <a:ea typeface="Calibri"/>
                <a:cs typeface="Calibri"/>
                <a:sym typeface="Calibri"/>
              </a:rPr>
              <a:t>Key Insights: </a:t>
            </a:r>
            <a:endParaRPr b="1" u="sng" dirty="0">
              <a:solidFill>
                <a:schemeClr val="accent6"/>
              </a:solidFill>
              <a:latin typeface="Calibri"/>
              <a:ea typeface="Calibri"/>
              <a:cs typeface="Calibri"/>
              <a:sym typeface="Calibri"/>
            </a:endParaRPr>
          </a:p>
        </p:txBody>
      </p:sp>
      <p:sp>
        <p:nvSpPr>
          <p:cNvPr id="5" name="Google Shape;259;p31">
            <a:extLst>
              <a:ext uri="{FF2B5EF4-FFF2-40B4-BE49-F238E27FC236}">
                <a16:creationId xmlns:a16="http://schemas.microsoft.com/office/drawing/2014/main" id="{DD5F76F7-90C8-98D8-43EF-727666FD81B4}"/>
              </a:ext>
            </a:extLst>
          </p:cNvPr>
          <p:cNvSpPr txBox="1"/>
          <p:nvPr/>
        </p:nvSpPr>
        <p:spPr>
          <a:xfrm>
            <a:off x="447690" y="190881"/>
            <a:ext cx="7430886" cy="461624"/>
          </a:xfrm>
          <a:prstGeom prst="rect">
            <a:avLst/>
          </a:prstGeom>
          <a:noFill/>
          <a:ln>
            <a:noFill/>
          </a:ln>
        </p:spPr>
        <p:txBody>
          <a:bodyPr spcFirstLastPara="1" wrap="square" lIns="91425" tIns="45700" rIns="91425" bIns="45700" anchor="t" anchorCtr="0">
            <a:spAutoFit/>
          </a:bodyPr>
          <a:lstStyle/>
          <a:p>
            <a:pPr lvl="0"/>
            <a:r>
              <a:rPr lang="en-US" sz="2400" b="1" dirty="0">
                <a:solidFill>
                  <a:schemeClr val="accent6"/>
                </a:solidFill>
                <a:latin typeface="Calibri"/>
                <a:ea typeface="Calibri"/>
                <a:cs typeface="Calibri"/>
                <a:sym typeface="Calibri"/>
              </a:rPr>
              <a:t>Customer Segmentation Analysis</a:t>
            </a:r>
          </a:p>
        </p:txBody>
      </p:sp>
      <p:pic>
        <p:nvPicPr>
          <p:cNvPr id="6" name="Google Shape;148;p26" descr="A black and orange logo&#10;&#10;AI-generated content may be incorrect.">
            <a:extLst>
              <a:ext uri="{FF2B5EF4-FFF2-40B4-BE49-F238E27FC236}">
                <a16:creationId xmlns:a16="http://schemas.microsoft.com/office/drawing/2014/main" id="{CB536E43-1D0F-BF48-4BD4-1A816F6A2859}"/>
              </a:ext>
            </a:extLst>
          </p:cNvPr>
          <p:cNvPicPr preferRelativeResize="0"/>
          <p:nvPr/>
        </p:nvPicPr>
        <p:blipFill rotWithShape="1">
          <a:blip r:embed="rId5">
            <a:alphaModFix/>
          </a:blip>
          <a:srcRect l="5357" r="10411"/>
          <a:stretch/>
        </p:blipFill>
        <p:spPr>
          <a:xfrm>
            <a:off x="7905729" y="199474"/>
            <a:ext cx="862617" cy="49732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1"/>
        <p:cNvGrpSpPr/>
        <p:nvPr/>
      </p:nvGrpSpPr>
      <p:grpSpPr>
        <a:xfrm>
          <a:off x="0" y="0"/>
          <a:ext cx="0" cy="0"/>
          <a:chOff x="0" y="0"/>
          <a:chExt cx="0" cy="0"/>
        </a:xfrm>
      </p:grpSpPr>
      <p:sp>
        <p:nvSpPr>
          <p:cNvPr id="422" name="Google Shape;422;p39"/>
          <p:cNvSpPr/>
          <p:nvPr/>
        </p:nvSpPr>
        <p:spPr>
          <a:xfrm>
            <a:off x="0" y="0"/>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423" name="Google Shape;423;p39"/>
          <p:cNvGrpSpPr/>
          <p:nvPr/>
        </p:nvGrpSpPr>
        <p:grpSpPr>
          <a:xfrm>
            <a:off x="55721" y="1788827"/>
            <a:ext cx="430556" cy="1565846"/>
            <a:chOff x="209669" y="2857423"/>
            <a:chExt cx="463661" cy="2087794"/>
          </a:xfrm>
        </p:grpSpPr>
        <p:sp>
          <p:nvSpPr>
            <p:cNvPr id="424" name="Google Shape;424;p39"/>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425" name="Google Shape;425;p39"/>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426" name="Google Shape;426;p39"/>
          <p:cNvSpPr/>
          <p:nvPr/>
        </p:nvSpPr>
        <p:spPr>
          <a:xfrm flipH="1">
            <a:off x="8023200" y="0"/>
            <a:ext cx="1120800"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27" name="Google Shape;427;p39"/>
          <p:cNvSpPr/>
          <p:nvPr/>
        </p:nvSpPr>
        <p:spPr>
          <a:xfrm>
            <a:off x="405146" y="560325"/>
            <a:ext cx="8333700" cy="43143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28" name="Google Shape;428;p39"/>
          <p:cNvSpPr txBox="1">
            <a:spLocks noGrp="1"/>
          </p:cNvSpPr>
          <p:nvPr>
            <p:ph type="title"/>
          </p:nvPr>
        </p:nvSpPr>
        <p:spPr>
          <a:xfrm>
            <a:off x="370526" y="379349"/>
            <a:ext cx="6562200" cy="589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6"/>
              </a:buClr>
              <a:buSzPts val="2400"/>
              <a:buFont typeface="Calibri"/>
              <a:buNone/>
            </a:pPr>
            <a:r>
              <a:rPr lang="en" sz="1600" dirty="0">
                <a:solidFill>
                  <a:schemeClr val="accent6"/>
                </a:solidFill>
              </a:rPr>
              <a:t>Location C: Best Candidate for Sticks Next Store</a:t>
            </a:r>
            <a:endParaRPr sz="1600" dirty="0"/>
          </a:p>
        </p:txBody>
      </p:sp>
      <p:sp>
        <p:nvSpPr>
          <p:cNvPr id="431" name="Google Shape;431;p39"/>
          <p:cNvSpPr txBox="1"/>
          <p:nvPr/>
        </p:nvSpPr>
        <p:spPr>
          <a:xfrm>
            <a:off x="5544280" y="1333150"/>
            <a:ext cx="2925000" cy="3071100"/>
          </a:xfrm>
          <a:prstGeom prst="rect">
            <a:avLst/>
          </a:prstGeom>
          <a:noFill/>
          <a:ln>
            <a:noFill/>
          </a:ln>
        </p:spPr>
        <p:txBody>
          <a:bodyPr spcFirstLastPara="1" wrap="square" lIns="91425" tIns="45700" rIns="91425" bIns="45700" anchor="ctr" anchorCtr="0">
            <a:noAutofit/>
          </a:bodyPr>
          <a:lstStyle/>
          <a:p>
            <a:pPr>
              <a:buSzPts val="1100"/>
            </a:pPr>
            <a:r>
              <a:rPr lang="en" b="1" u="sng" dirty="0">
                <a:solidFill>
                  <a:schemeClr val="accent6"/>
                </a:solidFill>
                <a:latin typeface="Calibri"/>
                <a:cs typeface="Calibri"/>
                <a:sym typeface="Calibri"/>
              </a:rPr>
              <a:t>Why Location C?</a:t>
            </a:r>
            <a:endParaRPr b="1" u="sng" dirty="0">
              <a:solidFill>
                <a:schemeClr val="accent6"/>
              </a:solidFill>
              <a:latin typeface="Calibri"/>
              <a:cs typeface="Calibri"/>
              <a:sym typeface="Calibri"/>
            </a:endParaRPr>
          </a:p>
          <a:p>
            <a:pPr marL="457200" lvl="0" indent="-298450" algn="l" rtl="0">
              <a:lnSpc>
                <a:spcPct val="115000"/>
              </a:lnSpc>
              <a:spcBef>
                <a:spcPts val="1200"/>
              </a:spcBef>
              <a:spcAft>
                <a:spcPts val="0"/>
              </a:spcAft>
              <a:buClr>
                <a:schemeClr val="dk1"/>
              </a:buClr>
              <a:buSzPts val="1100"/>
              <a:buFont typeface="Calibri"/>
              <a:buChar char="●"/>
            </a:pPr>
            <a:r>
              <a:rPr lang="en" sz="1100" dirty="0">
                <a:solidFill>
                  <a:schemeClr val="dk1"/>
                </a:solidFill>
                <a:latin typeface="Calibri"/>
                <a:ea typeface="Calibri"/>
                <a:cs typeface="Calibri"/>
                <a:sym typeface="Calibri"/>
              </a:rPr>
              <a:t>Best alignment with Segments 3 &amp; 5 (high-repeat, profitable customers)</a:t>
            </a:r>
            <a:endParaRPr sz="1100" dirty="0">
              <a:solidFill>
                <a:schemeClr val="dk1"/>
              </a:solidFill>
              <a:latin typeface="Calibri"/>
              <a:ea typeface="Calibri"/>
              <a:cs typeface="Calibri"/>
              <a:sym typeface="Calibri"/>
            </a:endParaRPr>
          </a:p>
          <a:p>
            <a:pPr marL="457200" lvl="0" indent="-298450" algn="l" rtl="0">
              <a:lnSpc>
                <a:spcPct val="115000"/>
              </a:lnSpc>
              <a:spcBef>
                <a:spcPts val="1000"/>
              </a:spcBef>
              <a:spcAft>
                <a:spcPts val="0"/>
              </a:spcAft>
              <a:buClr>
                <a:schemeClr val="dk1"/>
              </a:buClr>
              <a:buSzPts val="1100"/>
              <a:buFont typeface="Calibri"/>
              <a:buChar char="●"/>
            </a:pPr>
            <a:r>
              <a:rPr lang="en" sz="1100" dirty="0">
                <a:solidFill>
                  <a:schemeClr val="dk1"/>
                </a:solidFill>
                <a:latin typeface="Calibri"/>
                <a:ea typeface="Calibri"/>
                <a:cs typeface="Calibri"/>
                <a:sym typeface="Calibri"/>
              </a:rPr>
              <a:t>Median age of early 30s and median income in mid-$50k range aligns with Sticks price and value positioning highlighted earlier</a:t>
            </a:r>
          </a:p>
          <a:p>
            <a:pPr marL="457200" indent="-298450">
              <a:lnSpc>
                <a:spcPct val="115000"/>
              </a:lnSpc>
              <a:spcBef>
                <a:spcPts val="1000"/>
              </a:spcBef>
              <a:buClr>
                <a:schemeClr val="dk1"/>
              </a:buClr>
              <a:buSzPts val="1100"/>
              <a:buFont typeface="Calibri"/>
              <a:buChar char="●"/>
            </a:pPr>
            <a:r>
              <a:rPr lang="en-US" sz="1100" dirty="0">
                <a:solidFill>
                  <a:schemeClr val="dk1"/>
                </a:solidFill>
                <a:latin typeface="Calibri"/>
                <a:ea typeface="Calibri"/>
                <a:cs typeface="Calibri"/>
                <a:sym typeface="Calibri"/>
              </a:rPr>
              <a:t>Major customer profiles match Sticks’ quality-focused, convenience-seeking audience including a mix of personas for kids and working professionals</a:t>
            </a:r>
            <a:endParaRPr sz="1100" dirty="0">
              <a:solidFill>
                <a:schemeClr val="dk1"/>
              </a:solidFill>
              <a:latin typeface="Calibri"/>
              <a:ea typeface="Calibri"/>
              <a:cs typeface="Calibri"/>
              <a:sym typeface="Calibri"/>
            </a:endParaRPr>
          </a:p>
          <a:p>
            <a:pPr marL="457200" lvl="0" indent="-298450" algn="l" rtl="0">
              <a:lnSpc>
                <a:spcPct val="115000"/>
              </a:lnSpc>
              <a:spcBef>
                <a:spcPts val="1000"/>
              </a:spcBef>
              <a:spcAft>
                <a:spcPts val="0"/>
              </a:spcAft>
              <a:buClr>
                <a:schemeClr val="dk1"/>
              </a:buClr>
              <a:buSzPts val="1100"/>
              <a:buFont typeface="Calibri"/>
              <a:buChar char="●"/>
            </a:pPr>
            <a:r>
              <a:rPr lang="en" sz="1100" dirty="0">
                <a:solidFill>
                  <a:schemeClr val="dk1"/>
                </a:solidFill>
                <a:latin typeface="Calibri"/>
                <a:ea typeface="Calibri"/>
                <a:cs typeface="Calibri"/>
                <a:sym typeface="Calibri"/>
              </a:rPr>
              <a:t>Strong population size and a healthy consumer spend per household ensure steady demand</a:t>
            </a:r>
            <a:endParaRPr sz="1100" dirty="0">
              <a:solidFill>
                <a:schemeClr val="dk1"/>
              </a:solidFill>
              <a:latin typeface="Calibri"/>
              <a:ea typeface="Calibri"/>
              <a:cs typeface="Calibri"/>
              <a:sym typeface="Calibri"/>
            </a:endParaRPr>
          </a:p>
          <a:p>
            <a:pPr marL="0" marR="0" lvl="0" indent="0" algn="l" rtl="0">
              <a:lnSpc>
                <a:spcPct val="100000"/>
              </a:lnSpc>
              <a:spcBef>
                <a:spcPts val="1200"/>
              </a:spcBef>
              <a:spcAft>
                <a:spcPts val="0"/>
              </a:spcAft>
              <a:buClr>
                <a:srgbClr val="D96B3D"/>
              </a:buClr>
              <a:buSzPts val="600"/>
              <a:buFont typeface="Calibri"/>
              <a:buNone/>
            </a:pPr>
            <a:endParaRPr sz="1100" b="1" dirty="0">
              <a:solidFill>
                <a:srgbClr val="C17529"/>
              </a:solidFill>
              <a:latin typeface="Calibri"/>
              <a:ea typeface="Calibri"/>
              <a:cs typeface="Calibri"/>
              <a:sym typeface="Calibri"/>
            </a:endParaRPr>
          </a:p>
        </p:txBody>
      </p:sp>
      <p:graphicFrame>
        <p:nvGraphicFramePr>
          <p:cNvPr id="433" name="Google Shape;433;p39"/>
          <p:cNvGraphicFramePr/>
          <p:nvPr/>
        </p:nvGraphicFramePr>
        <p:xfrm>
          <a:off x="643575" y="1333150"/>
          <a:ext cx="4685225" cy="3383576"/>
        </p:xfrm>
        <a:graphic>
          <a:graphicData uri="http://schemas.openxmlformats.org/drawingml/2006/table">
            <a:tbl>
              <a:tblPr>
                <a:noFill/>
                <a:tableStyleId>{59D93B4D-E2E8-4238-B914-91F83F168401}</a:tableStyleId>
              </a:tblPr>
              <a:tblGrid>
                <a:gridCol w="549500">
                  <a:extLst>
                    <a:ext uri="{9D8B030D-6E8A-4147-A177-3AD203B41FA5}">
                      <a16:colId xmlns:a16="http://schemas.microsoft.com/office/drawing/2014/main" val="20000"/>
                    </a:ext>
                  </a:extLst>
                </a:gridCol>
                <a:gridCol w="442550">
                  <a:extLst>
                    <a:ext uri="{9D8B030D-6E8A-4147-A177-3AD203B41FA5}">
                      <a16:colId xmlns:a16="http://schemas.microsoft.com/office/drawing/2014/main" val="20001"/>
                    </a:ext>
                  </a:extLst>
                </a:gridCol>
                <a:gridCol w="506200">
                  <a:extLst>
                    <a:ext uri="{9D8B030D-6E8A-4147-A177-3AD203B41FA5}">
                      <a16:colId xmlns:a16="http://schemas.microsoft.com/office/drawing/2014/main" val="20002"/>
                    </a:ext>
                  </a:extLst>
                </a:gridCol>
                <a:gridCol w="506025">
                  <a:extLst>
                    <a:ext uri="{9D8B030D-6E8A-4147-A177-3AD203B41FA5}">
                      <a16:colId xmlns:a16="http://schemas.microsoft.com/office/drawing/2014/main" val="20003"/>
                    </a:ext>
                  </a:extLst>
                </a:gridCol>
                <a:gridCol w="631425">
                  <a:extLst>
                    <a:ext uri="{9D8B030D-6E8A-4147-A177-3AD203B41FA5}">
                      <a16:colId xmlns:a16="http://schemas.microsoft.com/office/drawing/2014/main" val="20004"/>
                    </a:ext>
                  </a:extLst>
                </a:gridCol>
                <a:gridCol w="669900">
                  <a:extLst>
                    <a:ext uri="{9D8B030D-6E8A-4147-A177-3AD203B41FA5}">
                      <a16:colId xmlns:a16="http://schemas.microsoft.com/office/drawing/2014/main" val="20005"/>
                    </a:ext>
                  </a:extLst>
                </a:gridCol>
                <a:gridCol w="1379625">
                  <a:extLst>
                    <a:ext uri="{9D8B030D-6E8A-4147-A177-3AD203B41FA5}">
                      <a16:colId xmlns:a16="http://schemas.microsoft.com/office/drawing/2014/main" val="20006"/>
                    </a:ext>
                  </a:extLst>
                </a:gridCol>
              </a:tblGrid>
              <a:tr h="613525">
                <a:tc>
                  <a:txBody>
                    <a:bodyPr/>
                    <a:lstStyle/>
                    <a:p>
                      <a:pPr marL="0" lvl="0" indent="0" algn="l" rtl="0">
                        <a:lnSpc>
                          <a:spcPct val="115000"/>
                        </a:lnSpc>
                        <a:spcBef>
                          <a:spcPts val="1200"/>
                        </a:spcBef>
                        <a:spcAft>
                          <a:spcPts val="0"/>
                        </a:spcAft>
                        <a:buNone/>
                      </a:pPr>
                      <a:r>
                        <a:rPr lang="en" sz="900" b="1">
                          <a:solidFill>
                            <a:srgbClr val="201F1E"/>
                          </a:solidFill>
                          <a:highlight>
                            <a:srgbClr val="FFFFFF"/>
                          </a:highlight>
                          <a:latin typeface="Calibri"/>
                          <a:ea typeface="Calibri"/>
                          <a:cs typeface="Calibri"/>
                          <a:sym typeface="Calibri"/>
                        </a:rPr>
                        <a:t>Location</a:t>
                      </a:r>
                      <a:endParaRPr sz="900" b="1">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900" b="1">
                          <a:solidFill>
                            <a:srgbClr val="201F1E"/>
                          </a:solidFill>
                          <a:highlight>
                            <a:srgbClr val="FFFFFF"/>
                          </a:highlight>
                          <a:latin typeface="Calibri"/>
                          <a:ea typeface="Calibri"/>
                          <a:cs typeface="Calibri"/>
                          <a:sym typeface="Calibri"/>
                        </a:rPr>
                        <a:t>Pop.</a:t>
                      </a:r>
                      <a:endParaRPr sz="900" b="1">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900" b="1">
                          <a:solidFill>
                            <a:srgbClr val="201F1E"/>
                          </a:solidFill>
                          <a:highlight>
                            <a:srgbClr val="FFFFFF"/>
                          </a:highlight>
                          <a:latin typeface="Calibri"/>
                          <a:ea typeface="Calibri"/>
                          <a:cs typeface="Calibri"/>
                          <a:sym typeface="Calibri"/>
                        </a:rPr>
                        <a:t>Median Age</a:t>
                      </a:r>
                      <a:endParaRPr sz="900" b="1">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900" b="1" dirty="0">
                          <a:solidFill>
                            <a:srgbClr val="201F1E"/>
                          </a:solidFill>
                          <a:highlight>
                            <a:srgbClr val="FFFFFF"/>
                          </a:highlight>
                          <a:latin typeface="Calibri"/>
                          <a:ea typeface="Calibri"/>
                          <a:cs typeface="Calibri"/>
                          <a:sym typeface="Calibri"/>
                        </a:rPr>
                        <a:t>Median Income</a:t>
                      </a:r>
                      <a:endParaRPr sz="900" b="1" dirty="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900" b="1">
                          <a:solidFill>
                            <a:srgbClr val="201F1E"/>
                          </a:solidFill>
                          <a:highlight>
                            <a:srgbClr val="FFFFFF"/>
                          </a:highlight>
                          <a:latin typeface="Calibri"/>
                          <a:ea typeface="Calibri"/>
                          <a:cs typeface="Calibri"/>
                          <a:sym typeface="Calibri"/>
                        </a:rPr>
                        <a:t>Consumer Spend</a:t>
                      </a:r>
                      <a:endParaRPr sz="900" b="1">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900" b="1">
                          <a:solidFill>
                            <a:srgbClr val="201F1E"/>
                          </a:solidFill>
                          <a:highlight>
                            <a:srgbClr val="FFFFFF"/>
                          </a:highlight>
                          <a:latin typeface="Calibri"/>
                          <a:ea typeface="Calibri"/>
                          <a:cs typeface="Calibri"/>
                          <a:sym typeface="Calibri"/>
                        </a:rPr>
                        <a:t>Consumer Spend Per Household</a:t>
                      </a:r>
                      <a:endParaRPr sz="900" b="1">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900" b="1">
                          <a:solidFill>
                            <a:srgbClr val="201F1E"/>
                          </a:solidFill>
                          <a:highlight>
                            <a:srgbClr val="FFFFFF"/>
                          </a:highlight>
                          <a:latin typeface="Calibri"/>
                          <a:ea typeface="Calibri"/>
                          <a:cs typeface="Calibri"/>
                          <a:sym typeface="Calibri"/>
                        </a:rPr>
                        <a:t>Major Customer Profiles</a:t>
                      </a:r>
                      <a:endParaRPr sz="900" b="1">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22100">
                <a:tc>
                  <a:txBody>
                    <a:bodyPr/>
                    <a:lstStyle/>
                    <a:p>
                      <a:pPr marL="0" lvl="0" indent="0" algn="l" rtl="0">
                        <a:lnSpc>
                          <a:spcPct val="115000"/>
                        </a:lnSpc>
                        <a:spcBef>
                          <a:spcPts val="1200"/>
                        </a:spcBef>
                        <a:spcAft>
                          <a:spcPts val="0"/>
                        </a:spcAft>
                        <a:buNone/>
                      </a:pPr>
                      <a:r>
                        <a:rPr lang="en" sz="800" b="1">
                          <a:solidFill>
                            <a:srgbClr val="201F1E"/>
                          </a:solidFill>
                          <a:highlight>
                            <a:srgbClr val="FFFFFF"/>
                          </a:highlight>
                          <a:latin typeface="Calibri"/>
                          <a:ea typeface="Calibri"/>
                          <a:cs typeface="Calibri"/>
                          <a:sym typeface="Calibri"/>
                        </a:rPr>
                        <a:t>A</a:t>
                      </a:r>
                      <a:endParaRPr sz="800" b="1">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29,321</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39.1</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$92,700</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$722M</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$62,404</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Middleburg managers, Movers &amp; Shakers, Upper Crust, Gray Power, Empty Nests</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52575">
                <a:tc>
                  <a:txBody>
                    <a:bodyPr/>
                    <a:lstStyle/>
                    <a:p>
                      <a:pPr marL="0" lvl="0" indent="0" algn="l" rtl="0">
                        <a:lnSpc>
                          <a:spcPct val="115000"/>
                        </a:lnSpc>
                        <a:spcBef>
                          <a:spcPts val="1200"/>
                        </a:spcBef>
                        <a:spcAft>
                          <a:spcPts val="0"/>
                        </a:spcAft>
                        <a:buNone/>
                      </a:pPr>
                      <a:r>
                        <a:rPr lang="en" sz="800" b="1">
                          <a:solidFill>
                            <a:srgbClr val="201F1E"/>
                          </a:solidFill>
                          <a:highlight>
                            <a:srgbClr val="FFFFFF"/>
                          </a:highlight>
                          <a:latin typeface="Calibri"/>
                          <a:ea typeface="Calibri"/>
                          <a:cs typeface="Calibri"/>
                          <a:sym typeface="Calibri"/>
                        </a:rPr>
                        <a:t>B</a:t>
                      </a:r>
                      <a:endParaRPr sz="800" b="1">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34,183</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32.5</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$31,900</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$482M</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$36,720</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American Classics, American Dreams, Aspiring A-listers, Back Country Folks</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92875">
                <a:tc>
                  <a:txBody>
                    <a:bodyPr/>
                    <a:lstStyle/>
                    <a:p>
                      <a:pPr marL="0" lvl="0" indent="0" algn="l" rtl="0">
                        <a:spcBef>
                          <a:spcPts val="0"/>
                        </a:spcBef>
                        <a:spcAft>
                          <a:spcPts val="0"/>
                        </a:spcAft>
                        <a:buNone/>
                      </a:pPr>
                      <a:r>
                        <a:rPr lang="en" sz="800">
                          <a:latin typeface="Calibri"/>
                          <a:ea typeface="Calibri"/>
                          <a:cs typeface="Calibri"/>
                          <a:sym typeface="Calibri"/>
                        </a:rPr>
                        <a:t>C</a:t>
                      </a:r>
                      <a:endParaRPr sz="800">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E8DB"/>
                    </a:solidFill>
                  </a:tcPr>
                </a:tc>
                <a:tc>
                  <a:txBody>
                    <a:bodyPr/>
                    <a:lstStyle/>
                    <a:p>
                      <a:pPr marL="0" lvl="0" indent="0" algn="l" rtl="0">
                        <a:spcBef>
                          <a:spcPts val="0"/>
                        </a:spcBef>
                        <a:spcAft>
                          <a:spcPts val="0"/>
                        </a:spcAft>
                        <a:buNone/>
                      </a:pPr>
                      <a:r>
                        <a:rPr lang="en" sz="800">
                          <a:latin typeface="Calibri"/>
                          <a:ea typeface="Calibri"/>
                          <a:cs typeface="Calibri"/>
                          <a:sym typeface="Calibri"/>
                        </a:rPr>
                        <a:t>42,913</a:t>
                      </a:r>
                      <a:endParaRPr sz="800">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E8DB"/>
                    </a:solidFill>
                  </a:tcPr>
                </a:tc>
                <a:tc>
                  <a:txBody>
                    <a:bodyPr/>
                    <a:lstStyle/>
                    <a:p>
                      <a:pPr marL="0" lvl="0" indent="0" algn="l" rtl="0">
                        <a:spcBef>
                          <a:spcPts val="0"/>
                        </a:spcBef>
                        <a:spcAft>
                          <a:spcPts val="0"/>
                        </a:spcAft>
                        <a:buNone/>
                      </a:pPr>
                      <a:r>
                        <a:rPr lang="en" sz="800">
                          <a:latin typeface="Calibri"/>
                          <a:ea typeface="Calibri"/>
                          <a:cs typeface="Calibri"/>
                          <a:sym typeface="Calibri"/>
                        </a:rPr>
                        <a:t>32.5</a:t>
                      </a:r>
                      <a:endParaRPr sz="800">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E8DB"/>
                    </a:solidFill>
                  </a:tcPr>
                </a:tc>
                <a:tc>
                  <a:txBody>
                    <a:bodyPr/>
                    <a:lstStyle/>
                    <a:p>
                      <a:pPr marL="0" lvl="0" indent="0" algn="l" rtl="0">
                        <a:spcBef>
                          <a:spcPts val="0"/>
                        </a:spcBef>
                        <a:spcAft>
                          <a:spcPts val="0"/>
                        </a:spcAft>
                        <a:buNone/>
                      </a:pPr>
                      <a:r>
                        <a:rPr lang="en" sz="800">
                          <a:latin typeface="Calibri"/>
                          <a:ea typeface="Calibri"/>
                          <a:cs typeface="Calibri"/>
                          <a:sym typeface="Calibri"/>
                        </a:rPr>
                        <a:t>$55,700</a:t>
                      </a:r>
                      <a:endParaRPr sz="800">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E8DB"/>
                    </a:solidFill>
                  </a:tcPr>
                </a:tc>
                <a:tc>
                  <a:txBody>
                    <a:bodyPr/>
                    <a:lstStyle/>
                    <a:p>
                      <a:pPr marL="0" lvl="0" indent="0" algn="l" rtl="0">
                        <a:spcBef>
                          <a:spcPts val="0"/>
                        </a:spcBef>
                        <a:spcAft>
                          <a:spcPts val="0"/>
                        </a:spcAft>
                        <a:buNone/>
                      </a:pPr>
                      <a:r>
                        <a:rPr lang="en" sz="800">
                          <a:latin typeface="Calibri"/>
                          <a:ea typeface="Calibri"/>
                          <a:cs typeface="Calibri"/>
                          <a:sym typeface="Calibri"/>
                        </a:rPr>
                        <a:t>$754M</a:t>
                      </a:r>
                      <a:endParaRPr sz="800">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E8DB"/>
                    </a:solidFill>
                  </a:tcPr>
                </a:tc>
                <a:tc>
                  <a:txBody>
                    <a:bodyPr/>
                    <a:lstStyle/>
                    <a:p>
                      <a:pPr marL="0" lvl="0" indent="0" algn="l" rtl="0">
                        <a:spcBef>
                          <a:spcPts val="0"/>
                        </a:spcBef>
                        <a:spcAft>
                          <a:spcPts val="0"/>
                        </a:spcAft>
                        <a:buNone/>
                      </a:pPr>
                      <a:r>
                        <a:rPr lang="en" sz="800">
                          <a:latin typeface="Calibri"/>
                          <a:ea typeface="Calibri"/>
                          <a:cs typeface="Calibri"/>
                          <a:sym typeface="Calibri"/>
                        </a:rPr>
                        <a:t>$46,828</a:t>
                      </a:r>
                      <a:endParaRPr sz="800">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E8DB"/>
                    </a:solidFill>
                  </a:tcPr>
                </a:tc>
                <a:tc>
                  <a:txBody>
                    <a:bodyPr/>
                    <a:lstStyle/>
                    <a:p>
                      <a:pPr marL="0" lvl="0" indent="0" algn="l" rtl="0">
                        <a:spcBef>
                          <a:spcPts val="0"/>
                        </a:spcBef>
                        <a:spcAft>
                          <a:spcPts val="0"/>
                        </a:spcAft>
                        <a:buNone/>
                      </a:pPr>
                      <a:r>
                        <a:rPr lang="en" sz="800" dirty="0">
                          <a:latin typeface="Calibri"/>
                          <a:ea typeface="Calibri"/>
                          <a:cs typeface="Calibri"/>
                          <a:sym typeface="Calibri"/>
                        </a:rPr>
                        <a:t>Winner’s Circle, Kids &amp; Cul-de-Sacs, Cruisin to Retirement, Beltway Boomers, Executive Suites</a:t>
                      </a:r>
                      <a:endParaRPr sz="800" dirty="0">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E8DB"/>
                    </a:solidFill>
                  </a:tcPr>
                </a:tc>
                <a:extLst>
                  <a:ext uri="{0D108BD9-81ED-4DB2-BD59-A6C34878D82A}">
                    <a16:rowId xmlns:a16="http://schemas.microsoft.com/office/drawing/2014/main" val="10003"/>
                  </a:ext>
                </a:extLst>
              </a:tr>
              <a:tr h="493050">
                <a:tc>
                  <a:txBody>
                    <a:bodyPr/>
                    <a:lstStyle/>
                    <a:p>
                      <a:pPr marL="0" lvl="0" indent="0" algn="l" rtl="0">
                        <a:lnSpc>
                          <a:spcPct val="115000"/>
                        </a:lnSpc>
                        <a:spcBef>
                          <a:spcPts val="1200"/>
                        </a:spcBef>
                        <a:spcAft>
                          <a:spcPts val="0"/>
                        </a:spcAft>
                        <a:buNone/>
                      </a:pPr>
                      <a:r>
                        <a:rPr lang="en" sz="800" b="1">
                          <a:solidFill>
                            <a:srgbClr val="201F1E"/>
                          </a:solidFill>
                          <a:highlight>
                            <a:srgbClr val="FFFFFF"/>
                          </a:highlight>
                          <a:latin typeface="Calibri"/>
                          <a:ea typeface="Calibri"/>
                          <a:cs typeface="Calibri"/>
                          <a:sym typeface="Calibri"/>
                        </a:rPr>
                        <a:t>D</a:t>
                      </a:r>
                      <a:endParaRPr sz="800" b="1">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57,509</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34.8</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$75,500</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$1,184M</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a:solidFill>
                            <a:srgbClr val="201F1E"/>
                          </a:solidFill>
                          <a:highlight>
                            <a:srgbClr val="FFFFFF"/>
                          </a:highlight>
                          <a:latin typeface="Calibri"/>
                          <a:ea typeface="Calibri"/>
                          <a:cs typeface="Calibri"/>
                          <a:sym typeface="Calibri"/>
                        </a:rPr>
                        <a:t>$57,880</a:t>
                      </a:r>
                      <a:endParaRPr sz="80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800" dirty="0">
                          <a:solidFill>
                            <a:srgbClr val="201F1E"/>
                          </a:solidFill>
                          <a:highlight>
                            <a:srgbClr val="FFFFFF"/>
                          </a:highlight>
                          <a:latin typeface="Calibri"/>
                          <a:ea typeface="Calibri"/>
                          <a:cs typeface="Calibri"/>
                          <a:sym typeface="Calibri"/>
                        </a:rPr>
                        <a:t>Striving Selfies, Upward Bound, Generation Web, Young and Influential, Up and Comers</a:t>
                      </a:r>
                      <a:endParaRPr sz="800" dirty="0">
                        <a:solidFill>
                          <a:srgbClr val="201F1E"/>
                        </a:solidFill>
                        <a:highlight>
                          <a:srgbClr val="FFFFFF"/>
                        </a:highlight>
                        <a:latin typeface="Calibri"/>
                        <a:ea typeface="Calibri"/>
                        <a:cs typeface="Calibri"/>
                        <a:sym typeface="Calibri"/>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 name="Google Shape;259;p31">
            <a:extLst>
              <a:ext uri="{FF2B5EF4-FFF2-40B4-BE49-F238E27FC236}">
                <a16:creationId xmlns:a16="http://schemas.microsoft.com/office/drawing/2014/main" id="{EF7FB11E-C301-DC04-8125-FBDBB971422E}"/>
              </a:ext>
            </a:extLst>
          </p:cNvPr>
          <p:cNvSpPr txBox="1"/>
          <p:nvPr/>
        </p:nvSpPr>
        <p:spPr>
          <a:xfrm>
            <a:off x="376834" y="142226"/>
            <a:ext cx="7430886" cy="461624"/>
          </a:xfrm>
          <a:prstGeom prst="rect">
            <a:avLst/>
          </a:prstGeom>
          <a:noFill/>
          <a:ln>
            <a:noFill/>
          </a:ln>
        </p:spPr>
        <p:txBody>
          <a:bodyPr spcFirstLastPara="1" wrap="square" lIns="91425" tIns="45700" rIns="91425" bIns="45700" anchor="t" anchorCtr="0">
            <a:spAutoFit/>
          </a:bodyPr>
          <a:lstStyle/>
          <a:p>
            <a:pPr lvl="0"/>
            <a:r>
              <a:rPr lang="en-US" sz="2400" b="1" dirty="0">
                <a:solidFill>
                  <a:schemeClr val="accent6"/>
                </a:solidFill>
                <a:latin typeface="Calibri"/>
                <a:ea typeface="Calibri"/>
                <a:cs typeface="Calibri"/>
                <a:sym typeface="Calibri"/>
              </a:rPr>
              <a:t>Restaurant Location Recommendation</a:t>
            </a:r>
          </a:p>
        </p:txBody>
      </p:sp>
      <p:pic>
        <p:nvPicPr>
          <p:cNvPr id="3" name="Google Shape;148;p26" descr="A black and orange logo&#10;&#10;AI-generated content may be incorrect.">
            <a:extLst>
              <a:ext uri="{FF2B5EF4-FFF2-40B4-BE49-F238E27FC236}">
                <a16:creationId xmlns:a16="http://schemas.microsoft.com/office/drawing/2014/main" id="{38E3B236-6A74-01A2-6611-C0F8B3399031}"/>
              </a:ext>
            </a:extLst>
          </p:cNvPr>
          <p:cNvPicPr preferRelativeResize="0"/>
          <p:nvPr/>
        </p:nvPicPr>
        <p:blipFill rotWithShape="1">
          <a:blip r:embed="rId3">
            <a:alphaModFix/>
          </a:blip>
          <a:srcRect l="5357" r="10411"/>
          <a:stretch/>
        </p:blipFill>
        <p:spPr>
          <a:xfrm>
            <a:off x="7876178" y="268875"/>
            <a:ext cx="862617" cy="49732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7"/>
        <p:cNvGrpSpPr/>
        <p:nvPr/>
      </p:nvGrpSpPr>
      <p:grpSpPr>
        <a:xfrm>
          <a:off x="0" y="0"/>
          <a:ext cx="0" cy="0"/>
          <a:chOff x="0" y="0"/>
          <a:chExt cx="0" cy="0"/>
        </a:xfrm>
      </p:grpSpPr>
      <p:sp>
        <p:nvSpPr>
          <p:cNvPr id="438" name="Google Shape;438;p40"/>
          <p:cNvSpPr/>
          <p:nvPr/>
        </p:nvSpPr>
        <p:spPr>
          <a:xfrm>
            <a:off x="0" y="0"/>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439" name="Google Shape;439;p40"/>
          <p:cNvGrpSpPr/>
          <p:nvPr/>
        </p:nvGrpSpPr>
        <p:grpSpPr>
          <a:xfrm>
            <a:off x="55721" y="1788827"/>
            <a:ext cx="430556" cy="1565846"/>
            <a:chOff x="209669" y="2857423"/>
            <a:chExt cx="463661" cy="2087794"/>
          </a:xfrm>
        </p:grpSpPr>
        <p:sp>
          <p:nvSpPr>
            <p:cNvPr id="440" name="Google Shape;440;p40"/>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441" name="Google Shape;441;p40"/>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442" name="Google Shape;442;p40"/>
          <p:cNvSpPr/>
          <p:nvPr/>
        </p:nvSpPr>
        <p:spPr>
          <a:xfrm flipH="1">
            <a:off x="8023200" y="0"/>
            <a:ext cx="1120800"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43" name="Google Shape;443;p40"/>
          <p:cNvSpPr/>
          <p:nvPr/>
        </p:nvSpPr>
        <p:spPr>
          <a:xfrm>
            <a:off x="405146" y="560325"/>
            <a:ext cx="8333700" cy="43143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44" name="Google Shape;444;p40"/>
          <p:cNvSpPr txBox="1">
            <a:spLocks noGrp="1"/>
          </p:cNvSpPr>
          <p:nvPr>
            <p:ph type="title"/>
          </p:nvPr>
        </p:nvSpPr>
        <p:spPr>
          <a:xfrm>
            <a:off x="405133" y="501376"/>
            <a:ext cx="6678300" cy="413649"/>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6"/>
              </a:buClr>
              <a:buSzPts val="2400"/>
              <a:buFont typeface="Calibri"/>
              <a:buNone/>
            </a:pPr>
            <a:r>
              <a:rPr lang="en" sz="1600" dirty="0">
                <a:solidFill>
                  <a:schemeClr val="accent6"/>
                </a:solidFill>
              </a:rPr>
              <a:t>Why Location C Matches Sticks’ Ideal Customer Profile</a:t>
            </a:r>
            <a:endParaRPr sz="1600" dirty="0"/>
          </a:p>
        </p:txBody>
      </p:sp>
      <p:sp>
        <p:nvSpPr>
          <p:cNvPr id="447" name="Google Shape;447;p40"/>
          <p:cNvSpPr txBox="1"/>
          <p:nvPr/>
        </p:nvSpPr>
        <p:spPr>
          <a:xfrm>
            <a:off x="1320475" y="1163975"/>
            <a:ext cx="6780000" cy="35943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200" b="1" dirty="0">
                <a:solidFill>
                  <a:schemeClr val="dk1"/>
                </a:solidFill>
                <a:latin typeface="Calibri"/>
                <a:ea typeface="Calibri"/>
                <a:cs typeface="Calibri"/>
                <a:sym typeface="Calibri"/>
              </a:rPr>
              <a:t>Segment Alignment</a:t>
            </a:r>
            <a:endParaRPr sz="1200" b="1" dirty="0">
              <a:solidFill>
                <a:schemeClr val="dk1"/>
              </a:solidFill>
              <a:latin typeface="Calibri"/>
              <a:ea typeface="Calibri"/>
              <a:cs typeface="Calibri"/>
              <a:sym typeface="Calibri"/>
            </a:endParaRPr>
          </a:p>
          <a:p>
            <a:pPr marL="457200" lvl="0" indent="-292100" algn="l" rtl="0">
              <a:lnSpc>
                <a:spcPct val="115000"/>
              </a:lnSpc>
              <a:spcBef>
                <a:spcPts val="1200"/>
              </a:spcBef>
              <a:spcAft>
                <a:spcPts val="0"/>
              </a:spcAft>
              <a:buClr>
                <a:schemeClr val="dk1"/>
              </a:buClr>
              <a:buSzPts val="1000"/>
              <a:buFont typeface="Calibri"/>
              <a:buChar char="●"/>
            </a:pPr>
            <a:r>
              <a:rPr lang="en" sz="1000" dirty="0">
                <a:solidFill>
                  <a:schemeClr val="dk1"/>
                </a:solidFill>
                <a:latin typeface="Calibri"/>
                <a:ea typeface="Calibri"/>
                <a:cs typeface="Calibri"/>
                <a:sym typeface="Calibri"/>
              </a:rPr>
              <a:t>Strong overlap with Segments 3 (weekday regulars) and 5 (loyal, long-term customers)</a:t>
            </a:r>
            <a:endParaRPr sz="1000" dirty="0">
              <a:solidFill>
                <a:schemeClr val="dk1"/>
              </a:solidFill>
              <a:latin typeface="Calibri"/>
              <a:ea typeface="Calibri"/>
              <a:cs typeface="Calibri"/>
              <a:sym typeface="Calibri"/>
            </a:endParaRPr>
          </a:p>
          <a:p>
            <a:pPr marL="457200" lvl="0" indent="-292100" algn="l" rtl="0">
              <a:lnSpc>
                <a:spcPct val="115000"/>
              </a:lnSpc>
              <a:spcBef>
                <a:spcPts val="1000"/>
              </a:spcBef>
              <a:spcAft>
                <a:spcPts val="0"/>
              </a:spcAft>
              <a:buClr>
                <a:schemeClr val="dk1"/>
              </a:buClr>
              <a:buSzPts val="1000"/>
              <a:buFont typeface="Calibri"/>
              <a:buChar char="●"/>
            </a:pPr>
            <a:r>
              <a:rPr lang="en" sz="1000" dirty="0">
                <a:solidFill>
                  <a:schemeClr val="dk1"/>
                </a:solidFill>
                <a:latin typeface="Calibri"/>
                <a:ea typeface="Calibri"/>
                <a:cs typeface="Calibri"/>
                <a:sym typeface="Calibri"/>
              </a:rPr>
              <a:t>These segments visit frequently, value quality, and drive long-term profitability</a:t>
            </a:r>
            <a:endParaRPr sz="1000" dirty="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b="1" dirty="0">
                <a:solidFill>
                  <a:schemeClr val="dk1"/>
                </a:solidFill>
                <a:latin typeface="Calibri"/>
                <a:ea typeface="Calibri"/>
                <a:cs typeface="Calibri"/>
                <a:sym typeface="Calibri"/>
              </a:rPr>
              <a:t>Demographic Fit</a:t>
            </a:r>
            <a:endParaRPr sz="1200" b="1" dirty="0">
              <a:solidFill>
                <a:schemeClr val="dk1"/>
              </a:solidFill>
              <a:latin typeface="Calibri"/>
              <a:ea typeface="Calibri"/>
              <a:cs typeface="Calibri"/>
              <a:sym typeface="Calibri"/>
            </a:endParaRPr>
          </a:p>
          <a:p>
            <a:pPr marL="457200" lvl="0" indent="-292100" algn="l" rtl="0">
              <a:lnSpc>
                <a:spcPct val="115000"/>
              </a:lnSpc>
              <a:spcBef>
                <a:spcPts val="1200"/>
              </a:spcBef>
              <a:spcAft>
                <a:spcPts val="0"/>
              </a:spcAft>
              <a:buClr>
                <a:schemeClr val="dk1"/>
              </a:buClr>
              <a:buSzPts val="1000"/>
              <a:buFont typeface="Calibri"/>
              <a:buChar char="●"/>
            </a:pPr>
            <a:r>
              <a:rPr lang="en" sz="1000" dirty="0">
                <a:solidFill>
                  <a:schemeClr val="dk1"/>
                </a:solidFill>
                <a:latin typeface="Calibri"/>
                <a:ea typeface="Calibri"/>
                <a:cs typeface="Calibri"/>
                <a:sym typeface="Calibri"/>
              </a:rPr>
              <a:t>Working-age couples, young families, mid-to-upper-income professionals</a:t>
            </a:r>
            <a:endParaRPr sz="1000" dirty="0">
              <a:solidFill>
                <a:schemeClr val="dk1"/>
              </a:solidFill>
              <a:latin typeface="Calibri"/>
              <a:ea typeface="Calibri"/>
              <a:cs typeface="Calibri"/>
              <a:sym typeface="Calibri"/>
            </a:endParaRPr>
          </a:p>
          <a:p>
            <a:pPr marL="457200" lvl="0" indent="-292100" algn="l" rtl="0">
              <a:lnSpc>
                <a:spcPct val="115000"/>
              </a:lnSpc>
              <a:spcBef>
                <a:spcPts val="1000"/>
              </a:spcBef>
              <a:spcAft>
                <a:spcPts val="0"/>
              </a:spcAft>
              <a:buClr>
                <a:schemeClr val="dk1"/>
              </a:buClr>
              <a:buSzPts val="1000"/>
              <a:buFont typeface="Calibri"/>
              <a:buChar char="●"/>
            </a:pPr>
            <a:r>
              <a:rPr lang="en" sz="1000" dirty="0">
                <a:solidFill>
                  <a:schemeClr val="dk1"/>
                </a:solidFill>
                <a:latin typeface="Calibri"/>
                <a:ea typeface="Calibri"/>
                <a:cs typeface="Calibri"/>
                <a:sym typeface="Calibri"/>
              </a:rPr>
              <a:t>Profiles like Winner’s Circle, Kids &amp; Cul-de-Sacs and Executive Suites match Sticks’ core value-seeking, quality-focused audience</a:t>
            </a:r>
            <a:endParaRPr sz="1000" dirty="0">
              <a:solidFill>
                <a:schemeClr val="dk1"/>
              </a:solidFill>
              <a:latin typeface="Calibri"/>
              <a:ea typeface="Calibri"/>
              <a:cs typeface="Calibri"/>
              <a:sym typeface="Calibri"/>
            </a:endParaRPr>
          </a:p>
          <a:p>
            <a:pPr marL="457200" lvl="0" indent="-292100" algn="l" rtl="0">
              <a:lnSpc>
                <a:spcPct val="115000"/>
              </a:lnSpc>
              <a:spcBef>
                <a:spcPts val="1000"/>
              </a:spcBef>
              <a:spcAft>
                <a:spcPts val="0"/>
              </a:spcAft>
              <a:buClr>
                <a:schemeClr val="dk1"/>
              </a:buClr>
              <a:buSzPts val="1000"/>
              <a:buFont typeface="Calibri"/>
              <a:buChar char="●"/>
            </a:pPr>
            <a:r>
              <a:rPr lang="en" sz="1000" dirty="0">
                <a:solidFill>
                  <a:schemeClr val="dk1"/>
                </a:solidFill>
                <a:latin typeface="Calibri"/>
                <a:ea typeface="Calibri"/>
                <a:cs typeface="Calibri"/>
                <a:sym typeface="Calibri"/>
              </a:rPr>
              <a:t>Median income in the mid-$50K aligns perfectly with Sticks’ price positioning</a:t>
            </a:r>
            <a:endParaRPr sz="1000" dirty="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b="1" dirty="0">
                <a:solidFill>
                  <a:schemeClr val="dk1"/>
                </a:solidFill>
                <a:latin typeface="Calibri"/>
                <a:ea typeface="Calibri"/>
                <a:cs typeface="Calibri"/>
                <a:sym typeface="Calibri"/>
              </a:rPr>
              <a:t>Market Potential</a:t>
            </a:r>
            <a:endParaRPr sz="1200" b="1" dirty="0">
              <a:solidFill>
                <a:schemeClr val="dk1"/>
              </a:solidFill>
              <a:latin typeface="Calibri"/>
              <a:ea typeface="Calibri"/>
              <a:cs typeface="Calibri"/>
              <a:sym typeface="Calibri"/>
            </a:endParaRPr>
          </a:p>
          <a:p>
            <a:pPr marL="457200" lvl="0" indent="-292100" algn="l" rtl="0">
              <a:lnSpc>
                <a:spcPct val="115000"/>
              </a:lnSpc>
              <a:spcBef>
                <a:spcPts val="1200"/>
              </a:spcBef>
              <a:spcAft>
                <a:spcPts val="0"/>
              </a:spcAft>
              <a:buClr>
                <a:schemeClr val="dk1"/>
              </a:buClr>
              <a:buSzPts val="1000"/>
              <a:buFont typeface="Calibri"/>
              <a:buChar char="●"/>
            </a:pPr>
            <a:r>
              <a:rPr lang="en" sz="1000" dirty="0">
                <a:solidFill>
                  <a:schemeClr val="dk1"/>
                </a:solidFill>
                <a:latin typeface="Calibri"/>
                <a:ea typeface="Calibri"/>
                <a:cs typeface="Calibri"/>
                <a:sym typeface="Calibri"/>
              </a:rPr>
              <a:t>Second-highest population, providing a solid customer base</a:t>
            </a:r>
            <a:endParaRPr sz="1000" dirty="0">
              <a:solidFill>
                <a:schemeClr val="dk1"/>
              </a:solidFill>
              <a:latin typeface="Calibri"/>
              <a:ea typeface="Calibri"/>
              <a:cs typeface="Calibri"/>
              <a:sym typeface="Calibri"/>
            </a:endParaRPr>
          </a:p>
          <a:p>
            <a:pPr marL="457200" lvl="0" indent="-292100" algn="l" rtl="0">
              <a:lnSpc>
                <a:spcPct val="115000"/>
              </a:lnSpc>
              <a:spcBef>
                <a:spcPts val="1000"/>
              </a:spcBef>
              <a:spcAft>
                <a:spcPts val="0"/>
              </a:spcAft>
              <a:buClr>
                <a:schemeClr val="dk1"/>
              </a:buClr>
              <a:buSzPts val="1000"/>
              <a:buFont typeface="Calibri"/>
              <a:buChar char="●"/>
            </a:pPr>
            <a:r>
              <a:rPr lang="en" sz="1000" dirty="0">
                <a:solidFill>
                  <a:schemeClr val="dk1"/>
                </a:solidFill>
                <a:latin typeface="Calibri"/>
                <a:ea typeface="Calibri"/>
                <a:cs typeface="Calibri"/>
                <a:sym typeface="Calibri"/>
              </a:rPr>
              <a:t>High overall household spending in the neighbourhood</a:t>
            </a:r>
            <a:endParaRPr sz="1000" dirty="0">
              <a:solidFill>
                <a:schemeClr val="dk1"/>
              </a:solidFill>
              <a:latin typeface="Calibri"/>
              <a:ea typeface="Calibri"/>
              <a:cs typeface="Calibri"/>
              <a:sym typeface="Calibri"/>
            </a:endParaRPr>
          </a:p>
          <a:p>
            <a:pPr marL="457200" lvl="0" indent="-292100" algn="l" rtl="0">
              <a:lnSpc>
                <a:spcPct val="115000"/>
              </a:lnSpc>
              <a:spcBef>
                <a:spcPts val="1000"/>
              </a:spcBef>
              <a:spcAft>
                <a:spcPts val="0"/>
              </a:spcAft>
              <a:buClr>
                <a:schemeClr val="dk1"/>
              </a:buClr>
              <a:buSzPts val="1000"/>
              <a:buFont typeface="Calibri"/>
              <a:buChar char="●"/>
            </a:pPr>
            <a:r>
              <a:rPr lang="en" sz="1000" dirty="0">
                <a:solidFill>
                  <a:schemeClr val="dk1"/>
                </a:solidFill>
                <a:latin typeface="Calibri"/>
                <a:ea typeface="Calibri"/>
                <a:cs typeface="Calibri"/>
                <a:sym typeface="Calibri"/>
              </a:rPr>
              <a:t>Enough demand density to support strong performance from launch</a:t>
            </a:r>
            <a:endParaRPr sz="1000" dirty="0">
              <a:solidFill>
                <a:schemeClr val="dk1"/>
              </a:solidFill>
              <a:latin typeface="Calibri"/>
              <a:ea typeface="Calibri"/>
              <a:cs typeface="Calibri"/>
              <a:sym typeface="Calibri"/>
            </a:endParaRPr>
          </a:p>
          <a:p>
            <a:pPr marL="0" marR="0" lvl="0" indent="0" algn="l" rtl="0">
              <a:lnSpc>
                <a:spcPct val="100000"/>
              </a:lnSpc>
              <a:spcBef>
                <a:spcPts val="1200"/>
              </a:spcBef>
              <a:spcAft>
                <a:spcPts val="0"/>
              </a:spcAft>
              <a:buClr>
                <a:srgbClr val="D96B3D"/>
              </a:buClr>
              <a:buSzPts val="600"/>
              <a:buFont typeface="Calibri"/>
              <a:buNone/>
            </a:pPr>
            <a:endParaRPr sz="1000" dirty="0">
              <a:solidFill>
                <a:schemeClr val="dk1"/>
              </a:solidFill>
              <a:latin typeface="Calibri"/>
              <a:ea typeface="Calibri"/>
              <a:cs typeface="Calibri"/>
              <a:sym typeface="Calibri"/>
            </a:endParaRPr>
          </a:p>
        </p:txBody>
      </p:sp>
      <p:pic>
        <p:nvPicPr>
          <p:cNvPr id="449" name="Google Shape;449;p40"/>
          <p:cNvPicPr preferRelativeResize="0"/>
          <p:nvPr/>
        </p:nvPicPr>
        <p:blipFill>
          <a:blip r:embed="rId3">
            <a:alphaModFix/>
          </a:blip>
          <a:stretch>
            <a:fillRect/>
          </a:stretch>
        </p:blipFill>
        <p:spPr>
          <a:xfrm>
            <a:off x="1055049" y="1010025"/>
            <a:ext cx="249725" cy="249725"/>
          </a:xfrm>
          <a:prstGeom prst="rect">
            <a:avLst/>
          </a:prstGeom>
          <a:noFill/>
          <a:ln>
            <a:noFill/>
          </a:ln>
        </p:spPr>
      </p:pic>
      <p:pic>
        <p:nvPicPr>
          <p:cNvPr id="450" name="Google Shape;450;p40"/>
          <p:cNvPicPr preferRelativeResize="0"/>
          <p:nvPr/>
        </p:nvPicPr>
        <p:blipFill>
          <a:blip r:embed="rId4">
            <a:alphaModFix/>
          </a:blip>
          <a:stretch>
            <a:fillRect/>
          </a:stretch>
        </p:blipFill>
        <p:spPr>
          <a:xfrm>
            <a:off x="1055061" y="1974925"/>
            <a:ext cx="249725" cy="249725"/>
          </a:xfrm>
          <a:prstGeom prst="rect">
            <a:avLst/>
          </a:prstGeom>
          <a:noFill/>
          <a:ln>
            <a:noFill/>
          </a:ln>
        </p:spPr>
      </p:pic>
      <p:pic>
        <p:nvPicPr>
          <p:cNvPr id="451" name="Google Shape;451;p40"/>
          <p:cNvPicPr preferRelativeResize="0"/>
          <p:nvPr/>
        </p:nvPicPr>
        <p:blipFill>
          <a:blip r:embed="rId5">
            <a:alphaModFix/>
          </a:blip>
          <a:stretch>
            <a:fillRect/>
          </a:stretch>
        </p:blipFill>
        <p:spPr>
          <a:xfrm>
            <a:off x="1055050" y="3417800"/>
            <a:ext cx="249725" cy="249750"/>
          </a:xfrm>
          <a:prstGeom prst="rect">
            <a:avLst/>
          </a:prstGeom>
          <a:noFill/>
          <a:ln>
            <a:noFill/>
          </a:ln>
        </p:spPr>
      </p:pic>
      <p:sp>
        <p:nvSpPr>
          <p:cNvPr id="2" name="Google Shape;259;p31">
            <a:extLst>
              <a:ext uri="{FF2B5EF4-FFF2-40B4-BE49-F238E27FC236}">
                <a16:creationId xmlns:a16="http://schemas.microsoft.com/office/drawing/2014/main" id="{7D3F817D-2788-4674-259B-6BB76CFB7D29}"/>
              </a:ext>
            </a:extLst>
          </p:cNvPr>
          <p:cNvSpPr txBox="1"/>
          <p:nvPr/>
        </p:nvSpPr>
        <p:spPr>
          <a:xfrm>
            <a:off x="376834" y="142226"/>
            <a:ext cx="7430886" cy="461624"/>
          </a:xfrm>
          <a:prstGeom prst="rect">
            <a:avLst/>
          </a:prstGeom>
          <a:noFill/>
          <a:ln>
            <a:noFill/>
          </a:ln>
        </p:spPr>
        <p:txBody>
          <a:bodyPr spcFirstLastPara="1" wrap="square" lIns="91425" tIns="45700" rIns="91425" bIns="45700" anchor="t" anchorCtr="0">
            <a:spAutoFit/>
          </a:bodyPr>
          <a:lstStyle/>
          <a:p>
            <a:pPr lvl="0"/>
            <a:r>
              <a:rPr lang="en-US" sz="2400" b="1" dirty="0">
                <a:solidFill>
                  <a:schemeClr val="accent6"/>
                </a:solidFill>
                <a:latin typeface="Calibri"/>
                <a:ea typeface="Calibri"/>
                <a:cs typeface="Calibri"/>
                <a:sym typeface="Calibri"/>
              </a:rPr>
              <a:t>Restaurant Location Recommendation</a:t>
            </a:r>
          </a:p>
        </p:txBody>
      </p:sp>
      <p:pic>
        <p:nvPicPr>
          <p:cNvPr id="3" name="Google Shape;148;p26" descr="A black and orange logo&#10;&#10;AI-generated content may be incorrect.">
            <a:extLst>
              <a:ext uri="{FF2B5EF4-FFF2-40B4-BE49-F238E27FC236}">
                <a16:creationId xmlns:a16="http://schemas.microsoft.com/office/drawing/2014/main" id="{EC38F3AE-ACFC-BA59-BB68-EF3E5F751F67}"/>
              </a:ext>
            </a:extLst>
          </p:cNvPr>
          <p:cNvPicPr preferRelativeResize="0"/>
          <p:nvPr/>
        </p:nvPicPr>
        <p:blipFill rotWithShape="1">
          <a:blip r:embed="rId6">
            <a:alphaModFix/>
          </a:blip>
          <a:srcRect l="5357" r="10411"/>
          <a:stretch/>
        </p:blipFill>
        <p:spPr>
          <a:xfrm>
            <a:off x="7871861" y="199474"/>
            <a:ext cx="862617" cy="49732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41"/>
          <p:cNvSpPr/>
          <p:nvPr/>
        </p:nvSpPr>
        <p:spPr>
          <a:xfrm>
            <a:off x="0" y="0"/>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457" name="Google Shape;457;p41"/>
          <p:cNvGrpSpPr/>
          <p:nvPr/>
        </p:nvGrpSpPr>
        <p:grpSpPr>
          <a:xfrm>
            <a:off x="55721" y="1788827"/>
            <a:ext cx="430556" cy="1565846"/>
            <a:chOff x="209669" y="2857423"/>
            <a:chExt cx="463661" cy="2087794"/>
          </a:xfrm>
        </p:grpSpPr>
        <p:sp>
          <p:nvSpPr>
            <p:cNvPr id="458" name="Google Shape;458;p41"/>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459" name="Google Shape;459;p41"/>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460" name="Google Shape;460;p41"/>
          <p:cNvSpPr/>
          <p:nvPr/>
        </p:nvSpPr>
        <p:spPr>
          <a:xfrm flipH="1">
            <a:off x="8023200" y="0"/>
            <a:ext cx="1120800"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61" name="Google Shape;461;p41"/>
          <p:cNvSpPr/>
          <p:nvPr/>
        </p:nvSpPr>
        <p:spPr>
          <a:xfrm>
            <a:off x="434650" y="473825"/>
            <a:ext cx="8333700" cy="44286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62" name="Google Shape;462;p41"/>
          <p:cNvSpPr txBox="1">
            <a:spLocks noGrp="1"/>
          </p:cNvSpPr>
          <p:nvPr>
            <p:ph type="title"/>
          </p:nvPr>
        </p:nvSpPr>
        <p:spPr>
          <a:xfrm>
            <a:off x="698333" y="223643"/>
            <a:ext cx="5465700" cy="589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accent6"/>
              </a:buClr>
              <a:buSzPts val="2400"/>
              <a:buFont typeface="Calibri"/>
              <a:buNone/>
            </a:pPr>
            <a:r>
              <a:rPr lang="en" sz="2400" b="1" dirty="0">
                <a:solidFill>
                  <a:schemeClr val="accent6"/>
                </a:solidFill>
              </a:rPr>
              <a:t>Target Segments &amp; How to Reach Them </a:t>
            </a:r>
            <a:endParaRPr dirty="0"/>
          </a:p>
        </p:txBody>
      </p:sp>
      <p:pic>
        <p:nvPicPr>
          <p:cNvPr id="463" name="Google Shape;463;p41" descr="stick.jpeg"/>
          <p:cNvPicPr preferRelativeResize="0"/>
          <p:nvPr/>
        </p:nvPicPr>
        <p:blipFill rotWithShape="1">
          <a:blip r:embed="rId3">
            <a:alphaModFix/>
          </a:blip>
          <a:srcRect r="13164"/>
          <a:stretch/>
        </p:blipFill>
        <p:spPr>
          <a:xfrm>
            <a:off x="32018" y="33290"/>
            <a:ext cx="764124" cy="440537"/>
          </a:xfrm>
          <a:prstGeom prst="rect">
            <a:avLst/>
          </a:prstGeom>
          <a:noFill/>
          <a:ln>
            <a:noFill/>
          </a:ln>
        </p:spPr>
      </p:pic>
      <p:sp>
        <p:nvSpPr>
          <p:cNvPr id="466" name="Google Shape;466;p41"/>
          <p:cNvSpPr/>
          <p:nvPr/>
        </p:nvSpPr>
        <p:spPr>
          <a:xfrm>
            <a:off x="729775" y="1427975"/>
            <a:ext cx="1745700" cy="1654500"/>
          </a:xfrm>
          <a:prstGeom prst="roundRect">
            <a:avLst>
              <a:gd name="adj" fmla="val 16667"/>
            </a:avLst>
          </a:prstGeom>
          <a:solidFill>
            <a:srgbClr val="F1E8DE"/>
          </a:solidFill>
          <a:ln>
            <a:noFill/>
          </a:ln>
          <a:effectLst>
            <a:outerShdw blurRad="146188" dist="132898" dir="5400000" algn="t" rotWithShape="0">
              <a:srgbClr val="000000">
                <a:alpha val="14900"/>
              </a:srgbClr>
            </a:outerShdw>
          </a:effectLst>
        </p:spPr>
        <p:txBody>
          <a:bodyPr spcFirstLastPara="1" wrap="square" lIns="95675" tIns="95675" rIns="95675" bIns="95675" anchor="ctr" anchorCtr="0">
            <a:noAutofit/>
          </a:bodyPr>
          <a:lstStyle/>
          <a:p>
            <a:pPr marL="0" lvl="0" indent="0" algn="ctr" rtl="0">
              <a:spcBef>
                <a:spcPts val="0"/>
              </a:spcBef>
              <a:spcAft>
                <a:spcPts val="0"/>
              </a:spcAft>
              <a:buNone/>
            </a:pPr>
            <a:endParaRPr sz="1465">
              <a:latin typeface="Calibri"/>
              <a:ea typeface="Calibri"/>
              <a:cs typeface="Calibri"/>
              <a:sym typeface="Calibri"/>
            </a:endParaRPr>
          </a:p>
        </p:txBody>
      </p:sp>
      <p:sp>
        <p:nvSpPr>
          <p:cNvPr id="467" name="Google Shape;467;p41"/>
          <p:cNvSpPr/>
          <p:nvPr/>
        </p:nvSpPr>
        <p:spPr>
          <a:xfrm>
            <a:off x="2841512" y="1427975"/>
            <a:ext cx="1788600" cy="1683900"/>
          </a:xfrm>
          <a:prstGeom prst="roundRect">
            <a:avLst>
              <a:gd name="adj" fmla="val 16667"/>
            </a:avLst>
          </a:prstGeom>
          <a:solidFill>
            <a:srgbClr val="F1E8DE"/>
          </a:solidFill>
          <a:ln>
            <a:noFill/>
          </a:ln>
          <a:effectLst>
            <a:outerShdw blurRad="146188" dist="132898" dir="5400000" algn="t" rotWithShape="0">
              <a:srgbClr val="000000">
                <a:alpha val="14900"/>
              </a:srgbClr>
            </a:outerShdw>
          </a:effectLst>
        </p:spPr>
        <p:txBody>
          <a:bodyPr spcFirstLastPara="1" wrap="square" lIns="95675" tIns="95675" rIns="95675" bIns="95675" anchor="ctr" anchorCtr="0">
            <a:noAutofit/>
          </a:bodyPr>
          <a:lstStyle/>
          <a:p>
            <a:pPr marL="0" lvl="0" indent="0" algn="ctr" rtl="0">
              <a:spcBef>
                <a:spcPts val="0"/>
              </a:spcBef>
              <a:spcAft>
                <a:spcPts val="0"/>
              </a:spcAft>
              <a:buNone/>
            </a:pPr>
            <a:endParaRPr sz="1465">
              <a:latin typeface="Calibri"/>
              <a:ea typeface="Calibri"/>
              <a:cs typeface="Calibri"/>
              <a:sym typeface="Calibri"/>
            </a:endParaRPr>
          </a:p>
        </p:txBody>
      </p:sp>
      <p:sp>
        <p:nvSpPr>
          <p:cNvPr id="468" name="Google Shape;468;p41"/>
          <p:cNvSpPr/>
          <p:nvPr/>
        </p:nvSpPr>
        <p:spPr>
          <a:xfrm>
            <a:off x="4967325" y="1428025"/>
            <a:ext cx="1788600" cy="1654500"/>
          </a:xfrm>
          <a:prstGeom prst="roundRect">
            <a:avLst>
              <a:gd name="adj" fmla="val 16667"/>
            </a:avLst>
          </a:prstGeom>
          <a:solidFill>
            <a:srgbClr val="F1E8DE"/>
          </a:solidFill>
          <a:ln>
            <a:noFill/>
          </a:ln>
          <a:effectLst>
            <a:outerShdw blurRad="146188" dist="132898" dir="5400000" algn="t" rotWithShape="0">
              <a:srgbClr val="000000">
                <a:alpha val="14900"/>
              </a:srgbClr>
            </a:outerShdw>
          </a:effectLst>
        </p:spPr>
        <p:txBody>
          <a:bodyPr spcFirstLastPara="1" wrap="square" lIns="95675" tIns="95675" rIns="95675" bIns="95675" anchor="ctr" anchorCtr="0">
            <a:noAutofit/>
          </a:bodyPr>
          <a:lstStyle/>
          <a:p>
            <a:pPr marL="0" lvl="0" indent="0" algn="ctr" rtl="0">
              <a:spcBef>
                <a:spcPts val="0"/>
              </a:spcBef>
              <a:spcAft>
                <a:spcPts val="0"/>
              </a:spcAft>
              <a:buNone/>
            </a:pPr>
            <a:endParaRPr sz="1465">
              <a:latin typeface="Calibri"/>
              <a:ea typeface="Calibri"/>
              <a:cs typeface="Calibri"/>
              <a:sym typeface="Calibri"/>
            </a:endParaRPr>
          </a:p>
        </p:txBody>
      </p:sp>
      <p:sp>
        <p:nvSpPr>
          <p:cNvPr id="469" name="Google Shape;469;p41"/>
          <p:cNvSpPr txBox="1"/>
          <p:nvPr/>
        </p:nvSpPr>
        <p:spPr>
          <a:xfrm>
            <a:off x="658075" y="1442782"/>
            <a:ext cx="1846200" cy="1639667"/>
          </a:xfrm>
          <a:prstGeom prst="rect">
            <a:avLst/>
          </a:prstGeom>
          <a:noFill/>
          <a:ln>
            <a:noFill/>
          </a:ln>
        </p:spPr>
        <p:txBody>
          <a:bodyPr spcFirstLastPara="1" wrap="square" lIns="95675" tIns="95675" rIns="95675" bIns="95675" anchor="t" anchorCtr="0">
            <a:noAutofit/>
          </a:bodyPr>
          <a:lstStyle/>
          <a:p>
            <a:pPr lvl="0" algn="ctr"/>
            <a:r>
              <a:rPr lang="en" sz="1600" b="1" dirty="0">
                <a:solidFill>
                  <a:schemeClr val="accent6"/>
                </a:solidFill>
                <a:latin typeface="Calibri"/>
                <a:ea typeface="Calibri"/>
                <a:cs typeface="Calibri"/>
                <a:sym typeface="Calibri"/>
              </a:rPr>
              <a:t>Who Are They?</a:t>
            </a:r>
            <a:endParaRPr sz="1600" b="1" dirty="0">
              <a:solidFill>
                <a:schemeClr val="accent6"/>
              </a:solidFill>
              <a:latin typeface="Calibri"/>
              <a:ea typeface="Calibri"/>
              <a:cs typeface="Calibri"/>
              <a:sym typeface="Calibri"/>
            </a:endParaRPr>
          </a:p>
          <a:p>
            <a:pPr marL="0" lvl="0" indent="0" algn="ctr" rtl="0">
              <a:lnSpc>
                <a:spcPct val="115000"/>
              </a:lnSpc>
              <a:spcBef>
                <a:spcPts val="1256"/>
              </a:spcBef>
              <a:spcAft>
                <a:spcPts val="0"/>
              </a:spcAft>
              <a:buClr>
                <a:schemeClr val="dk1"/>
              </a:buClr>
              <a:buSzPts val="1151"/>
              <a:buFont typeface="Arial"/>
              <a:buNone/>
            </a:pPr>
            <a:r>
              <a:rPr lang="en" sz="1000" dirty="0">
                <a:solidFill>
                  <a:schemeClr val="dk1"/>
                </a:solidFill>
                <a:latin typeface="Calibri"/>
                <a:ea typeface="Calibri"/>
                <a:cs typeface="Calibri"/>
                <a:sym typeface="Calibri"/>
              </a:rPr>
              <a:t>Working women and couples with busy weekdays who frequently visit the restaurant for quick lunch and prioritize convenience, value, health, taste, and staff experience</a:t>
            </a:r>
            <a:endParaRPr sz="1000" dirty="0">
              <a:solidFill>
                <a:schemeClr val="dk1"/>
              </a:solidFill>
              <a:latin typeface="Calibri"/>
              <a:ea typeface="Calibri"/>
              <a:cs typeface="Calibri"/>
              <a:sym typeface="Calibri"/>
            </a:endParaRPr>
          </a:p>
          <a:p>
            <a:pPr marL="0" lvl="0" indent="0" algn="l" rtl="0">
              <a:spcBef>
                <a:spcPts val="1256"/>
              </a:spcBef>
              <a:spcAft>
                <a:spcPts val="0"/>
              </a:spcAft>
              <a:buNone/>
            </a:pPr>
            <a:endParaRPr sz="1569" dirty="0">
              <a:solidFill>
                <a:schemeClr val="dk1"/>
              </a:solidFill>
              <a:latin typeface="Calibri"/>
              <a:ea typeface="Calibri"/>
              <a:cs typeface="Calibri"/>
              <a:sym typeface="Calibri"/>
            </a:endParaRPr>
          </a:p>
        </p:txBody>
      </p:sp>
      <p:sp>
        <p:nvSpPr>
          <p:cNvPr id="470" name="Google Shape;470;p41"/>
          <p:cNvSpPr txBox="1"/>
          <p:nvPr/>
        </p:nvSpPr>
        <p:spPr>
          <a:xfrm>
            <a:off x="2792612" y="1434333"/>
            <a:ext cx="1788600" cy="1648116"/>
          </a:xfrm>
          <a:prstGeom prst="rect">
            <a:avLst/>
          </a:prstGeom>
          <a:noFill/>
          <a:ln>
            <a:noFill/>
          </a:ln>
        </p:spPr>
        <p:txBody>
          <a:bodyPr spcFirstLastPara="1" wrap="square" lIns="95675" tIns="95675" rIns="95675" bIns="95675" anchor="t" anchorCtr="0">
            <a:noAutofit/>
          </a:bodyPr>
          <a:lstStyle/>
          <a:p>
            <a:pPr marL="0" lvl="0" indent="0" algn="ctr" rtl="0">
              <a:spcBef>
                <a:spcPts val="0"/>
              </a:spcBef>
              <a:spcAft>
                <a:spcPts val="0"/>
              </a:spcAft>
              <a:buNone/>
            </a:pPr>
            <a:r>
              <a:rPr lang="en" sz="1600" b="1" dirty="0">
                <a:solidFill>
                  <a:schemeClr val="accent6"/>
                </a:solidFill>
                <a:latin typeface="Calibri"/>
                <a:ea typeface="Calibri"/>
                <a:cs typeface="Calibri"/>
                <a:sym typeface="Calibri"/>
              </a:rPr>
              <a:t>The Opportunity</a:t>
            </a:r>
            <a:endParaRPr sz="1600" b="1" dirty="0">
              <a:solidFill>
                <a:schemeClr val="accent6"/>
              </a:solidFill>
            </a:endParaRPr>
          </a:p>
          <a:p>
            <a:pPr marL="0" lvl="0" indent="0" algn="ctr" rtl="0">
              <a:lnSpc>
                <a:spcPct val="115000"/>
              </a:lnSpc>
              <a:spcBef>
                <a:spcPts val="1256"/>
              </a:spcBef>
              <a:spcAft>
                <a:spcPts val="0"/>
              </a:spcAft>
              <a:buClr>
                <a:schemeClr val="dk1"/>
              </a:buClr>
              <a:buSzPts val="1151"/>
              <a:buFont typeface="Arial"/>
              <a:buNone/>
            </a:pPr>
            <a:r>
              <a:rPr lang="en" sz="1000" dirty="0">
                <a:solidFill>
                  <a:schemeClr val="dk1"/>
                </a:solidFill>
                <a:latin typeface="Calibri"/>
                <a:ea typeface="Calibri"/>
                <a:cs typeface="Calibri"/>
                <a:sym typeface="Calibri"/>
              </a:rPr>
              <a:t>Target audience is already buying lunch out daily. Sticks just needs to focus on where they go, for example by treating weekdays as their priority</a:t>
            </a:r>
            <a:endParaRPr sz="1000" dirty="0">
              <a:solidFill>
                <a:schemeClr val="dk1"/>
              </a:solidFill>
              <a:latin typeface="Calibri"/>
              <a:ea typeface="Calibri"/>
              <a:cs typeface="Calibri"/>
              <a:sym typeface="Calibri"/>
            </a:endParaRPr>
          </a:p>
          <a:p>
            <a:pPr marL="0" lvl="0" indent="0" algn="ctr" rtl="0">
              <a:lnSpc>
                <a:spcPct val="115000"/>
              </a:lnSpc>
              <a:spcBef>
                <a:spcPts val="1256"/>
              </a:spcBef>
              <a:spcAft>
                <a:spcPts val="0"/>
              </a:spcAft>
              <a:buNone/>
            </a:pPr>
            <a:endParaRPr sz="837" dirty="0">
              <a:solidFill>
                <a:schemeClr val="dk1"/>
              </a:solidFill>
              <a:latin typeface="Calibri"/>
              <a:ea typeface="Calibri"/>
              <a:cs typeface="Calibri"/>
              <a:sym typeface="Calibri"/>
            </a:endParaRPr>
          </a:p>
          <a:p>
            <a:pPr marL="0" lvl="0" indent="0" algn="l" rtl="0">
              <a:spcBef>
                <a:spcPts val="1256"/>
              </a:spcBef>
              <a:spcAft>
                <a:spcPts val="0"/>
              </a:spcAft>
              <a:buNone/>
            </a:pPr>
            <a:endParaRPr sz="1569" dirty="0">
              <a:solidFill>
                <a:schemeClr val="dk1"/>
              </a:solidFill>
              <a:latin typeface="Calibri"/>
              <a:ea typeface="Calibri"/>
              <a:cs typeface="Calibri"/>
              <a:sym typeface="Calibri"/>
            </a:endParaRPr>
          </a:p>
        </p:txBody>
      </p:sp>
      <p:sp>
        <p:nvSpPr>
          <p:cNvPr id="471" name="Google Shape;471;p41"/>
          <p:cNvSpPr txBox="1"/>
          <p:nvPr/>
        </p:nvSpPr>
        <p:spPr>
          <a:xfrm>
            <a:off x="4967324" y="1430383"/>
            <a:ext cx="1788600" cy="1652066"/>
          </a:xfrm>
          <a:prstGeom prst="rect">
            <a:avLst/>
          </a:prstGeom>
          <a:noFill/>
          <a:ln>
            <a:noFill/>
          </a:ln>
        </p:spPr>
        <p:txBody>
          <a:bodyPr spcFirstLastPara="1" wrap="square" lIns="95675" tIns="95675" rIns="95675" bIns="95675" anchor="t" anchorCtr="0">
            <a:noAutofit/>
          </a:bodyPr>
          <a:lstStyle/>
          <a:p>
            <a:pPr marL="0" lvl="0" indent="0" algn="ctr" rtl="0">
              <a:spcBef>
                <a:spcPts val="0"/>
              </a:spcBef>
              <a:spcAft>
                <a:spcPts val="0"/>
              </a:spcAft>
              <a:buNone/>
            </a:pPr>
            <a:r>
              <a:rPr lang="en" sz="1600" b="1" dirty="0">
                <a:solidFill>
                  <a:schemeClr val="accent6"/>
                </a:solidFill>
                <a:latin typeface="Calibri"/>
                <a:ea typeface="Calibri"/>
                <a:cs typeface="Calibri"/>
                <a:sym typeface="Calibri"/>
              </a:rPr>
              <a:t>Core Message</a:t>
            </a:r>
            <a:endParaRPr sz="1600" b="1" dirty="0">
              <a:solidFill>
                <a:schemeClr val="accent6"/>
              </a:solidFill>
              <a:latin typeface="Calibri"/>
              <a:ea typeface="Calibri"/>
              <a:cs typeface="Calibri"/>
              <a:sym typeface="Calibri"/>
            </a:endParaRPr>
          </a:p>
          <a:p>
            <a:pPr marL="0" lvl="0" indent="0" algn="ctr" rtl="0">
              <a:lnSpc>
                <a:spcPct val="115000"/>
              </a:lnSpc>
              <a:spcBef>
                <a:spcPts val="1256"/>
              </a:spcBef>
              <a:spcAft>
                <a:spcPts val="0"/>
              </a:spcAft>
              <a:buClr>
                <a:schemeClr val="dk1"/>
              </a:buClr>
              <a:buSzPts val="1151"/>
              <a:buFont typeface="Arial"/>
              <a:buNone/>
            </a:pPr>
            <a:r>
              <a:rPr lang="en" sz="1000" dirty="0">
                <a:solidFill>
                  <a:schemeClr val="dk1"/>
                </a:solidFill>
                <a:latin typeface="Calibri"/>
                <a:ea typeface="Calibri"/>
                <a:cs typeface="Calibri"/>
                <a:sym typeface="Calibri"/>
              </a:rPr>
              <a:t>Fast, healthy, flavor-packed lunches for busy professionals who prioritize speed and quality in their dining experience</a:t>
            </a:r>
            <a:endParaRPr sz="1000" dirty="0">
              <a:solidFill>
                <a:schemeClr val="dk1"/>
              </a:solidFill>
            </a:endParaRPr>
          </a:p>
          <a:p>
            <a:pPr marL="0" lvl="0" indent="0" algn="ctr" rtl="0">
              <a:lnSpc>
                <a:spcPct val="115000"/>
              </a:lnSpc>
              <a:spcBef>
                <a:spcPts val="1256"/>
              </a:spcBef>
              <a:spcAft>
                <a:spcPts val="0"/>
              </a:spcAft>
              <a:buNone/>
            </a:pPr>
            <a:endParaRPr sz="837" dirty="0">
              <a:solidFill>
                <a:schemeClr val="dk1"/>
              </a:solidFill>
              <a:latin typeface="Calibri"/>
              <a:ea typeface="Calibri"/>
              <a:cs typeface="Calibri"/>
              <a:sym typeface="Calibri"/>
            </a:endParaRPr>
          </a:p>
          <a:p>
            <a:pPr marL="0" lvl="0" indent="0" algn="l" rtl="0">
              <a:spcBef>
                <a:spcPts val="1256"/>
              </a:spcBef>
              <a:spcAft>
                <a:spcPts val="0"/>
              </a:spcAft>
              <a:buNone/>
            </a:pPr>
            <a:endParaRPr sz="1569" dirty="0">
              <a:solidFill>
                <a:schemeClr val="dk1"/>
              </a:solidFill>
              <a:latin typeface="Calibri"/>
              <a:ea typeface="Calibri"/>
              <a:cs typeface="Calibri"/>
              <a:sym typeface="Calibri"/>
            </a:endParaRPr>
          </a:p>
        </p:txBody>
      </p:sp>
      <p:sp>
        <p:nvSpPr>
          <p:cNvPr id="472" name="Google Shape;472;p41"/>
          <p:cNvSpPr txBox="1"/>
          <p:nvPr/>
        </p:nvSpPr>
        <p:spPr>
          <a:xfrm>
            <a:off x="499796" y="3562679"/>
            <a:ext cx="3083399" cy="12861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1200"/>
              </a:spcBef>
              <a:spcAft>
                <a:spcPts val="0"/>
              </a:spcAft>
              <a:buNone/>
            </a:pPr>
            <a:r>
              <a:rPr lang="en" sz="1100" b="1" dirty="0">
                <a:solidFill>
                  <a:schemeClr val="accent6"/>
                </a:solidFill>
                <a:latin typeface="Calibri" panose="020F0502020204030204" pitchFamily="34" charset="0"/>
                <a:cs typeface="Calibri" panose="020F0502020204030204" pitchFamily="34" charset="0"/>
              </a:rPr>
              <a:t>Speed &amp; Convenience</a:t>
            </a:r>
            <a:endParaRPr sz="1100" b="1" dirty="0">
              <a:solidFill>
                <a:schemeClr val="accent6"/>
              </a:solidFill>
              <a:latin typeface="Calibri" panose="020F0502020204030204" pitchFamily="34" charset="0"/>
              <a:cs typeface="Calibri" panose="020F0502020204030204" pitchFamily="34" charset="0"/>
            </a:endParaRPr>
          </a:p>
          <a:p>
            <a:pPr marL="228600" lvl="0" indent="-285750" algn="l" rtl="0">
              <a:lnSpc>
                <a:spcPct val="115000"/>
              </a:lnSpc>
              <a:spcBef>
                <a:spcPts val="1200"/>
              </a:spcBef>
              <a:spcAft>
                <a:spcPts val="0"/>
              </a:spcAft>
              <a:buClr>
                <a:schemeClr val="dk1"/>
              </a:buClr>
              <a:buSzPts val="900"/>
              <a:buChar char="●"/>
            </a:pPr>
            <a:r>
              <a:rPr lang="en" sz="900" dirty="0">
                <a:solidFill>
                  <a:schemeClr val="dk1"/>
                </a:solidFill>
                <a:latin typeface="Calibri" panose="020F0502020204030204" pitchFamily="34" charset="0"/>
                <a:cs typeface="Calibri" panose="020F0502020204030204" pitchFamily="34" charset="0"/>
              </a:rPr>
              <a:t>Introduce “Instant Lunch” option on the Sticks’ app     </a:t>
            </a:r>
            <a:endParaRPr lang="en-US" sz="900" dirty="0">
              <a:solidFill>
                <a:schemeClr val="dk1"/>
              </a:solidFill>
              <a:latin typeface="Calibri" panose="020F0502020204030204" pitchFamily="34" charset="0"/>
              <a:cs typeface="Calibri" panose="020F0502020204030204" pitchFamily="34" charset="0"/>
            </a:endParaRPr>
          </a:p>
          <a:p>
            <a:pPr marL="228600" lvl="0" indent="-285750" algn="l" rtl="0">
              <a:lnSpc>
                <a:spcPct val="115000"/>
              </a:lnSpc>
              <a:spcBef>
                <a:spcPts val="0"/>
              </a:spcBef>
              <a:spcAft>
                <a:spcPts val="0"/>
              </a:spcAft>
              <a:buClr>
                <a:schemeClr val="dk1"/>
              </a:buClr>
              <a:buSzPts val="900"/>
              <a:buChar char="●"/>
            </a:pPr>
            <a:r>
              <a:rPr lang="en-US" sz="900" dirty="0">
                <a:solidFill>
                  <a:schemeClr val="dk1"/>
                </a:solidFill>
                <a:latin typeface="Calibri" panose="020F0502020204030204" pitchFamily="34" charset="0"/>
                <a:cs typeface="Calibri" panose="020F0502020204030204" pitchFamily="34" charset="0"/>
              </a:rPr>
              <a:t>Easy takeout and delivery options</a:t>
            </a:r>
          </a:p>
          <a:p>
            <a:pPr marL="228600" lvl="0" indent="-285750" algn="l" rtl="0">
              <a:lnSpc>
                <a:spcPct val="115000"/>
              </a:lnSpc>
              <a:spcBef>
                <a:spcPts val="0"/>
              </a:spcBef>
              <a:spcAft>
                <a:spcPts val="0"/>
              </a:spcAft>
              <a:buClr>
                <a:schemeClr val="dk1"/>
              </a:buClr>
              <a:buSzPts val="900"/>
              <a:buChar char="●"/>
            </a:pPr>
            <a:r>
              <a:rPr lang="en" sz="900" dirty="0">
                <a:solidFill>
                  <a:schemeClr val="dk1"/>
                </a:solidFill>
                <a:latin typeface="Calibri" panose="020F0502020204030204" pitchFamily="34" charset="0"/>
                <a:cs typeface="Calibri" panose="020F0502020204030204" pitchFamily="34" charset="0"/>
              </a:rPr>
              <a:t>Fast lunch combos ready in under 5 minutes</a:t>
            </a:r>
            <a:endParaRPr sz="900" dirty="0">
              <a:solidFill>
                <a:schemeClr val="dk1"/>
              </a:solidFill>
              <a:latin typeface="Calibri" panose="020F0502020204030204" pitchFamily="34" charset="0"/>
              <a:cs typeface="Calibri" panose="020F0502020204030204" pitchFamily="34" charset="0"/>
            </a:endParaRPr>
          </a:p>
          <a:p>
            <a:pPr marL="228600" lvl="0" indent="-285750" algn="l" rtl="0">
              <a:lnSpc>
                <a:spcPct val="115000"/>
              </a:lnSpc>
              <a:spcBef>
                <a:spcPts val="0"/>
              </a:spcBef>
              <a:spcAft>
                <a:spcPts val="0"/>
              </a:spcAft>
              <a:buClr>
                <a:schemeClr val="dk1"/>
              </a:buClr>
              <a:buSzPts val="900"/>
              <a:buChar char="●"/>
            </a:pPr>
            <a:r>
              <a:rPr lang="en" sz="900" dirty="0">
                <a:solidFill>
                  <a:schemeClr val="dk1"/>
                </a:solidFill>
                <a:latin typeface="Calibri" panose="020F0502020204030204" pitchFamily="34" charset="0"/>
                <a:cs typeface="Calibri" panose="020F0502020204030204" pitchFamily="34" charset="0"/>
              </a:rPr>
              <a:t>Clear media signage highlighting brand values</a:t>
            </a:r>
          </a:p>
          <a:p>
            <a:pPr marL="228600" lvl="0" indent="-285750" algn="l" rtl="0">
              <a:lnSpc>
                <a:spcPct val="115000"/>
              </a:lnSpc>
              <a:spcBef>
                <a:spcPts val="0"/>
              </a:spcBef>
              <a:spcAft>
                <a:spcPts val="0"/>
              </a:spcAft>
              <a:buClr>
                <a:schemeClr val="dk1"/>
              </a:buClr>
              <a:buSzPts val="900"/>
              <a:buChar char="●"/>
            </a:pPr>
            <a:r>
              <a:rPr lang="en" sz="900" dirty="0">
                <a:solidFill>
                  <a:schemeClr val="dk1"/>
                </a:solidFill>
                <a:latin typeface="Calibri" panose="020F0502020204030204" pitchFamily="34" charset="0"/>
                <a:cs typeface="Calibri" panose="020F0502020204030204" pitchFamily="34" charset="0"/>
                <a:sym typeface="Calibri"/>
              </a:rPr>
              <a:t>Skip the queue option at a premium price for executives</a:t>
            </a:r>
            <a:endParaRPr lang="en" sz="3000" dirty="0">
              <a:solidFill>
                <a:schemeClr val="dk1"/>
              </a:solidFill>
              <a:latin typeface="Calibri" panose="020F0502020204030204" pitchFamily="34" charset="0"/>
              <a:cs typeface="Calibri" panose="020F0502020204030204" pitchFamily="34" charset="0"/>
              <a:sym typeface="Calibri"/>
            </a:endParaRPr>
          </a:p>
          <a:p>
            <a:pPr marL="228600" lvl="0" indent="-285750" algn="l" rtl="0">
              <a:lnSpc>
                <a:spcPct val="115000"/>
              </a:lnSpc>
              <a:spcBef>
                <a:spcPts val="0"/>
              </a:spcBef>
              <a:spcAft>
                <a:spcPts val="0"/>
              </a:spcAft>
              <a:buClr>
                <a:schemeClr val="dk1"/>
              </a:buClr>
              <a:buSzPts val="900"/>
              <a:buChar char="●"/>
            </a:pPr>
            <a:endParaRPr lang="en" sz="900" dirty="0">
              <a:solidFill>
                <a:schemeClr val="dk1"/>
              </a:solidFill>
              <a:latin typeface="Calibri" panose="020F0502020204030204" pitchFamily="34" charset="0"/>
              <a:cs typeface="Calibri" panose="020F0502020204030204" pitchFamily="34" charset="0"/>
            </a:endParaRPr>
          </a:p>
        </p:txBody>
      </p:sp>
      <p:sp>
        <p:nvSpPr>
          <p:cNvPr id="473" name="Google Shape;473;p41"/>
          <p:cNvSpPr txBox="1"/>
          <p:nvPr/>
        </p:nvSpPr>
        <p:spPr>
          <a:xfrm>
            <a:off x="4285168" y="3332631"/>
            <a:ext cx="2905172" cy="1566000"/>
          </a:xfrm>
          <a:prstGeom prst="rect">
            <a:avLst/>
          </a:prstGeom>
          <a:noFill/>
          <a:ln>
            <a:noFill/>
          </a:ln>
        </p:spPr>
        <p:txBody>
          <a:bodyPr spcFirstLastPara="1" wrap="square" lIns="91425" tIns="91425" rIns="91425" bIns="91425" anchor="ctr" anchorCtr="0">
            <a:noAutofit/>
          </a:bodyPr>
          <a:lstStyle/>
          <a:p>
            <a:pPr marL="457200" marR="0" lvl="0" indent="0" algn="ctr" rtl="0">
              <a:lnSpc>
                <a:spcPct val="115000"/>
              </a:lnSpc>
              <a:spcBef>
                <a:spcPts val="1200"/>
              </a:spcBef>
              <a:spcAft>
                <a:spcPts val="0"/>
              </a:spcAft>
              <a:buNone/>
            </a:pPr>
            <a:r>
              <a:rPr lang="en" sz="1200" b="1" dirty="0">
                <a:solidFill>
                  <a:schemeClr val="accent6"/>
                </a:solidFill>
                <a:latin typeface="Calibri" panose="020F0502020204030204" pitchFamily="34" charset="0"/>
                <a:cs typeface="Calibri" panose="020F0502020204030204" pitchFamily="34" charset="0"/>
              </a:rPr>
              <a:t>Loyalty &amp; Partnerships</a:t>
            </a:r>
            <a:endParaRPr sz="1200" b="1" dirty="0">
              <a:solidFill>
                <a:schemeClr val="accent6"/>
              </a:solidFill>
              <a:latin typeface="Calibri" panose="020F0502020204030204" pitchFamily="34" charset="0"/>
              <a:cs typeface="Calibri" panose="020F0502020204030204" pitchFamily="34" charset="0"/>
            </a:endParaRPr>
          </a:p>
          <a:p>
            <a:pPr marL="457200" marR="0" lvl="0" indent="-285750" algn="l" rtl="0">
              <a:lnSpc>
                <a:spcPct val="115000"/>
              </a:lnSpc>
              <a:spcBef>
                <a:spcPts val="1200"/>
              </a:spcBef>
              <a:spcAft>
                <a:spcPts val="0"/>
              </a:spcAft>
              <a:buClr>
                <a:schemeClr val="dk1"/>
              </a:buClr>
              <a:buSzPts val="900"/>
              <a:buChar char="●"/>
            </a:pPr>
            <a:r>
              <a:rPr lang="en" sz="900" dirty="0">
                <a:solidFill>
                  <a:schemeClr val="dk1"/>
                </a:solidFill>
                <a:latin typeface="Calibri" panose="020F0502020204030204" pitchFamily="34" charset="0"/>
                <a:cs typeface="Calibri" panose="020F0502020204030204" pitchFamily="34" charset="0"/>
              </a:rPr>
              <a:t>Offer loyalty punch card for weekday visits</a:t>
            </a:r>
            <a:endParaRPr sz="900" dirty="0">
              <a:solidFill>
                <a:schemeClr val="dk1"/>
              </a:solidFill>
              <a:latin typeface="Calibri" panose="020F0502020204030204" pitchFamily="34" charset="0"/>
              <a:cs typeface="Calibri" panose="020F0502020204030204" pitchFamily="34" charset="0"/>
            </a:endParaRPr>
          </a:p>
          <a:p>
            <a:pPr marL="457200" marR="0" lvl="0" indent="-285750" algn="l" rtl="0">
              <a:lnSpc>
                <a:spcPct val="115000"/>
              </a:lnSpc>
              <a:spcBef>
                <a:spcPts val="0"/>
              </a:spcBef>
              <a:spcAft>
                <a:spcPts val="0"/>
              </a:spcAft>
              <a:buClr>
                <a:schemeClr val="dk1"/>
              </a:buClr>
              <a:buSzPts val="900"/>
              <a:buChar char="●"/>
            </a:pPr>
            <a:r>
              <a:rPr lang="en" sz="900" dirty="0">
                <a:solidFill>
                  <a:schemeClr val="dk1"/>
                </a:solidFill>
                <a:latin typeface="Calibri" panose="020F0502020204030204" pitchFamily="34" charset="0"/>
                <a:cs typeface="Calibri" panose="020F0502020204030204" pitchFamily="34" charset="0"/>
              </a:rPr>
              <a:t>Provide monthly lunch deals at discounted rates</a:t>
            </a:r>
            <a:endParaRPr sz="900" dirty="0">
              <a:solidFill>
                <a:schemeClr val="dk1"/>
              </a:solidFill>
              <a:latin typeface="Calibri" panose="020F0502020204030204" pitchFamily="34" charset="0"/>
              <a:cs typeface="Calibri" panose="020F0502020204030204" pitchFamily="34" charset="0"/>
            </a:endParaRPr>
          </a:p>
          <a:p>
            <a:pPr marL="457200" marR="0" lvl="0" indent="-285750" algn="l" rtl="0">
              <a:lnSpc>
                <a:spcPct val="115000"/>
              </a:lnSpc>
              <a:spcBef>
                <a:spcPts val="0"/>
              </a:spcBef>
              <a:spcAft>
                <a:spcPts val="0"/>
              </a:spcAft>
              <a:buClr>
                <a:schemeClr val="dk1"/>
              </a:buClr>
              <a:buSzPts val="900"/>
              <a:buChar char="●"/>
            </a:pPr>
            <a:r>
              <a:rPr lang="en" sz="900" dirty="0">
                <a:solidFill>
                  <a:schemeClr val="dk1"/>
                </a:solidFill>
                <a:latin typeface="Calibri" panose="020F0502020204030204" pitchFamily="34" charset="0"/>
                <a:cs typeface="Calibri" panose="020F0502020204030204" pitchFamily="34" charset="0"/>
              </a:rPr>
              <a:t>Partnerships with nearby offices and gyms</a:t>
            </a:r>
            <a:endParaRPr sz="900" dirty="0">
              <a:solidFill>
                <a:schemeClr val="dk1"/>
              </a:solidFill>
              <a:latin typeface="Calibri" panose="020F0502020204030204" pitchFamily="34" charset="0"/>
              <a:cs typeface="Calibri" panose="020F0502020204030204" pitchFamily="34" charset="0"/>
            </a:endParaRPr>
          </a:p>
          <a:p>
            <a:pPr marL="457200" marR="0" lvl="0" indent="-285750" algn="l" rtl="0">
              <a:lnSpc>
                <a:spcPct val="115000"/>
              </a:lnSpc>
              <a:spcBef>
                <a:spcPts val="0"/>
              </a:spcBef>
              <a:spcAft>
                <a:spcPts val="0"/>
              </a:spcAft>
              <a:buClr>
                <a:schemeClr val="dk1"/>
              </a:buClr>
              <a:buSzPts val="900"/>
              <a:buChar char="●"/>
            </a:pPr>
            <a:r>
              <a:rPr lang="en" sz="900" dirty="0">
                <a:solidFill>
                  <a:schemeClr val="dk1"/>
                </a:solidFill>
                <a:latin typeface="Calibri" panose="020F0502020204030204" pitchFamily="34" charset="0"/>
                <a:cs typeface="Calibri" panose="020F0502020204030204" pitchFamily="34" charset="0"/>
              </a:rPr>
              <a:t>Advertisements via pamphlets or outdoor boards calling out quick-lunch value proposition</a:t>
            </a:r>
            <a:endParaRPr sz="700" dirty="0">
              <a:solidFill>
                <a:schemeClr val="dk1"/>
              </a:solidFill>
              <a:latin typeface="Calibri" panose="020F0502020204030204" pitchFamily="34" charset="0"/>
              <a:cs typeface="Calibri" panose="020F0502020204030204" pitchFamily="34" charset="0"/>
            </a:endParaRPr>
          </a:p>
        </p:txBody>
      </p:sp>
      <p:sp>
        <p:nvSpPr>
          <p:cNvPr id="474" name="Google Shape;474;p41"/>
          <p:cNvSpPr txBox="1"/>
          <p:nvPr/>
        </p:nvSpPr>
        <p:spPr>
          <a:xfrm>
            <a:off x="855564" y="645713"/>
            <a:ext cx="2861700" cy="685800"/>
          </a:xfrm>
          <a:prstGeom prst="rect">
            <a:avLst/>
          </a:prstGeom>
          <a:noFill/>
          <a:ln>
            <a:noFill/>
          </a:ln>
        </p:spPr>
        <p:txBody>
          <a:bodyPr spcFirstLastPara="1" wrap="square" lIns="91425" tIns="45700" rIns="91425" bIns="45700" anchor="ctr" anchorCtr="0">
            <a:noAutofit/>
          </a:bodyPr>
          <a:lstStyle/>
          <a:p>
            <a:pPr marL="0" lvl="0" indent="0" rtl="0">
              <a:lnSpc>
                <a:spcPct val="100000"/>
              </a:lnSpc>
              <a:spcBef>
                <a:spcPts val="0"/>
              </a:spcBef>
              <a:spcAft>
                <a:spcPts val="0"/>
              </a:spcAft>
              <a:buClr>
                <a:schemeClr val="dk1"/>
              </a:buClr>
              <a:buSzPts val="1100"/>
              <a:buFont typeface="Arial"/>
              <a:buNone/>
            </a:pPr>
            <a:r>
              <a:rPr lang="en" b="1" dirty="0">
                <a:solidFill>
                  <a:schemeClr val="accent6"/>
                </a:solidFill>
                <a:latin typeface="Calibri"/>
                <a:ea typeface="Calibri"/>
                <a:cs typeface="Calibri"/>
                <a:sym typeface="Calibri"/>
              </a:rPr>
              <a:t>Primary Target</a:t>
            </a:r>
            <a:r>
              <a:rPr lang="en" sz="1600" b="1" dirty="0">
                <a:solidFill>
                  <a:schemeClr val="accent6"/>
                </a:solidFill>
                <a:latin typeface="Calibri"/>
                <a:ea typeface="Calibri"/>
                <a:cs typeface="Calibri"/>
                <a:sym typeface="Calibri"/>
              </a:rPr>
              <a:t>: </a:t>
            </a:r>
            <a:r>
              <a:rPr lang="en" sz="1500" b="1" dirty="0">
                <a:solidFill>
                  <a:schemeClr val="accent6"/>
                </a:solidFill>
                <a:latin typeface="Calibri"/>
                <a:ea typeface="Calibri"/>
                <a:cs typeface="Calibri"/>
                <a:sym typeface="Calibri"/>
              </a:rPr>
              <a:t>Segment 3</a:t>
            </a:r>
            <a:endParaRPr sz="1500" b="1" dirty="0">
              <a:solidFill>
                <a:schemeClr val="accent6"/>
              </a:solidFill>
              <a:latin typeface="Calibri"/>
              <a:ea typeface="Calibri"/>
              <a:cs typeface="Calibri"/>
              <a:sym typeface="Calibri"/>
            </a:endParaRPr>
          </a:p>
          <a:p>
            <a:pPr marL="0" lvl="0" indent="0" rtl="0">
              <a:lnSpc>
                <a:spcPct val="100000"/>
              </a:lnSpc>
              <a:spcBef>
                <a:spcPts val="400"/>
              </a:spcBef>
              <a:spcAft>
                <a:spcPts val="0"/>
              </a:spcAft>
              <a:buClr>
                <a:schemeClr val="dk1"/>
              </a:buClr>
              <a:buSzPts val="1100"/>
              <a:buFont typeface="Arial"/>
              <a:buNone/>
            </a:pPr>
            <a:r>
              <a:rPr lang="en" sz="1100" dirty="0">
                <a:solidFill>
                  <a:schemeClr val="accent6"/>
                </a:solidFill>
                <a:latin typeface="Calibri"/>
                <a:ea typeface="Calibri"/>
                <a:cs typeface="Calibri"/>
                <a:sym typeface="Calibri"/>
              </a:rPr>
              <a:t>Fast, Restaurant-Lunch Diners</a:t>
            </a:r>
            <a:endParaRPr sz="400" dirty="0">
              <a:solidFill>
                <a:schemeClr val="dk1"/>
              </a:solidFill>
            </a:endParaRPr>
          </a:p>
          <a:p>
            <a:pPr marL="0" marR="0" lvl="0" indent="0" algn="ctr" rtl="0">
              <a:lnSpc>
                <a:spcPct val="100000"/>
              </a:lnSpc>
              <a:spcBef>
                <a:spcPts val="400"/>
              </a:spcBef>
              <a:spcAft>
                <a:spcPts val="0"/>
              </a:spcAft>
              <a:buClr>
                <a:srgbClr val="D96B3D"/>
              </a:buClr>
              <a:buSzPts val="600"/>
              <a:buFont typeface="Calibri"/>
              <a:buNone/>
            </a:pPr>
            <a:endParaRPr sz="100" b="1" dirty="0">
              <a:solidFill>
                <a:srgbClr val="C17529"/>
              </a:solidFill>
              <a:latin typeface="Calibri"/>
              <a:ea typeface="Calibri"/>
              <a:cs typeface="Calibri"/>
              <a:sym typeface="Calibri"/>
            </a:endParaRPr>
          </a:p>
        </p:txBody>
      </p:sp>
      <p:pic>
        <p:nvPicPr>
          <p:cNvPr id="475" name="Google Shape;475;p41"/>
          <p:cNvPicPr preferRelativeResize="0"/>
          <p:nvPr/>
        </p:nvPicPr>
        <p:blipFill>
          <a:blip r:embed="rId4">
            <a:alphaModFix/>
          </a:blip>
          <a:stretch>
            <a:fillRect/>
          </a:stretch>
        </p:blipFill>
        <p:spPr>
          <a:xfrm>
            <a:off x="7092188" y="805400"/>
            <a:ext cx="2043954" cy="4097024"/>
          </a:xfrm>
          <a:prstGeom prst="rect">
            <a:avLst/>
          </a:prstGeom>
          <a:noFill/>
          <a:ln>
            <a:noFill/>
          </a:ln>
        </p:spPr>
      </p:pic>
      <p:sp>
        <p:nvSpPr>
          <p:cNvPr id="476" name="Google Shape;476;p41"/>
          <p:cNvSpPr/>
          <p:nvPr/>
        </p:nvSpPr>
        <p:spPr>
          <a:xfrm>
            <a:off x="3284668" y="3660710"/>
            <a:ext cx="1120800" cy="1091050"/>
          </a:xfrm>
          <a:prstGeom prst="flowChartDecision">
            <a:avLst/>
          </a:prstGeom>
          <a:solidFill>
            <a:srgbClr val="EA593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77" name="Google Shape;477;p41"/>
          <p:cNvSpPr txBox="1"/>
          <p:nvPr/>
        </p:nvSpPr>
        <p:spPr>
          <a:xfrm>
            <a:off x="2999668" y="4021585"/>
            <a:ext cx="1690800" cy="369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b="1" dirty="0">
                <a:solidFill>
                  <a:schemeClr val="lt1"/>
                </a:solidFill>
                <a:latin typeface="Calibri"/>
                <a:ea typeface="Calibri"/>
                <a:cs typeface="Calibri"/>
                <a:sym typeface="Calibri"/>
              </a:rPr>
              <a:t>Execution </a:t>
            </a:r>
            <a:endParaRPr b="1" dirty="0">
              <a:solidFill>
                <a:schemeClr val="lt1"/>
              </a:solidFill>
              <a:latin typeface="Calibri"/>
              <a:ea typeface="Calibri"/>
              <a:cs typeface="Calibri"/>
              <a:sym typeface="Calibri"/>
            </a:endParaRPr>
          </a:p>
          <a:p>
            <a:pPr marL="0" lvl="0" indent="0" algn="ctr" rtl="0">
              <a:lnSpc>
                <a:spcPct val="100000"/>
              </a:lnSpc>
              <a:spcBef>
                <a:spcPts val="0"/>
              </a:spcBef>
              <a:spcAft>
                <a:spcPts val="0"/>
              </a:spcAft>
              <a:buNone/>
            </a:pPr>
            <a:r>
              <a:rPr lang="en" b="1" dirty="0">
                <a:solidFill>
                  <a:schemeClr val="lt1"/>
                </a:solidFill>
                <a:latin typeface="Calibri"/>
                <a:ea typeface="Calibri"/>
                <a:cs typeface="Calibri"/>
                <a:sym typeface="Calibri"/>
              </a:rPr>
              <a:t>Strategy</a:t>
            </a:r>
            <a:endParaRPr sz="3300" b="1" dirty="0">
              <a:solidFill>
                <a:schemeClr val="lt1"/>
              </a:solidFill>
              <a:latin typeface="Calibri"/>
              <a:ea typeface="Calibri"/>
              <a:cs typeface="Calibri"/>
              <a:sym typeface="Calibri"/>
            </a:endParaRPr>
          </a:p>
        </p:txBody>
      </p:sp>
      <p:pic>
        <p:nvPicPr>
          <p:cNvPr id="2" name="Google Shape;148;p26" descr="A black and orange logo&#10;&#10;AI-generated content may be incorrect.">
            <a:extLst>
              <a:ext uri="{FF2B5EF4-FFF2-40B4-BE49-F238E27FC236}">
                <a16:creationId xmlns:a16="http://schemas.microsoft.com/office/drawing/2014/main" id="{372C13CF-385F-9732-ECD7-972F0794EE44}"/>
              </a:ext>
            </a:extLst>
          </p:cNvPr>
          <p:cNvPicPr preferRelativeResize="0"/>
          <p:nvPr/>
        </p:nvPicPr>
        <p:blipFill rotWithShape="1">
          <a:blip r:embed="rId5">
            <a:alphaModFix/>
          </a:blip>
          <a:srcRect l="5357" r="10411"/>
          <a:stretch/>
        </p:blipFill>
        <p:spPr>
          <a:xfrm>
            <a:off x="7905729" y="199474"/>
            <a:ext cx="862617" cy="49732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42"/>
          <p:cNvSpPr/>
          <p:nvPr/>
        </p:nvSpPr>
        <p:spPr>
          <a:xfrm>
            <a:off x="0" y="0"/>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483" name="Google Shape;483;p42"/>
          <p:cNvGrpSpPr/>
          <p:nvPr/>
        </p:nvGrpSpPr>
        <p:grpSpPr>
          <a:xfrm>
            <a:off x="55721" y="1788827"/>
            <a:ext cx="430556" cy="1565846"/>
            <a:chOff x="209669" y="2857423"/>
            <a:chExt cx="463661" cy="2087794"/>
          </a:xfrm>
        </p:grpSpPr>
        <p:sp>
          <p:nvSpPr>
            <p:cNvPr id="484" name="Google Shape;484;p42"/>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485" name="Google Shape;485;p42"/>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486" name="Google Shape;486;p42"/>
          <p:cNvSpPr/>
          <p:nvPr/>
        </p:nvSpPr>
        <p:spPr>
          <a:xfrm flipH="1">
            <a:off x="8023200" y="0"/>
            <a:ext cx="1120800"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87" name="Google Shape;487;p42"/>
          <p:cNvSpPr/>
          <p:nvPr/>
        </p:nvSpPr>
        <p:spPr>
          <a:xfrm>
            <a:off x="434646" y="473825"/>
            <a:ext cx="8333700" cy="43143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88" name="Google Shape;488;p42"/>
          <p:cNvSpPr txBox="1">
            <a:spLocks noGrp="1"/>
          </p:cNvSpPr>
          <p:nvPr>
            <p:ph type="title"/>
          </p:nvPr>
        </p:nvSpPr>
        <p:spPr>
          <a:xfrm>
            <a:off x="649288" y="208570"/>
            <a:ext cx="5603400" cy="589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accent6"/>
              </a:buClr>
              <a:buSzPts val="2400"/>
              <a:buFont typeface="Calibri"/>
              <a:buNone/>
            </a:pPr>
            <a:r>
              <a:rPr lang="en" sz="2400" b="1" dirty="0">
                <a:solidFill>
                  <a:schemeClr val="accent6"/>
                </a:solidFill>
              </a:rPr>
              <a:t>Target Segments &amp; How to Reach Them </a:t>
            </a:r>
            <a:endParaRPr dirty="0"/>
          </a:p>
        </p:txBody>
      </p:sp>
      <p:pic>
        <p:nvPicPr>
          <p:cNvPr id="489" name="Google Shape;489;p42" descr="stick.jpeg"/>
          <p:cNvPicPr preferRelativeResize="0"/>
          <p:nvPr/>
        </p:nvPicPr>
        <p:blipFill rotWithShape="1">
          <a:blip r:embed="rId3">
            <a:alphaModFix/>
          </a:blip>
          <a:srcRect r="13164"/>
          <a:stretch/>
        </p:blipFill>
        <p:spPr>
          <a:xfrm>
            <a:off x="32018" y="33290"/>
            <a:ext cx="764124" cy="440537"/>
          </a:xfrm>
          <a:prstGeom prst="rect">
            <a:avLst/>
          </a:prstGeom>
          <a:noFill/>
          <a:ln>
            <a:noFill/>
          </a:ln>
        </p:spPr>
      </p:pic>
      <p:sp>
        <p:nvSpPr>
          <p:cNvPr id="491" name="Google Shape;491;p42"/>
          <p:cNvSpPr txBox="1"/>
          <p:nvPr/>
        </p:nvSpPr>
        <p:spPr>
          <a:xfrm>
            <a:off x="876961" y="632106"/>
            <a:ext cx="2933700" cy="685800"/>
          </a:xfrm>
          <a:prstGeom prst="rect">
            <a:avLst/>
          </a:prstGeom>
          <a:noFill/>
          <a:ln>
            <a:noFill/>
          </a:ln>
        </p:spPr>
        <p:txBody>
          <a:bodyPr spcFirstLastPara="1" wrap="square" lIns="91425" tIns="45700" rIns="91425" bIns="45700" anchor="ctr" anchorCtr="0">
            <a:noAutofit/>
          </a:bodyPr>
          <a:lstStyle/>
          <a:p>
            <a:pPr marL="0" lvl="0" indent="0" rtl="0">
              <a:lnSpc>
                <a:spcPct val="100000"/>
              </a:lnSpc>
              <a:spcBef>
                <a:spcPts val="0"/>
              </a:spcBef>
              <a:spcAft>
                <a:spcPts val="0"/>
              </a:spcAft>
              <a:buClr>
                <a:schemeClr val="dk1"/>
              </a:buClr>
              <a:buSzPts val="1100"/>
              <a:buFont typeface="Arial"/>
              <a:buNone/>
            </a:pPr>
            <a:r>
              <a:rPr lang="en" b="1" dirty="0">
                <a:solidFill>
                  <a:schemeClr val="accent6"/>
                </a:solidFill>
                <a:latin typeface="Calibri"/>
                <a:cs typeface="Calibri"/>
                <a:sym typeface="Calibri"/>
              </a:rPr>
              <a:t>Secondary Target: Segment 5</a:t>
            </a:r>
            <a:endParaRPr b="1" dirty="0">
              <a:solidFill>
                <a:schemeClr val="accent6"/>
              </a:solidFill>
              <a:latin typeface="Calibri"/>
              <a:cs typeface="Calibri"/>
              <a:sym typeface="Calibri"/>
            </a:endParaRPr>
          </a:p>
          <a:p>
            <a:pPr marL="0" lvl="0" indent="0" rtl="0">
              <a:lnSpc>
                <a:spcPct val="100000"/>
              </a:lnSpc>
              <a:spcBef>
                <a:spcPts val="400"/>
              </a:spcBef>
              <a:spcAft>
                <a:spcPts val="0"/>
              </a:spcAft>
              <a:buClr>
                <a:schemeClr val="dk1"/>
              </a:buClr>
              <a:buSzPts val="1100"/>
              <a:buFont typeface="Arial"/>
              <a:buNone/>
            </a:pPr>
            <a:r>
              <a:rPr lang="en" sz="1100" dirty="0">
                <a:solidFill>
                  <a:schemeClr val="accent6"/>
                </a:solidFill>
                <a:latin typeface="Calibri"/>
                <a:cs typeface="Calibri"/>
                <a:sym typeface="Calibri"/>
              </a:rPr>
              <a:t>Health &amp; Local Loyalists</a:t>
            </a:r>
            <a:endParaRPr sz="1100" dirty="0">
              <a:solidFill>
                <a:schemeClr val="accent6"/>
              </a:solidFill>
              <a:latin typeface="Calibri"/>
              <a:cs typeface="Calibri"/>
            </a:endParaRPr>
          </a:p>
          <a:p>
            <a:pPr marL="0" marR="0" lvl="0" indent="0" algn="ctr" rtl="0">
              <a:lnSpc>
                <a:spcPct val="100000"/>
              </a:lnSpc>
              <a:spcBef>
                <a:spcPts val="400"/>
              </a:spcBef>
              <a:spcAft>
                <a:spcPts val="0"/>
              </a:spcAft>
              <a:buClr>
                <a:srgbClr val="D96B3D"/>
              </a:buClr>
              <a:buSzPts val="600"/>
              <a:buFont typeface="Calibri"/>
              <a:buNone/>
            </a:pPr>
            <a:endParaRPr sz="100" b="1" dirty="0">
              <a:solidFill>
                <a:srgbClr val="C17529"/>
              </a:solidFill>
              <a:latin typeface="Calibri"/>
              <a:ea typeface="Calibri"/>
              <a:cs typeface="Calibri"/>
              <a:sym typeface="Calibri"/>
            </a:endParaRPr>
          </a:p>
        </p:txBody>
      </p:sp>
      <p:sp>
        <p:nvSpPr>
          <p:cNvPr id="492" name="Google Shape;492;p42"/>
          <p:cNvSpPr/>
          <p:nvPr/>
        </p:nvSpPr>
        <p:spPr>
          <a:xfrm>
            <a:off x="787325" y="1321875"/>
            <a:ext cx="1801800" cy="1794600"/>
          </a:xfrm>
          <a:prstGeom prst="roundRect">
            <a:avLst>
              <a:gd name="adj" fmla="val 16667"/>
            </a:avLst>
          </a:prstGeom>
          <a:solidFill>
            <a:srgbClr val="F1E8DE"/>
          </a:solidFill>
          <a:ln>
            <a:noFill/>
          </a:ln>
          <a:effectLst>
            <a:outerShdw blurRad="155791" dist="141629" dir="5400000" algn="t" rotWithShape="0">
              <a:srgbClr val="000000">
                <a:alpha val="14900"/>
              </a:srgbClr>
            </a:outerShdw>
          </a:effectLst>
        </p:spPr>
        <p:txBody>
          <a:bodyPr spcFirstLastPara="1" wrap="square" lIns="101950" tIns="101950" rIns="101950" bIns="101950" anchor="ctr" anchorCtr="0">
            <a:noAutofit/>
          </a:bodyPr>
          <a:lstStyle/>
          <a:p>
            <a:pPr marL="0" lvl="0" indent="0" algn="ctr" rtl="0">
              <a:spcBef>
                <a:spcPts val="0"/>
              </a:spcBef>
              <a:spcAft>
                <a:spcPts val="0"/>
              </a:spcAft>
              <a:buNone/>
            </a:pPr>
            <a:endParaRPr sz="1561">
              <a:latin typeface="Calibri"/>
              <a:ea typeface="Calibri"/>
              <a:cs typeface="Calibri"/>
              <a:sym typeface="Calibri"/>
            </a:endParaRPr>
          </a:p>
        </p:txBody>
      </p:sp>
      <p:sp>
        <p:nvSpPr>
          <p:cNvPr id="493" name="Google Shape;493;p42"/>
          <p:cNvSpPr/>
          <p:nvPr/>
        </p:nvSpPr>
        <p:spPr>
          <a:xfrm>
            <a:off x="4989977" y="1363150"/>
            <a:ext cx="1801800" cy="1753200"/>
          </a:xfrm>
          <a:prstGeom prst="roundRect">
            <a:avLst>
              <a:gd name="adj" fmla="val 16667"/>
            </a:avLst>
          </a:prstGeom>
          <a:solidFill>
            <a:srgbClr val="F1E8DE"/>
          </a:solidFill>
          <a:ln>
            <a:noFill/>
          </a:ln>
          <a:effectLst>
            <a:outerShdw blurRad="139700" dist="127000" dir="5400000" algn="t" rotWithShape="0">
              <a:srgbClr val="000000">
                <a:alpha val="149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94" name="Google Shape;494;p42"/>
          <p:cNvSpPr txBox="1"/>
          <p:nvPr/>
        </p:nvSpPr>
        <p:spPr>
          <a:xfrm>
            <a:off x="696125" y="1406475"/>
            <a:ext cx="1974300" cy="1710000"/>
          </a:xfrm>
          <a:prstGeom prst="rect">
            <a:avLst/>
          </a:prstGeom>
          <a:noFill/>
          <a:ln>
            <a:noFill/>
          </a:ln>
        </p:spPr>
        <p:txBody>
          <a:bodyPr spcFirstLastPara="1" wrap="square" lIns="101950" tIns="101950" rIns="101950" bIns="101950" anchor="t" anchorCtr="0">
            <a:noAutofit/>
          </a:bodyPr>
          <a:lstStyle/>
          <a:p>
            <a:pPr lvl="0" algn="ctr"/>
            <a:r>
              <a:rPr lang="en" sz="1600" b="1" dirty="0">
                <a:solidFill>
                  <a:schemeClr val="accent6"/>
                </a:solidFill>
                <a:latin typeface="Calibri"/>
                <a:ea typeface="Calibri"/>
                <a:cs typeface="Calibri"/>
                <a:sym typeface="Calibri"/>
              </a:rPr>
              <a:t>Who Are They?</a:t>
            </a:r>
            <a:endParaRPr sz="1600" b="1" dirty="0">
              <a:solidFill>
                <a:schemeClr val="accent6"/>
              </a:solidFill>
            </a:endParaRPr>
          </a:p>
          <a:p>
            <a:pPr marL="0" lvl="0" indent="0" algn="ctr" rtl="0">
              <a:lnSpc>
                <a:spcPct val="115000"/>
              </a:lnSpc>
              <a:spcBef>
                <a:spcPts val="1338"/>
              </a:spcBef>
              <a:spcAft>
                <a:spcPts val="0"/>
              </a:spcAft>
              <a:buClr>
                <a:schemeClr val="dk1"/>
              </a:buClr>
              <a:buSzPts val="1227"/>
              <a:buFont typeface="Arial"/>
              <a:buNone/>
            </a:pPr>
            <a:r>
              <a:rPr lang="en" sz="1000" dirty="0">
                <a:solidFill>
                  <a:schemeClr val="dk1"/>
                </a:solidFill>
                <a:latin typeface="Calibri"/>
                <a:ea typeface="Calibri"/>
                <a:cs typeface="Calibri"/>
                <a:sym typeface="Calibri"/>
              </a:rPr>
              <a:t>Rich couples and families who prefer buying local &amp; healthy food. They mostly make their own lunch at home but are excellent dinner and weekend customers</a:t>
            </a:r>
            <a:endParaRPr sz="1000" dirty="0">
              <a:solidFill>
                <a:schemeClr val="dk1"/>
              </a:solidFill>
              <a:latin typeface="Calibri"/>
              <a:ea typeface="Calibri"/>
              <a:cs typeface="Calibri"/>
              <a:sym typeface="Calibri"/>
            </a:endParaRPr>
          </a:p>
          <a:p>
            <a:pPr marL="0" lvl="0" indent="0" algn="ctr" rtl="0">
              <a:lnSpc>
                <a:spcPct val="115000"/>
              </a:lnSpc>
              <a:spcBef>
                <a:spcPts val="1338"/>
              </a:spcBef>
              <a:spcAft>
                <a:spcPts val="0"/>
              </a:spcAft>
              <a:buClr>
                <a:schemeClr val="dk1"/>
              </a:buClr>
              <a:buSzPts val="1227"/>
              <a:buFont typeface="Arial"/>
              <a:buNone/>
            </a:pPr>
            <a:endParaRPr sz="892" dirty="0">
              <a:solidFill>
                <a:schemeClr val="dk1"/>
              </a:solidFill>
              <a:latin typeface="Calibri"/>
              <a:ea typeface="Calibri"/>
              <a:cs typeface="Calibri"/>
              <a:sym typeface="Calibri"/>
            </a:endParaRPr>
          </a:p>
          <a:p>
            <a:pPr marL="0" lvl="0" indent="0" algn="l" rtl="0">
              <a:spcBef>
                <a:spcPts val="1338"/>
              </a:spcBef>
              <a:spcAft>
                <a:spcPts val="0"/>
              </a:spcAft>
              <a:buNone/>
            </a:pPr>
            <a:endParaRPr sz="1672" dirty="0">
              <a:solidFill>
                <a:schemeClr val="dk1"/>
              </a:solidFill>
              <a:latin typeface="Calibri"/>
              <a:ea typeface="Calibri"/>
              <a:cs typeface="Calibri"/>
              <a:sym typeface="Calibri"/>
            </a:endParaRPr>
          </a:p>
        </p:txBody>
      </p:sp>
      <p:sp>
        <p:nvSpPr>
          <p:cNvPr id="495" name="Google Shape;495;p42"/>
          <p:cNvSpPr txBox="1"/>
          <p:nvPr/>
        </p:nvSpPr>
        <p:spPr>
          <a:xfrm>
            <a:off x="4989975" y="1406450"/>
            <a:ext cx="1801800" cy="171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dirty="0">
                <a:solidFill>
                  <a:schemeClr val="accent6"/>
                </a:solidFill>
                <a:latin typeface="Calibri"/>
                <a:ea typeface="Calibri"/>
                <a:cs typeface="Calibri"/>
                <a:sym typeface="Calibri"/>
              </a:rPr>
              <a:t>Long-Term Value</a:t>
            </a:r>
            <a:endParaRPr sz="1600" b="1" dirty="0">
              <a:solidFill>
                <a:schemeClr val="accent6"/>
              </a:solidFill>
              <a:latin typeface="Calibri"/>
              <a:ea typeface="Calibri"/>
              <a:cs typeface="Calibri"/>
              <a:sym typeface="Calibri"/>
            </a:endParaRPr>
          </a:p>
          <a:p>
            <a:pPr marL="0" lvl="0" indent="0" algn="ctr" rtl="0">
              <a:lnSpc>
                <a:spcPct val="115000"/>
              </a:lnSpc>
              <a:spcBef>
                <a:spcPts val="1200"/>
              </a:spcBef>
              <a:spcAft>
                <a:spcPts val="0"/>
              </a:spcAft>
              <a:buClr>
                <a:schemeClr val="dk1"/>
              </a:buClr>
              <a:buSzPts val="1100"/>
              <a:buFont typeface="Arial"/>
              <a:buNone/>
            </a:pPr>
            <a:r>
              <a:rPr lang="en" sz="1000" dirty="0">
                <a:solidFill>
                  <a:schemeClr val="dk1"/>
                </a:solidFill>
                <a:latin typeface="Calibri"/>
                <a:ea typeface="Calibri"/>
                <a:cs typeface="Calibri"/>
                <a:sym typeface="Calibri"/>
              </a:rPr>
              <a:t>Aiming to make this segment our loyal customers - customers who bring their kids on weekends, order takeout dinners, and prefer to go for trusted brands</a:t>
            </a:r>
            <a:endParaRPr sz="1000" dirty="0">
              <a:solidFill>
                <a:schemeClr val="dk1"/>
              </a:solidFill>
              <a:latin typeface="Calibri"/>
              <a:ea typeface="Calibri"/>
              <a:cs typeface="Calibri"/>
              <a:sym typeface="Calibri"/>
            </a:endParaRPr>
          </a:p>
          <a:p>
            <a:pPr marL="0" lvl="0" indent="0" algn="ctr" rtl="0">
              <a:lnSpc>
                <a:spcPct val="115000"/>
              </a:lnSpc>
              <a:spcBef>
                <a:spcPts val="1200"/>
              </a:spcBef>
              <a:spcAft>
                <a:spcPts val="0"/>
              </a:spcAft>
              <a:buNone/>
            </a:pPr>
            <a:endParaRPr sz="800" dirty="0">
              <a:solidFill>
                <a:schemeClr val="dk1"/>
              </a:solidFill>
              <a:latin typeface="Calibri"/>
              <a:ea typeface="Calibri"/>
              <a:cs typeface="Calibri"/>
              <a:sym typeface="Calibri"/>
            </a:endParaRPr>
          </a:p>
          <a:p>
            <a:pPr marL="0" lvl="0" indent="0" algn="l" rtl="0">
              <a:spcBef>
                <a:spcPts val="1200"/>
              </a:spcBef>
              <a:spcAft>
                <a:spcPts val="0"/>
              </a:spcAft>
              <a:buNone/>
            </a:pPr>
            <a:endParaRPr sz="1500" dirty="0">
              <a:solidFill>
                <a:schemeClr val="dk1"/>
              </a:solidFill>
              <a:latin typeface="Calibri"/>
              <a:ea typeface="Calibri"/>
              <a:cs typeface="Calibri"/>
              <a:sym typeface="Calibri"/>
            </a:endParaRPr>
          </a:p>
        </p:txBody>
      </p:sp>
      <p:sp>
        <p:nvSpPr>
          <p:cNvPr id="496" name="Google Shape;496;p42"/>
          <p:cNvSpPr txBox="1"/>
          <p:nvPr/>
        </p:nvSpPr>
        <p:spPr>
          <a:xfrm>
            <a:off x="853494" y="3008353"/>
            <a:ext cx="4286400" cy="316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 b="1" dirty="0">
                <a:solidFill>
                  <a:srgbClr val="C07529"/>
                </a:solidFill>
                <a:latin typeface="Calibri"/>
                <a:ea typeface="Calibri"/>
                <a:cs typeface="Calibri"/>
                <a:sym typeface="Calibri"/>
              </a:rPr>
              <a:t>Execution Strategy to build loyal Customer Base</a:t>
            </a:r>
            <a:endParaRPr sz="1300" b="1" dirty="0">
              <a:solidFill>
                <a:schemeClr val="dk1"/>
              </a:solidFill>
            </a:endParaRPr>
          </a:p>
          <a:p>
            <a:pPr marL="0" lvl="0" indent="0" algn="l" rtl="0">
              <a:lnSpc>
                <a:spcPct val="115000"/>
              </a:lnSpc>
              <a:spcBef>
                <a:spcPts val="1400"/>
              </a:spcBef>
              <a:spcAft>
                <a:spcPts val="400"/>
              </a:spcAft>
              <a:buNone/>
            </a:pPr>
            <a:endParaRPr b="1" dirty="0">
              <a:solidFill>
                <a:srgbClr val="C07529"/>
              </a:solidFill>
              <a:latin typeface="Calibri"/>
              <a:ea typeface="Calibri"/>
              <a:cs typeface="Calibri"/>
              <a:sym typeface="Calibri"/>
            </a:endParaRPr>
          </a:p>
        </p:txBody>
      </p:sp>
      <p:sp>
        <p:nvSpPr>
          <p:cNvPr id="497" name="Google Shape;497;p42"/>
          <p:cNvSpPr txBox="1"/>
          <p:nvPr/>
        </p:nvSpPr>
        <p:spPr>
          <a:xfrm>
            <a:off x="853494" y="3324853"/>
            <a:ext cx="1911000" cy="1140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b="1" dirty="0">
                <a:solidFill>
                  <a:schemeClr val="accent6"/>
                </a:solidFill>
                <a:latin typeface="Calibri" panose="020F0502020204030204" pitchFamily="34" charset="0"/>
                <a:cs typeface="Calibri" panose="020F0502020204030204" pitchFamily="34" charset="0"/>
              </a:rPr>
              <a:t>Transparency</a:t>
            </a:r>
            <a:r>
              <a:rPr lang="en" sz="1000" b="1" dirty="0">
                <a:solidFill>
                  <a:schemeClr val="accent6"/>
                </a:solidFill>
                <a:latin typeface="Calibri" panose="020F0502020204030204" pitchFamily="34" charset="0"/>
                <a:cs typeface="Calibri" panose="020F0502020204030204" pitchFamily="34" charset="0"/>
              </a:rPr>
              <a:t> </a:t>
            </a:r>
          </a:p>
          <a:p>
            <a:pPr marL="0" lvl="0" indent="0" algn="l" rtl="0">
              <a:lnSpc>
                <a:spcPct val="115000"/>
              </a:lnSpc>
              <a:spcBef>
                <a:spcPts val="1200"/>
              </a:spcBef>
              <a:spcAft>
                <a:spcPts val="0"/>
              </a:spcAft>
              <a:buNone/>
            </a:pPr>
            <a:r>
              <a:rPr lang="en" sz="900" dirty="0">
                <a:solidFill>
                  <a:schemeClr val="dk1"/>
                </a:solidFill>
                <a:latin typeface="Calibri" panose="020F0502020204030204" pitchFamily="34" charset="0"/>
                <a:ea typeface="Calibri"/>
                <a:cs typeface="Calibri" panose="020F0502020204030204" pitchFamily="34" charset="0"/>
                <a:sym typeface="Calibri"/>
              </a:rPr>
              <a:t>Share local sourcing, ingredients and nutritional transparency, e.g. list of local farms, fresh produce, and calories per bowl. Use phrases such as local produce, lean proteins, etc.</a:t>
            </a:r>
            <a:endParaRPr sz="900"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498" name="Google Shape;498;p42"/>
          <p:cNvSpPr txBox="1"/>
          <p:nvPr/>
        </p:nvSpPr>
        <p:spPr>
          <a:xfrm>
            <a:off x="2865444" y="3324853"/>
            <a:ext cx="1873500" cy="1140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b="1" dirty="0">
                <a:solidFill>
                  <a:schemeClr val="accent6"/>
                </a:solidFill>
                <a:latin typeface="Calibri" panose="020F0502020204030204" pitchFamily="34" charset="0"/>
                <a:cs typeface="Calibri" panose="020F0502020204030204" pitchFamily="34" charset="0"/>
              </a:rPr>
              <a:t>Family Appeal</a:t>
            </a:r>
            <a:endParaRPr sz="1100" b="1" dirty="0">
              <a:solidFill>
                <a:schemeClr val="accent6"/>
              </a:solidFill>
              <a:latin typeface="Calibri" panose="020F0502020204030204" pitchFamily="34" charset="0"/>
              <a:cs typeface="Calibri" panose="020F0502020204030204" pitchFamily="34" charset="0"/>
            </a:endParaRPr>
          </a:p>
          <a:p>
            <a:pPr marL="0" lvl="0" indent="0" algn="l" rtl="0">
              <a:lnSpc>
                <a:spcPct val="115000"/>
              </a:lnSpc>
              <a:spcBef>
                <a:spcPts val="1200"/>
              </a:spcBef>
              <a:spcAft>
                <a:spcPts val="0"/>
              </a:spcAft>
              <a:buNone/>
            </a:pPr>
            <a:r>
              <a:rPr lang="en" sz="900" dirty="0">
                <a:solidFill>
                  <a:schemeClr val="dk1"/>
                </a:solidFill>
                <a:latin typeface="Calibri" panose="020F0502020204030204" pitchFamily="34" charset="0"/>
                <a:ea typeface="Calibri"/>
                <a:cs typeface="Calibri" panose="020F0502020204030204" pitchFamily="34" charset="0"/>
                <a:sym typeface="Calibri"/>
              </a:rPr>
              <a:t>Offer family-style meals such as dinner bowls, meal combos and weekend specials, focusing on healthy and affordable options for both parents and kids</a:t>
            </a:r>
            <a:endParaRPr sz="900" dirty="0">
              <a:solidFill>
                <a:schemeClr val="dk1"/>
              </a:solidFill>
              <a:latin typeface="Calibri" panose="020F0502020204030204" pitchFamily="34" charset="0"/>
              <a:ea typeface="Calibri"/>
              <a:cs typeface="Calibri" panose="020F0502020204030204" pitchFamily="34" charset="0"/>
              <a:sym typeface="Calibri"/>
            </a:endParaRPr>
          </a:p>
          <a:p>
            <a:pPr marL="0" lvl="0" indent="0" algn="l" rtl="0">
              <a:lnSpc>
                <a:spcPct val="115000"/>
              </a:lnSpc>
              <a:spcBef>
                <a:spcPts val="1200"/>
              </a:spcBef>
              <a:spcAft>
                <a:spcPts val="1200"/>
              </a:spcAft>
              <a:buNone/>
            </a:pPr>
            <a:endParaRPr sz="800"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499" name="Google Shape;499;p42"/>
          <p:cNvSpPr txBox="1"/>
          <p:nvPr/>
        </p:nvSpPr>
        <p:spPr>
          <a:xfrm>
            <a:off x="4839894" y="3324853"/>
            <a:ext cx="1873500" cy="1140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b="1" dirty="0">
                <a:solidFill>
                  <a:schemeClr val="accent6"/>
                </a:solidFill>
                <a:latin typeface="Calibri" panose="020F0502020204030204" pitchFamily="34" charset="0"/>
                <a:cs typeface="Calibri" panose="020F0502020204030204" pitchFamily="34" charset="0"/>
              </a:rPr>
              <a:t>Community Connection</a:t>
            </a:r>
            <a:endParaRPr sz="1100" b="1" dirty="0">
              <a:solidFill>
                <a:schemeClr val="accent6"/>
              </a:solidFill>
              <a:latin typeface="Calibri" panose="020F0502020204030204" pitchFamily="34" charset="0"/>
              <a:cs typeface="Calibri" panose="020F0502020204030204" pitchFamily="34" charset="0"/>
            </a:endParaRPr>
          </a:p>
          <a:p>
            <a:pPr marL="0" lvl="0" indent="0" algn="l" rtl="0">
              <a:lnSpc>
                <a:spcPct val="115000"/>
              </a:lnSpc>
              <a:spcBef>
                <a:spcPts val="1200"/>
              </a:spcBef>
              <a:spcAft>
                <a:spcPts val="1200"/>
              </a:spcAft>
              <a:buNone/>
            </a:pPr>
            <a:r>
              <a:rPr lang="en" sz="900" dirty="0">
                <a:solidFill>
                  <a:schemeClr val="dk1"/>
                </a:solidFill>
                <a:latin typeface="Calibri" panose="020F0502020204030204" pitchFamily="34" charset="0"/>
                <a:ea typeface="Calibri"/>
                <a:cs typeface="Calibri" panose="020F0502020204030204" pitchFamily="34" charset="0"/>
                <a:sym typeface="Calibri"/>
              </a:rPr>
              <a:t>Host occasional pop-ups at festivals, community events, parks or sports centers. Additionally, create seasonal bowls tied to local sourcing of authentic ingredients</a:t>
            </a:r>
            <a:endParaRPr sz="900"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500" name="Google Shape;500;p42"/>
          <p:cNvSpPr/>
          <p:nvPr/>
        </p:nvSpPr>
        <p:spPr>
          <a:xfrm>
            <a:off x="2971925" y="1364175"/>
            <a:ext cx="1801800" cy="1794600"/>
          </a:xfrm>
          <a:prstGeom prst="roundRect">
            <a:avLst>
              <a:gd name="adj" fmla="val 16667"/>
            </a:avLst>
          </a:prstGeom>
          <a:solidFill>
            <a:srgbClr val="F1E8DE"/>
          </a:solidFill>
          <a:ln>
            <a:noFill/>
          </a:ln>
          <a:effectLst>
            <a:outerShdw blurRad="155791" dist="141629" dir="5400000" algn="t" rotWithShape="0">
              <a:srgbClr val="000000">
                <a:alpha val="14900"/>
              </a:srgbClr>
            </a:outerShdw>
          </a:effectLst>
        </p:spPr>
        <p:txBody>
          <a:bodyPr spcFirstLastPara="1" wrap="square" lIns="101950" tIns="101950" rIns="101950" bIns="101950" anchor="ctr" anchorCtr="0">
            <a:noAutofit/>
          </a:bodyPr>
          <a:lstStyle/>
          <a:p>
            <a:pPr marL="0" lvl="0" indent="0" algn="ctr" rtl="0">
              <a:spcBef>
                <a:spcPts val="0"/>
              </a:spcBef>
              <a:spcAft>
                <a:spcPts val="0"/>
              </a:spcAft>
              <a:buNone/>
            </a:pPr>
            <a:endParaRPr sz="1561">
              <a:latin typeface="Calibri"/>
              <a:ea typeface="Calibri"/>
              <a:cs typeface="Calibri"/>
              <a:sym typeface="Calibri"/>
            </a:endParaRPr>
          </a:p>
        </p:txBody>
      </p:sp>
      <p:sp>
        <p:nvSpPr>
          <p:cNvPr id="501" name="Google Shape;501;p42"/>
          <p:cNvSpPr txBox="1"/>
          <p:nvPr/>
        </p:nvSpPr>
        <p:spPr>
          <a:xfrm>
            <a:off x="2971925" y="1426725"/>
            <a:ext cx="1801800" cy="147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dirty="0">
                <a:solidFill>
                  <a:schemeClr val="accent6"/>
                </a:solidFill>
                <a:latin typeface="Calibri"/>
                <a:ea typeface="Calibri"/>
                <a:cs typeface="Calibri"/>
                <a:sym typeface="Calibri"/>
              </a:rPr>
              <a:t>Core Message</a:t>
            </a:r>
            <a:endParaRPr sz="1600" b="1" dirty="0">
              <a:solidFill>
                <a:schemeClr val="accent6"/>
              </a:solidFill>
            </a:endParaRPr>
          </a:p>
          <a:p>
            <a:pPr marL="0" lvl="0" indent="0" algn="ctr" rtl="0">
              <a:lnSpc>
                <a:spcPct val="115000"/>
              </a:lnSpc>
              <a:spcBef>
                <a:spcPts val="1200"/>
              </a:spcBef>
              <a:spcAft>
                <a:spcPts val="0"/>
              </a:spcAft>
              <a:buClr>
                <a:schemeClr val="dk1"/>
              </a:buClr>
              <a:buSzPts val="1100"/>
              <a:buFont typeface="Arial"/>
              <a:buNone/>
            </a:pPr>
            <a:r>
              <a:rPr lang="en" sz="1000" dirty="0">
                <a:solidFill>
                  <a:schemeClr val="dk1"/>
                </a:solidFill>
                <a:latin typeface="Calibri"/>
                <a:ea typeface="Calibri"/>
                <a:cs typeface="Calibri"/>
                <a:sym typeface="Calibri"/>
              </a:rPr>
              <a:t>Local food ingredients sourcing, clean eating, and family-friendly meals to make your loved ones happy</a:t>
            </a:r>
            <a:endParaRPr sz="1000" dirty="0">
              <a:solidFill>
                <a:schemeClr val="dk1"/>
              </a:solidFill>
              <a:latin typeface="Calibri"/>
              <a:ea typeface="Calibri"/>
              <a:cs typeface="Calibri"/>
              <a:sym typeface="Calibri"/>
            </a:endParaRPr>
          </a:p>
          <a:p>
            <a:pPr marL="0" lvl="0" indent="0" algn="ctr" rtl="0">
              <a:lnSpc>
                <a:spcPct val="115000"/>
              </a:lnSpc>
              <a:spcBef>
                <a:spcPts val="1200"/>
              </a:spcBef>
              <a:spcAft>
                <a:spcPts val="0"/>
              </a:spcAft>
              <a:buNone/>
            </a:pPr>
            <a:endParaRPr sz="800" dirty="0">
              <a:solidFill>
                <a:schemeClr val="dk1"/>
              </a:solidFill>
              <a:latin typeface="Calibri"/>
              <a:ea typeface="Calibri"/>
              <a:cs typeface="Calibri"/>
              <a:sym typeface="Calibri"/>
            </a:endParaRPr>
          </a:p>
          <a:p>
            <a:pPr marL="0" lvl="0" indent="0" algn="l" rtl="0">
              <a:spcBef>
                <a:spcPts val="1200"/>
              </a:spcBef>
              <a:spcAft>
                <a:spcPts val="0"/>
              </a:spcAft>
              <a:buNone/>
            </a:pPr>
            <a:endParaRPr sz="1500" dirty="0">
              <a:solidFill>
                <a:schemeClr val="dk1"/>
              </a:solidFill>
              <a:latin typeface="Calibri"/>
              <a:ea typeface="Calibri"/>
              <a:cs typeface="Calibri"/>
              <a:sym typeface="Calibri"/>
            </a:endParaRPr>
          </a:p>
        </p:txBody>
      </p:sp>
      <p:pic>
        <p:nvPicPr>
          <p:cNvPr id="502" name="Google Shape;502;p42"/>
          <p:cNvPicPr preferRelativeResize="0"/>
          <p:nvPr/>
        </p:nvPicPr>
        <p:blipFill>
          <a:blip r:embed="rId4">
            <a:alphaModFix/>
          </a:blip>
          <a:stretch>
            <a:fillRect/>
          </a:stretch>
        </p:blipFill>
        <p:spPr>
          <a:xfrm>
            <a:off x="6938000" y="712821"/>
            <a:ext cx="1873500" cy="4075304"/>
          </a:xfrm>
          <a:prstGeom prst="rect">
            <a:avLst/>
          </a:prstGeom>
          <a:solidFill>
            <a:schemeClr val="lt1"/>
          </a:solidFill>
          <a:ln>
            <a:noFill/>
          </a:ln>
          <a:effectLst>
            <a:outerShdw blurRad="139700" dist="127000" dir="5400000" algn="t" rotWithShape="0">
              <a:srgbClr val="000000">
                <a:alpha val="14900"/>
              </a:srgbClr>
            </a:outerShdw>
          </a:effectLst>
        </p:spPr>
      </p:pic>
      <p:sp>
        <p:nvSpPr>
          <p:cNvPr id="504" name="Google Shape;504;p42"/>
          <p:cNvSpPr txBox="1"/>
          <p:nvPr/>
        </p:nvSpPr>
        <p:spPr>
          <a:xfrm>
            <a:off x="6948275" y="2857025"/>
            <a:ext cx="2009700" cy="68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chemeClr val="lt1"/>
                </a:solidFill>
                <a:latin typeface="Times New Roman"/>
                <a:ea typeface="Times New Roman"/>
                <a:cs typeface="Times New Roman"/>
                <a:sym typeface="Times New Roman"/>
              </a:rPr>
              <a:t>NUTRITIONAL </a:t>
            </a:r>
            <a:endParaRPr sz="1900" b="1">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900" b="1">
                <a:solidFill>
                  <a:schemeClr val="lt1"/>
                </a:solidFill>
                <a:latin typeface="Times New Roman"/>
                <a:ea typeface="Times New Roman"/>
                <a:cs typeface="Times New Roman"/>
                <a:sym typeface="Times New Roman"/>
              </a:rPr>
              <a:t>INFORMATION</a:t>
            </a:r>
            <a:endParaRPr sz="1900" b="1">
              <a:solidFill>
                <a:schemeClr val="lt1"/>
              </a:solidFill>
              <a:latin typeface="Times New Roman"/>
              <a:ea typeface="Times New Roman"/>
              <a:cs typeface="Times New Roman"/>
              <a:sym typeface="Times New Roman"/>
            </a:endParaRPr>
          </a:p>
        </p:txBody>
      </p:sp>
      <p:sp>
        <p:nvSpPr>
          <p:cNvPr id="505" name="Google Shape;505;p42"/>
          <p:cNvSpPr txBox="1"/>
          <p:nvPr/>
        </p:nvSpPr>
        <p:spPr>
          <a:xfrm>
            <a:off x="7302500" y="2221600"/>
            <a:ext cx="1509000" cy="354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600" b="1">
                <a:solidFill>
                  <a:schemeClr val="lt1"/>
                </a:solidFill>
                <a:latin typeface="Lobster"/>
                <a:ea typeface="Lobster"/>
                <a:cs typeface="Lobster"/>
                <a:sym typeface="Lobster"/>
              </a:rPr>
              <a:t>Pick 6 Family Meal</a:t>
            </a:r>
            <a:endParaRPr sz="1600" b="1">
              <a:solidFill>
                <a:schemeClr val="lt1"/>
              </a:solidFill>
              <a:latin typeface="Lobster"/>
              <a:ea typeface="Lobster"/>
              <a:cs typeface="Lobster"/>
              <a:sym typeface="Lobster"/>
            </a:endParaRPr>
          </a:p>
        </p:txBody>
      </p:sp>
      <p:sp>
        <p:nvSpPr>
          <p:cNvPr id="506" name="Google Shape;506;p42"/>
          <p:cNvSpPr txBox="1"/>
          <p:nvPr/>
        </p:nvSpPr>
        <p:spPr>
          <a:xfrm>
            <a:off x="6948275" y="4147000"/>
            <a:ext cx="861300" cy="35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lt1"/>
                </a:solidFill>
                <a:latin typeface="Lobster"/>
                <a:ea typeface="Lobster"/>
                <a:cs typeface="Lobster"/>
                <a:sym typeface="Lobster"/>
              </a:rPr>
              <a:t>Kids Meal</a:t>
            </a:r>
            <a:endParaRPr sz="1600" b="1">
              <a:solidFill>
                <a:schemeClr val="lt1"/>
              </a:solidFill>
              <a:latin typeface="Lobster"/>
              <a:ea typeface="Lobster"/>
              <a:cs typeface="Lobster"/>
              <a:sym typeface="Lobster"/>
            </a:endParaRPr>
          </a:p>
        </p:txBody>
      </p:sp>
      <p:sp>
        <p:nvSpPr>
          <p:cNvPr id="507" name="Google Shape;507;p42"/>
          <p:cNvSpPr txBox="1"/>
          <p:nvPr/>
        </p:nvSpPr>
        <p:spPr>
          <a:xfrm>
            <a:off x="6988188" y="779738"/>
            <a:ext cx="995100" cy="35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lt1"/>
                </a:solidFill>
                <a:latin typeface="Lobster"/>
                <a:ea typeface="Lobster"/>
                <a:cs typeface="Lobster"/>
                <a:sym typeface="Lobster"/>
              </a:rPr>
              <a:t>Platter</a:t>
            </a:r>
            <a:endParaRPr sz="1600" b="1">
              <a:solidFill>
                <a:schemeClr val="lt1"/>
              </a:solidFill>
              <a:latin typeface="Lobster"/>
              <a:ea typeface="Lobster"/>
              <a:cs typeface="Lobster"/>
              <a:sym typeface="Lobster"/>
            </a:endParaRPr>
          </a:p>
        </p:txBody>
      </p:sp>
      <p:sp>
        <p:nvSpPr>
          <p:cNvPr id="508" name="Google Shape;508;p42"/>
          <p:cNvSpPr txBox="1"/>
          <p:nvPr/>
        </p:nvSpPr>
        <p:spPr>
          <a:xfrm>
            <a:off x="7261525" y="3667463"/>
            <a:ext cx="764100" cy="35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lt1"/>
                </a:solidFill>
                <a:latin typeface="Lobster"/>
                <a:ea typeface="Lobster"/>
                <a:cs typeface="Lobster"/>
                <a:sym typeface="Lobster"/>
              </a:rPr>
              <a:t>Salad</a:t>
            </a:r>
            <a:endParaRPr sz="1600" b="1">
              <a:solidFill>
                <a:schemeClr val="lt1"/>
              </a:solidFill>
              <a:latin typeface="Lobster"/>
              <a:ea typeface="Lobster"/>
              <a:cs typeface="Lobster"/>
              <a:sym typeface="Lobster"/>
            </a:endParaRPr>
          </a:p>
        </p:txBody>
      </p:sp>
      <p:sp>
        <p:nvSpPr>
          <p:cNvPr id="509" name="Google Shape;509;p42"/>
          <p:cNvSpPr txBox="1"/>
          <p:nvPr/>
        </p:nvSpPr>
        <p:spPr>
          <a:xfrm>
            <a:off x="7540400" y="1134650"/>
            <a:ext cx="1271100" cy="685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600" b="1">
                <a:solidFill>
                  <a:schemeClr val="lt1"/>
                </a:solidFill>
                <a:latin typeface="Lobster"/>
                <a:ea typeface="Lobster"/>
                <a:cs typeface="Lobster"/>
                <a:sym typeface="Lobster"/>
              </a:rPr>
              <a:t>Flatbread Wrap</a:t>
            </a:r>
            <a:endParaRPr sz="1600" b="1">
              <a:solidFill>
                <a:schemeClr val="lt1"/>
              </a:solidFill>
              <a:latin typeface="Lobster"/>
              <a:ea typeface="Lobster"/>
              <a:cs typeface="Lobster"/>
              <a:sym typeface="Lobster"/>
            </a:endParaRPr>
          </a:p>
        </p:txBody>
      </p:sp>
      <p:sp>
        <p:nvSpPr>
          <p:cNvPr id="510" name="Google Shape;510;p42"/>
          <p:cNvSpPr txBox="1"/>
          <p:nvPr/>
        </p:nvSpPr>
        <p:spPr>
          <a:xfrm>
            <a:off x="7008025" y="1500675"/>
            <a:ext cx="995100" cy="44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lt1"/>
                </a:solidFill>
                <a:latin typeface="Lobster"/>
                <a:ea typeface="Lobster"/>
                <a:cs typeface="Lobster"/>
                <a:sym typeface="Lobster"/>
              </a:rPr>
              <a:t>Side Sampler</a:t>
            </a:r>
            <a:endParaRPr sz="1600" b="1">
              <a:solidFill>
                <a:schemeClr val="lt1"/>
              </a:solidFill>
              <a:latin typeface="Lobster"/>
              <a:ea typeface="Lobster"/>
              <a:cs typeface="Lobster"/>
              <a:sym typeface="Lobster"/>
            </a:endParaRPr>
          </a:p>
        </p:txBody>
      </p:sp>
      <p:sp>
        <p:nvSpPr>
          <p:cNvPr id="511" name="Google Shape;511;p42"/>
          <p:cNvSpPr txBox="1"/>
          <p:nvPr/>
        </p:nvSpPr>
        <p:spPr>
          <a:xfrm>
            <a:off x="7983297" y="4237400"/>
            <a:ext cx="764100" cy="354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lt1"/>
                </a:solidFill>
                <a:latin typeface="Lobster"/>
                <a:ea typeface="Lobster"/>
                <a:cs typeface="Lobster"/>
                <a:sym typeface="Lobster"/>
              </a:rPr>
              <a:t>Soup</a:t>
            </a:r>
            <a:endParaRPr sz="1600" b="1">
              <a:solidFill>
                <a:schemeClr val="lt1"/>
              </a:solidFill>
              <a:latin typeface="Lobster"/>
              <a:ea typeface="Lobster"/>
              <a:cs typeface="Lobster"/>
              <a:sym typeface="Lobster"/>
            </a:endParaRPr>
          </a:p>
        </p:txBody>
      </p:sp>
      <p:pic>
        <p:nvPicPr>
          <p:cNvPr id="2" name="Google Shape;148;p26" descr="A black and orange logo&#10;&#10;AI-generated content may be incorrect.">
            <a:extLst>
              <a:ext uri="{FF2B5EF4-FFF2-40B4-BE49-F238E27FC236}">
                <a16:creationId xmlns:a16="http://schemas.microsoft.com/office/drawing/2014/main" id="{D50D3947-BEFC-E037-8EFA-44B4E16800DF}"/>
              </a:ext>
            </a:extLst>
          </p:cNvPr>
          <p:cNvPicPr preferRelativeResize="0"/>
          <p:nvPr/>
        </p:nvPicPr>
        <p:blipFill rotWithShape="1">
          <a:blip r:embed="rId5">
            <a:alphaModFix/>
          </a:blip>
          <a:srcRect l="5357" r="10411"/>
          <a:stretch/>
        </p:blipFill>
        <p:spPr>
          <a:xfrm>
            <a:off x="7905729" y="199474"/>
            <a:ext cx="862617" cy="49732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43"/>
          <p:cNvSpPr/>
          <p:nvPr/>
        </p:nvSpPr>
        <p:spPr>
          <a:xfrm>
            <a:off x="0" y="0"/>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517" name="Google Shape;517;p43"/>
          <p:cNvGrpSpPr/>
          <p:nvPr/>
        </p:nvGrpSpPr>
        <p:grpSpPr>
          <a:xfrm>
            <a:off x="55721" y="1788827"/>
            <a:ext cx="430556" cy="1565846"/>
            <a:chOff x="209669" y="2857423"/>
            <a:chExt cx="463661" cy="2087794"/>
          </a:xfrm>
        </p:grpSpPr>
        <p:sp>
          <p:nvSpPr>
            <p:cNvPr id="518" name="Google Shape;518;p43"/>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519" name="Google Shape;519;p43"/>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520" name="Google Shape;520;p43"/>
          <p:cNvSpPr/>
          <p:nvPr/>
        </p:nvSpPr>
        <p:spPr>
          <a:xfrm flipH="1">
            <a:off x="8023200" y="0"/>
            <a:ext cx="1120800"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21" name="Google Shape;521;p43"/>
          <p:cNvSpPr/>
          <p:nvPr/>
        </p:nvSpPr>
        <p:spPr>
          <a:xfrm>
            <a:off x="434646" y="473825"/>
            <a:ext cx="8333700" cy="43143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22" name="Google Shape;522;p43"/>
          <p:cNvSpPr txBox="1">
            <a:spLocks noGrp="1"/>
          </p:cNvSpPr>
          <p:nvPr>
            <p:ph type="title"/>
          </p:nvPr>
        </p:nvSpPr>
        <p:spPr>
          <a:xfrm>
            <a:off x="-951983" y="349714"/>
            <a:ext cx="6035700" cy="589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accent6"/>
              </a:buClr>
              <a:buSzPts val="2400"/>
              <a:buFont typeface="Calibri"/>
              <a:buNone/>
            </a:pPr>
            <a:r>
              <a:rPr lang="en" sz="2400" b="1" dirty="0">
                <a:solidFill>
                  <a:schemeClr val="accent6"/>
                </a:solidFill>
              </a:rPr>
              <a:t>Final Takeaways</a:t>
            </a:r>
            <a:endParaRPr dirty="0"/>
          </a:p>
        </p:txBody>
      </p:sp>
      <p:pic>
        <p:nvPicPr>
          <p:cNvPr id="523" name="Google Shape;523;p43" descr="stick.jpeg"/>
          <p:cNvPicPr preferRelativeResize="0"/>
          <p:nvPr/>
        </p:nvPicPr>
        <p:blipFill rotWithShape="1">
          <a:blip r:embed="rId3">
            <a:alphaModFix/>
          </a:blip>
          <a:srcRect r="13164"/>
          <a:stretch/>
        </p:blipFill>
        <p:spPr>
          <a:xfrm>
            <a:off x="32018" y="33290"/>
            <a:ext cx="764124" cy="440537"/>
          </a:xfrm>
          <a:prstGeom prst="rect">
            <a:avLst/>
          </a:prstGeom>
          <a:noFill/>
          <a:ln>
            <a:noFill/>
          </a:ln>
        </p:spPr>
      </p:pic>
      <p:sp>
        <p:nvSpPr>
          <p:cNvPr id="526" name="Google Shape;526;p43"/>
          <p:cNvSpPr txBox="1"/>
          <p:nvPr/>
        </p:nvSpPr>
        <p:spPr>
          <a:xfrm>
            <a:off x="1625104" y="2077638"/>
            <a:ext cx="1873500" cy="1140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0"/>
              </a:spcAft>
              <a:buNone/>
            </a:pPr>
            <a:r>
              <a:rPr lang="en" b="1" dirty="0">
                <a:solidFill>
                  <a:schemeClr val="accent6"/>
                </a:solidFill>
                <a:latin typeface="Calibri" panose="020F0502020204030204" pitchFamily="34" charset="0"/>
                <a:cs typeface="Calibri" panose="020F0502020204030204" pitchFamily="34" charset="0"/>
              </a:rPr>
              <a:t>Immediate Revenue</a:t>
            </a:r>
            <a:endParaRPr b="1" dirty="0">
              <a:solidFill>
                <a:schemeClr val="accent6"/>
              </a:solidFill>
              <a:latin typeface="Calibri" panose="020F0502020204030204" pitchFamily="34" charset="0"/>
              <a:cs typeface="Calibri" panose="020F0502020204030204" pitchFamily="34" charset="0"/>
            </a:endParaRPr>
          </a:p>
          <a:p>
            <a:pPr marL="0" lvl="0" indent="0" algn="ctr" rtl="0">
              <a:lnSpc>
                <a:spcPct val="115000"/>
              </a:lnSpc>
              <a:spcBef>
                <a:spcPts val="1200"/>
              </a:spcBef>
              <a:spcAft>
                <a:spcPts val="0"/>
              </a:spcAft>
              <a:buNone/>
            </a:pPr>
            <a:r>
              <a:rPr lang="en" sz="1000" dirty="0">
                <a:solidFill>
                  <a:schemeClr val="dk1"/>
                </a:solidFill>
                <a:latin typeface="Calibri"/>
                <a:ea typeface="Calibri"/>
                <a:cs typeface="Calibri"/>
                <a:sym typeface="Calibri"/>
              </a:rPr>
              <a:t>Weekday lunch volume from busy professionals creates steady cash flow and builds operational rhythm</a:t>
            </a:r>
            <a:endParaRPr sz="1000" dirty="0">
              <a:solidFill>
                <a:schemeClr val="dk1"/>
              </a:solidFill>
              <a:latin typeface="Calibri"/>
              <a:ea typeface="Calibri"/>
              <a:cs typeface="Calibri"/>
              <a:sym typeface="Calibri"/>
            </a:endParaRPr>
          </a:p>
          <a:p>
            <a:pPr marL="0" lvl="0" indent="0" algn="ctr" rtl="0">
              <a:lnSpc>
                <a:spcPct val="115000"/>
              </a:lnSpc>
              <a:spcBef>
                <a:spcPts val="1200"/>
              </a:spcBef>
              <a:spcAft>
                <a:spcPts val="1200"/>
              </a:spcAft>
              <a:buNone/>
            </a:pPr>
            <a:endParaRPr sz="900" dirty="0">
              <a:solidFill>
                <a:schemeClr val="dk1"/>
              </a:solidFill>
              <a:latin typeface="Calibri"/>
              <a:ea typeface="Calibri"/>
              <a:cs typeface="Calibri"/>
              <a:sym typeface="Calibri"/>
            </a:endParaRPr>
          </a:p>
        </p:txBody>
      </p:sp>
      <p:sp>
        <p:nvSpPr>
          <p:cNvPr id="527" name="Google Shape;527;p43"/>
          <p:cNvSpPr txBox="1"/>
          <p:nvPr/>
        </p:nvSpPr>
        <p:spPr>
          <a:xfrm>
            <a:off x="3637054" y="2077638"/>
            <a:ext cx="1873500" cy="1140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0"/>
              </a:spcAft>
              <a:buClr>
                <a:schemeClr val="dk1"/>
              </a:buClr>
              <a:buSzPts val="1100"/>
              <a:buFont typeface="Arial"/>
              <a:buNone/>
            </a:pPr>
            <a:r>
              <a:rPr lang="en" b="1" dirty="0">
                <a:solidFill>
                  <a:schemeClr val="accent6"/>
                </a:solidFill>
                <a:latin typeface="Calibri" panose="020F0502020204030204" pitchFamily="34" charset="0"/>
                <a:cs typeface="Calibri" panose="020F0502020204030204" pitchFamily="34" charset="0"/>
              </a:rPr>
              <a:t>Long-Term Growth</a:t>
            </a:r>
            <a:endParaRPr b="1" dirty="0">
              <a:solidFill>
                <a:schemeClr val="accent6"/>
              </a:solidFill>
              <a:latin typeface="Calibri" panose="020F0502020204030204" pitchFamily="34" charset="0"/>
              <a:cs typeface="Calibri" panose="020F0502020204030204" pitchFamily="34" charset="0"/>
            </a:endParaRPr>
          </a:p>
          <a:p>
            <a:pPr marL="0" lvl="0" indent="0" algn="ctr" rtl="0">
              <a:lnSpc>
                <a:spcPct val="115000"/>
              </a:lnSpc>
              <a:spcBef>
                <a:spcPts val="1200"/>
              </a:spcBef>
              <a:spcAft>
                <a:spcPts val="0"/>
              </a:spcAft>
              <a:buClr>
                <a:schemeClr val="dk1"/>
              </a:buClr>
              <a:buSzPts val="1100"/>
              <a:buFont typeface="Arial"/>
              <a:buNone/>
            </a:pPr>
            <a:r>
              <a:rPr lang="en" sz="1000" dirty="0">
                <a:solidFill>
                  <a:schemeClr val="dk1"/>
                </a:solidFill>
                <a:latin typeface="Calibri"/>
                <a:ea typeface="Calibri"/>
                <a:cs typeface="Calibri"/>
                <a:sym typeface="Calibri"/>
              </a:rPr>
              <a:t>Health-conscious families and local loyalists drive weekend traffic, dinner orders, and word-of-mouth marketing.</a:t>
            </a:r>
            <a:endParaRPr sz="1000" dirty="0">
              <a:solidFill>
                <a:schemeClr val="dk1"/>
              </a:solidFill>
            </a:endParaRPr>
          </a:p>
          <a:p>
            <a:pPr marL="0" lvl="0" indent="0" algn="ctr" rtl="0">
              <a:lnSpc>
                <a:spcPct val="115000"/>
              </a:lnSpc>
              <a:spcBef>
                <a:spcPts val="1200"/>
              </a:spcBef>
              <a:spcAft>
                <a:spcPts val="0"/>
              </a:spcAft>
              <a:buNone/>
            </a:pPr>
            <a:endParaRPr sz="1000" b="1" dirty="0">
              <a:solidFill>
                <a:schemeClr val="dk1"/>
              </a:solidFill>
            </a:endParaRPr>
          </a:p>
          <a:p>
            <a:pPr marL="0" lvl="0" indent="0" algn="ctr" rtl="0">
              <a:lnSpc>
                <a:spcPct val="115000"/>
              </a:lnSpc>
              <a:spcBef>
                <a:spcPts val="1200"/>
              </a:spcBef>
              <a:spcAft>
                <a:spcPts val="0"/>
              </a:spcAft>
              <a:buNone/>
            </a:pPr>
            <a:endParaRPr sz="900" dirty="0">
              <a:solidFill>
                <a:schemeClr val="dk1"/>
              </a:solidFill>
              <a:latin typeface="Calibri"/>
              <a:ea typeface="Calibri"/>
              <a:cs typeface="Calibri"/>
              <a:sym typeface="Calibri"/>
            </a:endParaRPr>
          </a:p>
          <a:p>
            <a:pPr marL="0" lvl="0" indent="0" algn="ctr" rtl="0">
              <a:lnSpc>
                <a:spcPct val="115000"/>
              </a:lnSpc>
              <a:spcBef>
                <a:spcPts val="1200"/>
              </a:spcBef>
              <a:spcAft>
                <a:spcPts val="1200"/>
              </a:spcAft>
              <a:buNone/>
            </a:pPr>
            <a:endParaRPr sz="900" dirty="0">
              <a:solidFill>
                <a:schemeClr val="dk1"/>
              </a:solidFill>
              <a:latin typeface="Calibri"/>
              <a:ea typeface="Calibri"/>
              <a:cs typeface="Calibri"/>
              <a:sym typeface="Calibri"/>
            </a:endParaRPr>
          </a:p>
        </p:txBody>
      </p:sp>
      <p:sp>
        <p:nvSpPr>
          <p:cNvPr id="528" name="Google Shape;528;p43"/>
          <p:cNvSpPr txBox="1"/>
          <p:nvPr/>
        </p:nvSpPr>
        <p:spPr>
          <a:xfrm>
            <a:off x="5611504" y="2077638"/>
            <a:ext cx="1873500" cy="1140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0"/>
              </a:spcAft>
              <a:buNone/>
            </a:pPr>
            <a:r>
              <a:rPr lang="en" b="1" dirty="0">
                <a:solidFill>
                  <a:schemeClr val="accent6"/>
                </a:solidFill>
                <a:latin typeface="Calibri" panose="020F0502020204030204" pitchFamily="34" charset="0"/>
                <a:cs typeface="Calibri" panose="020F0502020204030204" pitchFamily="34" charset="0"/>
              </a:rPr>
              <a:t>Sustainable Success</a:t>
            </a:r>
            <a:endParaRPr b="1" dirty="0">
              <a:solidFill>
                <a:schemeClr val="accent6"/>
              </a:solidFill>
              <a:latin typeface="Calibri" panose="020F0502020204030204" pitchFamily="34" charset="0"/>
              <a:cs typeface="Calibri" panose="020F0502020204030204" pitchFamily="34" charset="0"/>
            </a:endParaRPr>
          </a:p>
          <a:p>
            <a:pPr marL="0" lvl="0" indent="0" algn="ctr" rtl="0">
              <a:lnSpc>
                <a:spcPct val="115000"/>
              </a:lnSpc>
              <a:spcBef>
                <a:spcPts val="1200"/>
              </a:spcBef>
              <a:spcAft>
                <a:spcPts val="0"/>
              </a:spcAft>
              <a:buNone/>
            </a:pPr>
            <a:r>
              <a:rPr lang="en" sz="1000" dirty="0">
                <a:solidFill>
                  <a:schemeClr val="dk1"/>
                </a:solidFill>
                <a:latin typeface="Calibri"/>
                <a:ea typeface="Calibri"/>
                <a:cs typeface="Calibri"/>
                <a:sym typeface="Calibri"/>
              </a:rPr>
              <a:t>Together, these segments create a balanced business model with strong revenue and community roots.</a:t>
            </a:r>
            <a:endParaRPr sz="1000" dirty="0">
              <a:solidFill>
                <a:schemeClr val="dk1"/>
              </a:solidFill>
            </a:endParaRPr>
          </a:p>
          <a:p>
            <a:pPr marL="0" lvl="0" indent="0" algn="ctr" rtl="0">
              <a:lnSpc>
                <a:spcPct val="115000"/>
              </a:lnSpc>
              <a:spcBef>
                <a:spcPts val="1200"/>
              </a:spcBef>
              <a:spcAft>
                <a:spcPts val="1200"/>
              </a:spcAft>
              <a:buNone/>
            </a:pPr>
            <a:endParaRPr sz="1000" b="1" dirty="0">
              <a:solidFill>
                <a:schemeClr val="dk1"/>
              </a:solidFill>
            </a:endParaRPr>
          </a:p>
        </p:txBody>
      </p:sp>
      <p:sp>
        <p:nvSpPr>
          <p:cNvPr id="530" name="Google Shape;530;p43"/>
          <p:cNvSpPr/>
          <p:nvPr/>
        </p:nvSpPr>
        <p:spPr>
          <a:xfrm>
            <a:off x="5718929" y="1474413"/>
            <a:ext cx="1815000" cy="343500"/>
          </a:xfrm>
          <a:prstGeom prst="chevron">
            <a:avLst>
              <a:gd name="adj" fmla="val 50000"/>
            </a:avLst>
          </a:prstGeom>
          <a:solidFill>
            <a:srgbClr val="F1E8DE"/>
          </a:solidFill>
          <a:ln>
            <a:noFill/>
          </a:ln>
          <a:effectLst>
            <a:outerShdw blurRad="139700" dist="127000" dir="5400000" algn="t" rotWithShape="0">
              <a:srgbClr val="000000">
                <a:alpha val="149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B8966F"/>
              </a:solidFill>
              <a:highlight>
                <a:srgbClr val="B8966F"/>
              </a:highlight>
              <a:latin typeface="Calibri"/>
              <a:ea typeface="Calibri"/>
              <a:cs typeface="Calibri"/>
              <a:sym typeface="Calibri"/>
            </a:endParaRPr>
          </a:p>
        </p:txBody>
      </p:sp>
      <p:sp>
        <p:nvSpPr>
          <p:cNvPr id="531" name="Google Shape;531;p43"/>
          <p:cNvSpPr/>
          <p:nvPr/>
        </p:nvSpPr>
        <p:spPr>
          <a:xfrm>
            <a:off x="3727267" y="1474413"/>
            <a:ext cx="1815000" cy="343500"/>
          </a:xfrm>
          <a:prstGeom prst="chevron">
            <a:avLst>
              <a:gd name="adj" fmla="val 50000"/>
            </a:avLst>
          </a:prstGeom>
          <a:solidFill>
            <a:srgbClr val="F1E8DE"/>
          </a:solidFill>
          <a:ln>
            <a:noFill/>
          </a:ln>
          <a:effectLst>
            <a:outerShdw blurRad="139700" dist="127000" dir="5400000" algn="t" rotWithShape="0">
              <a:srgbClr val="000000">
                <a:alpha val="149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B8966F"/>
              </a:solidFill>
              <a:highlight>
                <a:srgbClr val="B8966F"/>
              </a:highlight>
              <a:latin typeface="Calibri"/>
              <a:ea typeface="Calibri"/>
              <a:cs typeface="Calibri"/>
              <a:sym typeface="Calibri"/>
            </a:endParaRPr>
          </a:p>
        </p:txBody>
      </p:sp>
      <p:sp>
        <p:nvSpPr>
          <p:cNvPr id="533" name="Google Shape;533;p43"/>
          <p:cNvSpPr txBox="1"/>
          <p:nvPr/>
        </p:nvSpPr>
        <p:spPr>
          <a:xfrm>
            <a:off x="1520489" y="3692363"/>
            <a:ext cx="6559953" cy="739713"/>
          </a:xfrm>
          <a:prstGeom prst="rect">
            <a:avLst/>
          </a:prstGeom>
          <a:solidFill>
            <a:srgbClr val="B8956F"/>
          </a:solid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0"/>
              </a:spcAft>
              <a:buClr>
                <a:schemeClr val="dk1"/>
              </a:buClr>
              <a:buSzPts val="1100"/>
              <a:buFont typeface="Arial"/>
              <a:buNone/>
            </a:pPr>
            <a:r>
              <a:rPr lang="en" sz="900" dirty="0">
                <a:solidFill>
                  <a:schemeClr val="lt1"/>
                </a:solidFill>
              </a:rPr>
              <a:t>Location C is a </a:t>
            </a:r>
            <a:r>
              <a:rPr lang="en" sz="900" b="1" dirty="0">
                <a:solidFill>
                  <a:schemeClr val="lt1"/>
                </a:solidFill>
              </a:rPr>
              <a:t>high-confidence choice</a:t>
            </a:r>
            <a:r>
              <a:rPr lang="en" sz="900" dirty="0">
                <a:solidFill>
                  <a:schemeClr val="lt1"/>
                </a:solidFill>
              </a:rPr>
              <a:t> for both immediate revenue generation and strong long-term growth. The combination of these two customer segments creates a sustainable competitive advantage.</a:t>
            </a:r>
            <a:endParaRPr sz="900" dirty="0">
              <a:solidFill>
                <a:schemeClr val="lt1"/>
              </a:solidFill>
            </a:endParaRPr>
          </a:p>
          <a:p>
            <a:pPr marL="0" lvl="0" indent="0" algn="ctr" rtl="0">
              <a:spcBef>
                <a:spcPts val="1200"/>
              </a:spcBef>
              <a:spcAft>
                <a:spcPts val="0"/>
              </a:spcAft>
              <a:buNone/>
            </a:pPr>
            <a:endParaRPr sz="1200" dirty="0">
              <a:solidFill>
                <a:schemeClr val="lt1"/>
              </a:solidFill>
              <a:latin typeface="Calibri"/>
              <a:ea typeface="Calibri"/>
              <a:cs typeface="Calibri"/>
              <a:sym typeface="Calibri"/>
            </a:endParaRPr>
          </a:p>
        </p:txBody>
      </p:sp>
      <p:sp>
        <p:nvSpPr>
          <p:cNvPr id="535" name="Google Shape;535;p43"/>
          <p:cNvSpPr/>
          <p:nvPr/>
        </p:nvSpPr>
        <p:spPr>
          <a:xfrm>
            <a:off x="4558079" y="1554963"/>
            <a:ext cx="101400" cy="182400"/>
          </a:xfrm>
          <a:prstGeom prst="upArrow">
            <a:avLst>
              <a:gd name="adj1" fmla="val 50000"/>
              <a:gd name="adj2" fmla="val 50000"/>
            </a:avLst>
          </a:prstGeom>
          <a:solidFill>
            <a:schemeClr val="accent6"/>
          </a:solidFill>
          <a:ln>
            <a:noFill/>
          </a:ln>
          <a:effectLst>
            <a:outerShdw blurRad="139700" dist="127000" dir="5400000" algn="t" rotWithShape="0">
              <a:srgbClr val="000000">
                <a:alpha val="149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6"/>
              </a:solidFill>
              <a:latin typeface="Calibri"/>
              <a:ea typeface="Calibri"/>
              <a:cs typeface="Calibri"/>
              <a:sym typeface="Calibri"/>
            </a:endParaRPr>
          </a:p>
        </p:txBody>
      </p:sp>
      <p:sp>
        <p:nvSpPr>
          <p:cNvPr id="536" name="Google Shape;536;p43"/>
          <p:cNvSpPr/>
          <p:nvPr/>
        </p:nvSpPr>
        <p:spPr>
          <a:xfrm>
            <a:off x="6518129" y="1554963"/>
            <a:ext cx="178200" cy="182400"/>
          </a:xfrm>
          <a:prstGeom prst="star6">
            <a:avLst>
              <a:gd name="adj" fmla="val 28868"/>
              <a:gd name="hf" fmla="val 115470"/>
            </a:avLst>
          </a:prstGeom>
          <a:solidFill>
            <a:schemeClr val="accent6"/>
          </a:solidFill>
          <a:ln>
            <a:noFill/>
          </a:ln>
          <a:effectLst>
            <a:outerShdw blurRad="139700" dist="127000" dir="5400000" algn="t" rotWithShape="0">
              <a:srgbClr val="000000">
                <a:alpha val="149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6"/>
              </a:solidFill>
              <a:latin typeface="Calibri"/>
              <a:ea typeface="Calibri"/>
              <a:cs typeface="Calibri"/>
              <a:sym typeface="Calibri"/>
            </a:endParaRPr>
          </a:p>
        </p:txBody>
      </p:sp>
      <p:sp>
        <p:nvSpPr>
          <p:cNvPr id="2" name="Google Shape;531;p43">
            <a:extLst>
              <a:ext uri="{FF2B5EF4-FFF2-40B4-BE49-F238E27FC236}">
                <a16:creationId xmlns:a16="http://schemas.microsoft.com/office/drawing/2014/main" id="{FF75D2E7-D1A7-AFA6-2264-5E6E411A7594}"/>
              </a:ext>
            </a:extLst>
          </p:cNvPr>
          <p:cNvSpPr/>
          <p:nvPr/>
        </p:nvSpPr>
        <p:spPr>
          <a:xfrm>
            <a:off x="1766129" y="1470426"/>
            <a:ext cx="1815000" cy="343500"/>
          </a:xfrm>
          <a:prstGeom prst="chevron">
            <a:avLst>
              <a:gd name="adj" fmla="val 50000"/>
            </a:avLst>
          </a:prstGeom>
          <a:solidFill>
            <a:srgbClr val="F1E8DE"/>
          </a:solidFill>
          <a:ln>
            <a:noFill/>
          </a:ln>
          <a:effectLst>
            <a:outerShdw blurRad="139700" dist="127000" dir="5400000" algn="t" rotWithShape="0">
              <a:srgbClr val="000000">
                <a:alpha val="149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B8966F"/>
              </a:solidFill>
              <a:highlight>
                <a:srgbClr val="B8966F"/>
              </a:highlight>
              <a:latin typeface="Calibri"/>
              <a:ea typeface="Calibri"/>
              <a:cs typeface="Calibri"/>
              <a:sym typeface="Calibri"/>
            </a:endParaRPr>
          </a:p>
        </p:txBody>
      </p:sp>
      <p:sp>
        <p:nvSpPr>
          <p:cNvPr id="3" name="Google Shape;534;p43">
            <a:extLst>
              <a:ext uri="{FF2B5EF4-FFF2-40B4-BE49-F238E27FC236}">
                <a16:creationId xmlns:a16="http://schemas.microsoft.com/office/drawing/2014/main" id="{22D19607-6FBB-FE68-3926-D7A0EE9D8374}"/>
              </a:ext>
            </a:extLst>
          </p:cNvPr>
          <p:cNvSpPr txBox="1"/>
          <p:nvPr/>
        </p:nvSpPr>
        <p:spPr>
          <a:xfrm>
            <a:off x="2474279" y="1432763"/>
            <a:ext cx="398700" cy="18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chemeClr val="accent6"/>
                </a:solidFill>
                <a:latin typeface="Calibri"/>
                <a:ea typeface="Calibri"/>
                <a:cs typeface="Calibri"/>
                <a:sym typeface="Calibri"/>
              </a:rPr>
              <a:t>$</a:t>
            </a:r>
            <a:endParaRPr sz="1500" b="1" dirty="0">
              <a:solidFill>
                <a:schemeClr val="accent6"/>
              </a:solidFill>
              <a:latin typeface="Calibri"/>
              <a:ea typeface="Calibri"/>
              <a:cs typeface="Calibri"/>
              <a:sym typeface="Calibri"/>
            </a:endParaRPr>
          </a:p>
        </p:txBody>
      </p:sp>
      <p:pic>
        <p:nvPicPr>
          <p:cNvPr id="4" name="Google Shape;148;p26" descr="A black and orange logo&#10;&#10;AI-generated content may be incorrect.">
            <a:extLst>
              <a:ext uri="{FF2B5EF4-FFF2-40B4-BE49-F238E27FC236}">
                <a16:creationId xmlns:a16="http://schemas.microsoft.com/office/drawing/2014/main" id="{4FF619C5-236F-421C-67F0-227CAF77D388}"/>
              </a:ext>
            </a:extLst>
          </p:cNvPr>
          <p:cNvPicPr preferRelativeResize="0"/>
          <p:nvPr/>
        </p:nvPicPr>
        <p:blipFill rotWithShape="1">
          <a:blip r:embed="rId4">
            <a:alphaModFix/>
          </a:blip>
          <a:srcRect l="5357" r="10411"/>
          <a:stretch/>
        </p:blipFill>
        <p:spPr>
          <a:xfrm>
            <a:off x="7905729" y="199474"/>
            <a:ext cx="862617" cy="49732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44"/>
          <p:cNvSpPr/>
          <p:nvPr/>
        </p:nvSpPr>
        <p:spPr>
          <a:xfrm>
            <a:off x="0" y="0"/>
            <a:ext cx="9144000" cy="5142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542" name="Google Shape;542;p44"/>
          <p:cNvGrpSpPr/>
          <p:nvPr/>
        </p:nvGrpSpPr>
        <p:grpSpPr>
          <a:xfrm>
            <a:off x="55721" y="1788827"/>
            <a:ext cx="430556" cy="1565846"/>
            <a:chOff x="209669" y="2857423"/>
            <a:chExt cx="463661" cy="2087794"/>
          </a:xfrm>
        </p:grpSpPr>
        <p:sp>
          <p:nvSpPr>
            <p:cNvPr id="543" name="Google Shape;543;p44"/>
            <p:cNvSpPr/>
            <p:nvPr/>
          </p:nvSpPr>
          <p:spPr>
            <a:xfrm rot="10800000">
              <a:off x="424030" y="2857517"/>
              <a:ext cx="249300" cy="2087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cxnSp>
          <p:nvCxnSpPr>
            <p:cNvPr id="544" name="Google Shape;544;p44"/>
            <p:cNvCxnSpPr/>
            <p:nvPr/>
          </p:nvCxnSpPr>
          <p:spPr>
            <a:xfrm>
              <a:off x="209669" y="2857423"/>
              <a:ext cx="0" cy="2087700"/>
            </a:xfrm>
            <a:prstGeom prst="straightConnector1">
              <a:avLst/>
            </a:prstGeom>
            <a:noFill/>
            <a:ln w="177800" cap="flat" cmpd="sng">
              <a:solidFill>
                <a:schemeClr val="accent4"/>
              </a:solidFill>
              <a:prstDash val="solid"/>
              <a:round/>
              <a:headEnd type="none" w="sm" len="sm"/>
              <a:tailEnd type="none" w="sm" len="sm"/>
            </a:ln>
          </p:spPr>
        </p:cxnSp>
      </p:grpSp>
      <p:sp>
        <p:nvSpPr>
          <p:cNvPr id="545" name="Google Shape;545;p44"/>
          <p:cNvSpPr/>
          <p:nvPr/>
        </p:nvSpPr>
        <p:spPr>
          <a:xfrm flipH="1">
            <a:off x="8023200" y="0"/>
            <a:ext cx="1120800" cy="51435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46" name="Google Shape;546;p44"/>
          <p:cNvSpPr/>
          <p:nvPr/>
        </p:nvSpPr>
        <p:spPr>
          <a:xfrm>
            <a:off x="486271" y="473825"/>
            <a:ext cx="8333700" cy="4314300"/>
          </a:xfrm>
          <a:prstGeom prst="rect">
            <a:avLst/>
          </a:prstGeom>
          <a:solidFill>
            <a:schemeClr val="lt1"/>
          </a:solidFill>
          <a:ln>
            <a:noFill/>
          </a:ln>
          <a:effectLst>
            <a:outerShdw blurRad="139700" dist="127000" dir="5400000" algn="t" rotWithShape="0">
              <a:srgbClr val="000000">
                <a:alpha val="1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47" name="Google Shape;547;p44"/>
          <p:cNvSpPr txBox="1">
            <a:spLocks noGrp="1"/>
          </p:cNvSpPr>
          <p:nvPr>
            <p:ph type="title"/>
          </p:nvPr>
        </p:nvSpPr>
        <p:spPr>
          <a:xfrm>
            <a:off x="55721" y="306753"/>
            <a:ext cx="3227100" cy="589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accent6"/>
              </a:buClr>
              <a:buSzPts val="2400"/>
              <a:buFont typeface="Calibri"/>
              <a:buNone/>
            </a:pPr>
            <a:r>
              <a:rPr lang="en" sz="2400" b="1" dirty="0">
                <a:solidFill>
                  <a:schemeClr val="accent6"/>
                </a:solidFill>
              </a:rPr>
              <a:t>Tools Used</a:t>
            </a:r>
            <a:endParaRPr dirty="0"/>
          </a:p>
        </p:txBody>
      </p:sp>
      <p:pic>
        <p:nvPicPr>
          <p:cNvPr id="548" name="Google Shape;548;p44" descr="stick.jpeg"/>
          <p:cNvPicPr preferRelativeResize="0"/>
          <p:nvPr/>
        </p:nvPicPr>
        <p:blipFill rotWithShape="1">
          <a:blip r:embed="rId3">
            <a:alphaModFix/>
          </a:blip>
          <a:srcRect r="13164"/>
          <a:stretch/>
        </p:blipFill>
        <p:spPr>
          <a:xfrm>
            <a:off x="32018" y="33290"/>
            <a:ext cx="764124" cy="440537"/>
          </a:xfrm>
          <a:prstGeom prst="rect">
            <a:avLst/>
          </a:prstGeom>
          <a:noFill/>
          <a:ln>
            <a:noFill/>
          </a:ln>
        </p:spPr>
      </p:pic>
      <p:sp>
        <p:nvSpPr>
          <p:cNvPr id="551" name="Google Shape;551;p44"/>
          <p:cNvSpPr txBox="1"/>
          <p:nvPr/>
        </p:nvSpPr>
        <p:spPr>
          <a:xfrm>
            <a:off x="857532" y="994043"/>
            <a:ext cx="3401400" cy="3675632"/>
          </a:xfrm>
          <a:prstGeom prst="rect">
            <a:avLst/>
          </a:prstGeom>
          <a:noFill/>
          <a:ln>
            <a:noFill/>
          </a:ln>
        </p:spPr>
        <p:txBody>
          <a:bodyPr spcFirstLastPara="1" wrap="square" lIns="91425" tIns="91425" rIns="91425" bIns="91425" anchor="t" anchorCtr="0">
            <a:noAutofit/>
          </a:bodyPr>
          <a:lstStyle/>
          <a:p>
            <a:pPr marL="152400" lvl="0" algn="l" rtl="0">
              <a:lnSpc>
                <a:spcPct val="115000"/>
              </a:lnSpc>
              <a:spcBef>
                <a:spcPts val="1200"/>
              </a:spcBef>
              <a:spcAft>
                <a:spcPts val="0"/>
              </a:spcAft>
              <a:buClr>
                <a:schemeClr val="dk1"/>
              </a:buClr>
              <a:buSzPts val="1200"/>
            </a:pPr>
            <a:r>
              <a:rPr lang="en" sz="1200" b="1" dirty="0">
                <a:solidFill>
                  <a:schemeClr val="accent6"/>
                </a:solidFill>
                <a:latin typeface="Calibri"/>
                <a:ea typeface="Calibri"/>
                <a:cs typeface="Calibri"/>
                <a:sym typeface="Calibri"/>
              </a:rPr>
              <a:t>R (Data Cleaning &amp; Clustering analysis)</a:t>
            </a:r>
            <a:endParaRPr sz="1200" b="1" dirty="0">
              <a:solidFill>
                <a:schemeClr val="accent6"/>
              </a:solidFill>
              <a:latin typeface="Calibri"/>
              <a:ea typeface="Calibri"/>
              <a:cs typeface="Calibri"/>
              <a:sym typeface="Calibri"/>
            </a:endParaRPr>
          </a:p>
          <a:p>
            <a:pPr marL="152400" lvl="0" algn="l" rtl="0">
              <a:lnSpc>
                <a:spcPct val="115000"/>
              </a:lnSpc>
              <a:spcBef>
                <a:spcPts val="0"/>
              </a:spcBef>
              <a:spcAft>
                <a:spcPts val="0"/>
              </a:spcAft>
              <a:buClr>
                <a:schemeClr val="dk1"/>
              </a:buClr>
              <a:buSzPts val="1200"/>
            </a:pPr>
            <a:endParaRPr lang="en" sz="1200" dirty="0">
              <a:solidFill>
                <a:schemeClr val="dk1"/>
              </a:solidFill>
              <a:latin typeface="Calibri"/>
              <a:ea typeface="Calibri"/>
              <a:cs typeface="Calibri"/>
              <a:sym typeface="Calibri"/>
            </a:endParaRPr>
          </a:p>
          <a:p>
            <a:pPr marL="152400" lvl="0" algn="l" rtl="0">
              <a:lnSpc>
                <a:spcPct val="115000"/>
              </a:lnSpc>
              <a:spcBef>
                <a:spcPts val="0"/>
              </a:spcBef>
              <a:spcAft>
                <a:spcPts val="0"/>
              </a:spcAft>
              <a:buClr>
                <a:schemeClr val="dk1"/>
              </a:buClr>
              <a:buSzPts val="1200"/>
            </a:pPr>
            <a:endParaRPr lang="en" sz="1200" dirty="0">
              <a:solidFill>
                <a:schemeClr val="dk1"/>
              </a:solidFill>
              <a:latin typeface="Calibri"/>
              <a:ea typeface="Calibri"/>
              <a:cs typeface="Calibri"/>
              <a:sym typeface="Calibri"/>
            </a:endParaRPr>
          </a:p>
          <a:p>
            <a:pPr marL="152400" lvl="0" algn="l" rtl="0">
              <a:lnSpc>
                <a:spcPct val="115000"/>
              </a:lnSpc>
              <a:spcBef>
                <a:spcPts val="0"/>
              </a:spcBef>
              <a:spcAft>
                <a:spcPts val="0"/>
              </a:spcAft>
              <a:buClr>
                <a:schemeClr val="dk1"/>
              </a:buClr>
              <a:buSzPts val="1200"/>
            </a:pPr>
            <a:endParaRPr lang="en" sz="1200" dirty="0">
              <a:solidFill>
                <a:schemeClr val="dk1"/>
              </a:solidFill>
              <a:latin typeface="Calibri"/>
              <a:ea typeface="Calibri"/>
              <a:cs typeface="Calibri"/>
              <a:sym typeface="Calibri"/>
            </a:endParaRPr>
          </a:p>
          <a:p>
            <a:pPr marL="152400" lvl="0" algn="l" rtl="0">
              <a:lnSpc>
                <a:spcPct val="115000"/>
              </a:lnSpc>
              <a:spcBef>
                <a:spcPts val="0"/>
              </a:spcBef>
              <a:spcAft>
                <a:spcPts val="0"/>
              </a:spcAft>
              <a:buClr>
                <a:schemeClr val="dk1"/>
              </a:buClr>
              <a:buSzPts val="1200"/>
            </a:pPr>
            <a:endParaRPr lang="en" sz="1200" dirty="0">
              <a:solidFill>
                <a:schemeClr val="dk1"/>
              </a:solidFill>
              <a:latin typeface="Calibri"/>
              <a:ea typeface="Calibri"/>
              <a:cs typeface="Calibri"/>
              <a:sym typeface="Calibri"/>
            </a:endParaRPr>
          </a:p>
          <a:p>
            <a:pPr marL="152400" lvl="0" algn="l" rtl="0">
              <a:lnSpc>
                <a:spcPct val="115000"/>
              </a:lnSpc>
              <a:spcBef>
                <a:spcPts val="0"/>
              </a:spcBef>
              <a:spcAft>
                <a:spcPts val="0"/>
              </a:spcAft>
              <a:buClr>
                <a:schemeClr val="dk1"/>
              </a:buClr>
              <a:buSzPts val="1200"/>
            </a:pPr>
            <a:r>
              <a:rPr lang="en" sz="1200" b="1" dirty="0">
                <a:solidFill>
                  <a:schemeClr val="accent6"/>
                </a:solidFill>
                <a:latin typeface="Calibri"/>
                <a:ea typeface="Calibri"/>
                <a:cs typeface="Calibri"/>
                <a:sym typeface="Calibri"/>
              </a:rPr>
              <a:t>Tableau (Visualizations)</a:t>
            </a:r>
          </a:p>
          <a:p>
            <a:pPr marL="152400" lvl="0" algn="l" rtl="0">
              <a:lnSpc>
                <a:spcPct val="115000"/>
              </a:lnSpc>
              <a:spcBef>
                <a:spcPts val="0"/>
              </a:spcBef>
              <a:spcAft>
                <a:spcPts val="0"/>
              </a:spcAft>
              <a:buClr>
                <a:schemeClr val="dk1"/>
              </a:buClr>
              <a:buSzPts val="1200"/>
            </a:pPr>
            <a:endParaRPr lang="en" sz="1200" b="1" dirty="0">
              <a:solidFill>
                <a:schemeClr val="accent6"/>
              </a:solidFill>
              <a:latin typeface="Calibri"/>
              <a:ea typeface="Calibri"/>
              <a:cs typeface="Calibri"/>
              <a:sym typeface="Calibri"/>
            </a:endParaRPr>
          </a:p>
          <a:p>
            <a:pPr marL="152400" lvl="0" algn="l" rtl="0">
              <a:lnSpc>
                <a:spcPct val="115000"/>
              </a:lnSpc>
              <a:spcBef>
                <a:spcPts val="0"/>
              </a:spcBef>
              <a:spcAft>
                <a:spcPts val="0"/>
              </a:spcAft>
              <a:buClr>
                <a:schemeClr val="dk1"/>
              </a:buClr>
              <a:buSzPts val="1200"/>
            </a:pPr>
            <a:endParaRPr lang="en" sz="1200" b="1" dirty="0">
              <a:solidFill>
                <a:schemeClr val="accent6"/>
              </a:solidFill>
              <a:latin typeface="Calibri"/>
              <a:ea typeface="Calibri"/>
              <a:cs typeface="Calibri"/>
              <a:sym typeface="Calibri"/>
            </a:endParaRPr>
          </a:p>
          <a:p>
            <a:pPr marL="152400" lvl="0" algn="l" rtl="0">
              <a:lnSpc>
                <a:spcPct val="115000"/>
              </a:lnSpc>
              <a:spcBef>
                <a:spcPts val="0"/>
              </a:spcBef>
              <a:spcAft>
                <a:spcPts val="0"/>
              </a:spcAft>
              <a:buClr>
                <a:schemeClr val="dk1"/>
              </a:buClr>
              <a:buSzPts val="1200"/>
            </a:pPr>
            <a:endParaRPr lang="en" sz="1200" b="1" dirty="0">
              <a:solidFill>
                <a:schemeClr val="accent6"/>
              </a:solidFill>
              <a:latin typeface="Calibri"/>
              <a:ea typeface="Calibri"/>
              <a:cs typeface="Calibri"/>
              <a:sym typeface="Calibri"/>
            </a:endParaRPr>
          </a:p>
          <a:p>
            <a:pPr marL="152400" lvl="0" algn="l" rtl="0">
              <a:lnSpc>
                <a:spcPct val="115000"/>
              </a:lnSpc>
              <a:spcBef>
                <a:spcPts val="0"/>
              </a:spcBef>
              <a:spcAft>
                <a:spcPts val="0"/>
              </a:spcAft>
              <a:buClr>
                <a:schemeClr val="dk1"/>
              </a:buClr>
              <a:buSzPts val="1200"/>
            </a:pPr>
            <a:endParaRPr lang="en" sz="1200" b="1" dirty="0">
              <a:solidFill>
                <a:schemeClr val="accent6"/>
              </a:solidFill>
              <a:latin typeface="Calibri"/>
              <a:ea typeface="Calibri"/>
              <a:cs typeface="Calibri"/>
              <a:sym typeface="Calibri"/>
            </a:endParaRPr>
          </a:p>
          <a:p>
            <a:pPr marL="152400">
              <a:lnSpc>
                <a:spcPct val="115000"/>
              </a:lnSpc>
              <a:buClr>
                <a:schemeClr val="dk1"/>
              </a:buClr>
              <a:buSzPts val="1200"/>
            </a:pPr>
            <a:r>
              <a:rPr lang="en-US" sz="1200" b="1" dirty="0">
                <a:solidFill>
                  <a:schemeClr val="accent6"/>
                </a:solidFill>
                <a:latin typeface="Calibri"/>
                <a:ea typeface="Calibri"/>
                <a:cs typeface="Calibri"/>
                <a:sym typeface="Calibri"/>
              </a:rPr>
              <a:t>ChatGPT (Grammar Review)</a:t>
            </a:r>
          </a:p>
          <a:p>
            <a:pPr marL="152400" lvl="0" algn="l" rtl="0">
              <a:lnSpc>
                <a:spcPct val="115000"/>
              </a:lnSpc>
              <a:spcBef>
                <a:spcPts val="0"/>
              </a:spcBef>
              <a:spcAft>
                <a:spcPts val="0"/>
              </a:spcAft>
              <a:buClr>
                <a:schemeClr val="dk1"/>
              </a:buClr>
              <a:buSzPts val="1200"/>
            </a:pPr>
            <a:endParaRPr sz="1200" dirty="0">
              <a:solidFill>
                <a:schemeClr val="dk1"/>
              </a:solidFill>
              <a:latin typeface="Calibri"/>
              <a:ea typeface="Calibri"/>
              <a:cs typeface="Calibri"/>
              <a:sym typeface="Calibri"/>
            </a:endParaRPr>
          </a:p>
          <a:p>
            <a:pPr marL="457200" lvl="0" indent="0" algn="l" rtl="0">
              <a:lnSpc>
                <a:spcPct val="115000"/>
              </a:lnSpc>
              <a:spcBef>
                <a:spcPts val="1200"/>
              </a:spcBef>
              <a:spcAft>
                <a:spcPts val="0"/>
              </a:spcAft>
              <a:buNone/>
            </a:pPr>
            <a:endParaRPr sz="1200" dirty="0">
              <a:solidFill>
                <a:schemeClr val="dk1"/>
              </a:solidFill>
              <a:latin typeface="Calibri"/>
              <a:ea typeface="Calibri"/>
              <a:cs typeface="Calibri"/>
              <a:sym typeface="Calibri"/>
            </a:endParaRPr>
          </a:p>
          <a:p>
            <a:pPr marL="0" lvl="0" indent="0" algn="l" rtl="0">
              <a:spcBef>
                <a:spcPts val="1200"/>
              </a:spcBef>
              <a:spcAft>
                <a:spcPts val="0"/>
              </a:spcAft>
              <a:buNone/>
            </a:pPr>
            <a:endParaRPr lang="en-US" b="1" i="1" dirty="0">
              <a:solidFill>
                <a:schemeClr val="dk1"/>
              </a:solidFill>
              <a:latin typeface="Calibri"/>
              <a:ea typeface="Calibri"/>
              <a:cs typeface="Calibri"/>
              <a:sym typeface="Calibri"/>
            </a:endParaRPr>
          </a:p>
          <a:p>
            <a:pPr marL="0" lvl="0" indent="0" algn="l" rtl="0">
              <a:spcBef>
                <a:spcPts val="1200"/>
              </a:spcBef>
              <a:spcAft>
                <a:spcPts val="0"/>
              </a:spcAft>
              <a:buNone/>
            </a:pPr>
            <a:endParaRPr b="1" i="1" dirty="0">
              <a:solidFill>
                <a:schemeClr val="dk1"/>
              </a:solidFill>
              <a:latin typeface="Calibri"/>
              <a:ea typeface="Calibri"/>
              <a:cs typeface="Calibri"/>
              <a:sym typeface="Calibri"/>
            </a:endParaRPr>
          </a:p>
          <a:p>
            <a:pPr marL="0" lvl="0" indent="0" algn="l" rtl="0">
              <a:spcBef>
                <a:spcPts val="0"/>
              </a:spcBef>
              <a:spcAft>
                <a:spcPts val="0"/>
              </a:spcAft>
              <a:buNone/>
            </a:pPr>
            <a:endParaRPr sz="1800" b="1" dirty="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04CF15A1-58E4-7DE1-1433-58E014A44BDD}"/>
              </a:ext>
            </a:extLst>
          </p:cNvPr>
          <p:cNvPicPr>
            <a:picLocks noChangeAspect="1"/>
          </p:cNvPicPr>
          <p:nvPr/>
        </p:nvPicPr>
        <p:blipFill>
          <a:blip r:embed="rId4"/>
          <a:stretch>
            <a:fillRect/>
          </a:stretch>
        </p:blipFill>
        <p:spPr>
          <a:xfrm>
            <a:off x="4395460" y="481692"/>
            <a:ext cx="4415045" cy="4314300"/>
          </a:xfrm>
          <a:prstGeom prst="rect">
            <a:avLst/>
          </a:prstGeom>
        </p:spPr>
      </p:pic>
      <p:pic>
        <p:nvPicPr>
          <p:cNvPr id="3" name="Google Shape;148;p26" descr="A black and orange logo&#10;&#10;AI-generated content may be incorrect.">
            <a:extLst>
              <a:ext uri="{FF2B5EF4-FFF2-40B4-BE49-F238E27FC236}">
                <a16:creationId xmlns:a16="http://schemas.microsoft.com/office/drawing/2014/main" id="{1A8E150C-EDD6-CFC2-6A8A-8BC5B73C84F3}"/>
              </a:ext>
            </a:extLst>
          </p:cNvPr>
          <p:cNvPicPr preferRelativeResize="0"/>
          <p:nvPr/>
        </p:nvPicPr>
        <p:blipFill rotWithShape="1">
          <a:blip r:embed="rId5">
            <a:alphaModFix/>
          </a:blip>
          <a:srcRect l="5357" r="10411"/>
          <a:stretch/>
        </p:blipFill>
        <p:spPr>
          <a:xfrm>
            <a:off x="7905729" y="199474"/>
            <a:ext cx="862617" cy="497320"/>
          </a:xfrm>
          <a:prstGeom prst="rect">
            <a:avLst/>
          </a:prstGeom>
          <a:noFill/>
          <a:ln>
            <a:noFill/>
          </a:ln>
        </p:spPr>
      </p:pic>
      <p:pic>
        <p:nvPicPr>
          <p:cNvPr id="1028" name="Picture 4">
            <a:extLst>
              <a:ext uri="{FF2B5EF4-FFF2-40B4-BE49-F238E27FC236}">
                <a16:creationId xmlns:a16="http://schemas.microsoft.com/office/drawing/2014/main" id="{D4226677-DA1A-5964-D821-C16A17D840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3472" y="1595341"/>
            <a:ext cx="1429518" cy="50256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Tableau? Features, Benefits &amp; Use Cases Explained">
            <a:extLst>
              <a:ext uri="{FF2B5EF4-FFF2-40B4-BE49-F238E27FC236}">
                <a16:creationId xmlns:a16="http://schemas.microsoft.com/office/drawing/2014/main" id="{ACF9DEEC-E22A-0CAC-11D6-EC7C47930D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74145" y="2461536"/>
            <a:ext cx="968173" cy="96817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hat is ChatGPT? What parents need to know | Internet Matters">
            <a:extLst>
              <a:ext uri="{FF2B5EF4-FFF2-40B4-BE49-F238E27FC236}">
                <a16:creationId xmlns:a16="http://schemas.microsoft.com/office/drawing/2014/main" id="{23215982-CD38-3939-C1DF-85F42ED19B7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60221" y="3548247"/>
            <a:ext cx="1396019" cy="7343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45"/>
          <p:cNvSpPr/>
          <p:nvPr/>
        </p:nvSpPr>
        <p:spPr>
          <a:xfrm>
            <a:off x="0" y="0"/>
            <a:ext cx="9144000"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558" name="Google Shape;558;p45"/>
          <p:cNvCxnSpPr/>
          <p:nvPr/>
        </p:nvCxnSpPr>
        <p:spPr>
          <a:xfrm>
            <a:off x="8689621" y="2710420"/>
            <a:ext cx="0" cy="2429100"/>
          </a:xfrm>
          <a:prstGeom prst="straightConnector1">
            <a:avLst/>
          </a:prstGeom>
          <a:noFill/>
          <a:ln w="25400" cap="sq" cmpd="sng">
            <a:solidFill>
              <a:schemeClr val="accent1"/>
            </a:solidFill>
            <a:prstDash val="solid"/>
            <a:bevel/>
            <a:headEnd type="none" w="sm" len="sm"/>
            <a:tailEnd type="none" w="sm" len="sm"/>
          </a:ln>
        </p:spPr>
      </p:cxnSp>
      <p:sp>
        <p:nvSpPr>
          <p:cNvPr id="559" name="Google Shape;559;p45"/>
          <p:cNvSpPr txBox="1"/>
          <p:nvPr/>
        </p:nvSpPr>
        <p:spPr>
          <a:xfrm>
            <a:off x="5143500" y="1347675"/>
            <a:ext cx="3681000" cy="1313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2400"/>
              <a:buNone/>
            </a:pPr>
            <a:r>
              <a:rPr lang="en" sz="5000" b="1">
                <a:solidFill>
                  <a:srgbClr val="C07529"/>
                </a:solidFill>
                <a:latin typeface="Calibri"/>
                <a:ea typeface="Calibri"/>
                <a:cs typeface="Calibri"/>
                <a:sym typeface="Calibri"/>
              </a:rPr>
              <a:t>Thank you.</a:t>
            </a:r>
            <a:endParaRPr sz="4000" b="1">
              <a:solidFill>
                <a:srgbClr val="C07529"/>
              </a:solidFill>
              <a:latin typeface="Calibri"/>
              <a:ea typeface="Calibri"/>
              <a:cs typeface="Calibri"/>
              <a:sym typeface="Calibri"/>
            </a:endParaRPr>
          </a:p>
        </p:txBody>
      </p:sp>
      <p:pic>
        <p:nvPicPr>
          <p:cNvPr id="560" name="Google Shape;560;p45"/>
          <p:cNvPicPr preferRelativeResize="0"/>
          <p:nvPr/>
        </p:nvPicPr>
        <p:blipFill>
          <a:blip r:embed="rId3">
            <a:alphaModFix/>
          </a:blip>
          <a:stretch>
            <a:fillRect/>
          </a:stretch>
        </p:blipFill>
        <p:spPr>
          <a:xfrm>
            <a:off x="0" y="0"/>
            <a:ext cx="5143501" cy="514350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Yellow Orange">
      <a:dk1>
        <a:srgbClr val="000000"/>
      </a:dk1>
      <a:lt1>
        <a:srgbClr val="FFFFFF"/>
      </a:lt1>
      <a:dk2>
        <a:srgbClr val="4E3B30"/>
      </a:dk2>
      <a:lt2>
        <a:srgbClr val="FBEEC9"/>
      </a:lt2>
      <a:accent1>
        <a:srgbClr val="F0A22E"/>
      </a:accent1>
      <a:accent2>
        <a:srgbClr val="A5644E"/>
      </a:accent2>
      <a:accent3>
        <a:srgbClr val="B58B80"/>
      </a:accent3>
      <a:accent4>
        <a:srgbClr val="B8956F"/>
      </a:accent4>
      <a:accent5>
        <a:srgbClr val="A19574"/>
      </a:accent5>
      <a:accent6>
        <a:srgbClr val="C17529"/>
      </a:accent6>
      <a:hlink>
        <a:srgbClr val="AD1F1F"/>
      </a:hlink>
      <a:folHlink>
        <a:srgbClr val="FFC42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TotalTime>
  <Words>2581</Words>
  <Application>Microsoft Macintosh PowerPoint</Application>
  <PresentationFormat>On-screen Show (16:9)</PresentationFormat>
  <Paragraphs>322</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Lobster</vt:lpstr>
      <vt:lpstr>Calibri</vt:lpstr>
      <vt:lpstr>Times New Roman</vt:lpstr>
      <vt:lpstr>IBM Plex Sans</vt:lpstr>
      <vt:lpstr>Arial</vt:lpstr>
      <vt:lpstr>Office Theme</vt:lpstr>
      <vt:lpstr>PowerPoint Presentation</vt:lpstr>
      <vt:lpstr>Background </vt:lpstr>
      <vt:lpstr>PowerPoint Presentation</vt:lpstr>
      <vt:lpstr>Segmentation Bases for Cluster Analysis</vt:lpstr>
      <vt:lpstr>Descriptors for Target Segment(s) Identification</vt:lpstr>
      <vt:lpstr> Determining the Number of Segments using Elbow Plot </vt:lpstr>
      <vt:lpstr>PowerPoint Presentation</vt:lpstr>
      <vt:lpstr>PowerPoint Presentation</vt:lpstr>
      <vt:lpstr>Segments 3 and 5: The Most Aligned and Conversion-Ready Audiences</vt:lpstr>
      <vt:lpstr>Single people from mid 20’s to mid 40’s</vt:lpstr>
      <vt:lpstr>Addressing the Cliche “Soccer Moms”</vt:lpstr>
      <vt:lpstr>Targeting Business Professionals on Lunch Break</vt:lpstr>
      <vt:lpstr>Demographics – Income profile on Target vs. Non-Target</vt:lpstr>
      <vt:lpstr>Lunchtime Behavior – Target vs. Non-Target Customers</vt:lpstr>
      <vt:lpstr>Valuation Metric – Target vs. Non-Target</vt:lpstr>
      <vt:lpstr>Location C: Best Candidate for Sticks Next Store</vt:lpstr>
      <vt:lpstr>Why Location C Matches Sticks’ Ideal Customer Profile</vt:lpstr>
      <vt:lpstr>Target Segments &amp; How to Reach Them </vt:lpstr>
      <vt:lpstr>Target Segments &amp; How to Reach Them </vt:lpstr>
      <vt:lpstr>Final Takeaways</vt:lpstr>
      <vt:lpstr>Tools Used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Thai Binh Nguyen</dc:creator>
  <cp:lastModifiedBy>Hanyu Chen</cp:lastModifiedBy>
  <cp:revision>92</cp:revision>
  <dcterms:modified xsi:type="dcterms:W3CDTF">2026-09-02T00:58:53Z</dcterms:modified>
</cp:coreProperties>
</file>